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8288000" cy="10287000"/>
  <p:notesSz cx="6858000" cy="9144000"/>
  <p:embeddedFontLst>
    <p:embeddedFont>
      <p:font typeface="Arial Bold" panose="020B0604020202020204" charset="0"/>
      <p:regular r:id="rId27"/>
    </p:embeddedFont>
    <p:embeddedFont>
      <p:font typeface="Arial Italics" panose="020B0604020202020204" charset="0"/>
      <p:regular r:id="rId28"/>
    </p:embeddedFont>
    <p:embeddedFont>
      <p:font typeface="DM Sans Bold" panose="020B0604020202020204" charset="0"/>
      <p:regular r:id="rId29"/>
    </p:embeddedFont>
    <p:embeddedFont>
      <p:font typeface="Montaser Arabic Heavy" panose="020B0604020202020204" charset="-78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2" d="100"/>
          <a:sy n="62" d="100"/>
        </p:scale>
        <p:origin x="274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sv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10" Type="http://schemas.openxmlformats.org/officeDocument/2006/relationships/image" Target="../media/image19.sv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svg"/><Relationship Id="rId7" Type="http://schemas.openxmlformats.org/officeDocument/2006/relationships/image" Target="../media/image3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10" Type="http://schemas.openxmlformats.org/officeDocument/2006/relationships/image" Target="../media/image40.gif"/><Relationship Id="rId4" Type="http://schemas.openxmlformats.org/officeDocument/2006/relationships/image" Target="../media/image34.png"/><Relationship Id="rId9" Type="http://schemas.openxmlformats.org/officeDocument/2006/relationships/image" Target="../media/image39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7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sv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2866113"/>
            <a:ext cx="18288000" cy="5246162"/>
            <a:chOff x="0" y="0"/>
            <a:chExt cx="4816593" cy="138170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1381705"/>
            </a:xfrm>
            <a:custGeom>
              <a:avLst/>
              <a:gdLst/>
              <a:ahLst/>
              <a:cxnLst/>
              <a:rect l="l" t="t" r="r" b="b"/>
              <a:pathLst>
                <a:path w="4816592" h="1381705">
                  <a:moveTo>
                    <a:pt x="0" y="0"/>
                  </a:moveTo>
                  <a:lnTo>
                    <a:pt x="4816592" y="0"/>
                  </a:lnTo>
                  <a:lnTo>
                    <a:pt x="4816592" y="1381705"/>
                  </a:lnTo>
                  <a:lnTo>
                    <a:pt x="0" y="1381705"/>
                  </a:lnTo>
                  <a:close/>
                </a:path>
              </a:pathLst>
            </a:custGeom>
            <a:solidFill>
              <a:srgbClr val="0A2073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76200"/>
              <a:ext cx="4816593" cy="14579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3360327" y="535173"/>
            <a:ext cx="2148457" cy="1382105"/>
          </a:xfrm>
          <a:custGeom>
            <a:avLst/>
            <a:gdLst/>
            <a:ahLst/>
            <a:cxnLst/>
            <a:rect l="l" t="t" r="r" b="b"/>
            <a:pathLst>
              <a:path w="2397606" h="1576647">
                <a:moveTo>
                  <a:pt x="0" y="0"/>
                </a:moveTo>
                <a:lnTo>
                  <a:pt x="2397606" y="0"/>
                </a:lnTo>
                <a:lnTo>
                  <a:pt x="2397606" y="1576647"/>
                </a:lnTo>
                <a:lnTo>
                  <a:pt x="0" y="15766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802" r="-3802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2252770" y="753687"/>
            <a:ext cx="922777" cy="877108"/>
          </a:xfrm>
          <a:custGeom>
            <a:avLst/>
            <a:gdLst/>
            <a:ahLst/>
            <a:cxnLst/>
            <a:rect l="l" t="t" r="r" b="b"/>
            <a:pathLst>
              <a:path w="1013988" h="1013988">
                <a:moveTo>
                  <a:pt x="0" y="0"/>
                </a:moveTo>
                <a:lnTo>
                  <a:pt x="1013987" y="0"/>
                </a:lnTo>
                <a:lnTo>
                  <a:pt x="1013987" y="1013987"/>
                </a:lnTo>
                <a:lnTo>
                  <a:pt x="0" y="10139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913098" y="3612829"/>
            <a:ext cx="12776072" cy="11893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20"/>
              </a:lnSpc>
              <a:spcBef>
                <a:spcPct val="0"/>
              </a:spcBef>
            </a:pPr>
            <a:r>
              <a:rPr lang="en-US" sz="6800" b="1">
                <a:solidFill>
                  <a:srgbClr val="FACB5F"/>
                </a:solidFill>
                <a:latin typeface="Arial Bold"/>
                <a:ea typeface="Arial Bold"/>
                <a:cs typeface="Arial Bold"/>
                <a:sym typeface="Arial Bold"/>
              </a:rPr>
              <a:t>KHÓA LUẬN TỐT NGHIỆP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20823" y="5393944"/>
            <a:ext cx="16846353" cy="1438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39"/>
              </a:lnSpc>
              <a:spcBef>
                <a:spcPct val="0"/>
              </a:spcBef>
            </a:pPr>
            <a:r>
              <a:rPr lang="en-US" sz="4099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ĐỀ TÀI: XÂY DỰNG MÔ HÌNH NHẬN DIỆN CỬ CHỈ TAY THỜI GIAN THỰC BẰNG YOLO VÀ ỨNG DỤNG TRONG ĐIỀU KHIỂN THAO TÁC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076995" y="8532640"/>
            <a:ext cx="11360487" cy="5580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416"/>
              </a:lnSpc>
            </a:pPr>
            <a:r>
              <a:rPr lang="en-US" sz="3154" b="1" spc="34">
                <a:solidFill>
                  <a:srgbClr val="101010"/>
                </a:solidFill>
                <a:latin typeface="Arial Bold"/>
                <a:ea typeface="Arial Bold"/>
                <a:cs typeface="Arial Bold"/>
                <a:sym typeface="Arial Bold"/>
              </a:rPr>
              <a:t>Sinh </a:t>
            </a:r>
            <a:r>
              <a:rPr lang="en-US" sz="3154" b="1" spc="3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viên: Hoàng Ánh Tuyết - 227480201057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705530" y="9172575"/>
            <a:ext cx="7191207" cy="5580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16"/>
              </a:lnSpc>
            </a:pPr>
            <a:r>
              <a:rPr lang="en-US" sz="3154" b="1" spc="34">
                <a:solidFill>
                  <a:srgbClr val="101010"/>
                </a:solidFill>
                <a:latin typeface="Arial Bold"/>
                <a:ea typeface="Arial Bold"/>
                <a:cs typeface="Arial Bold"/>
                <a:sym typeface="Arial Bold"/>
              </a:rPr>
              <a:t>GVHD: ThS. Nguyễn Thị Loan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079048" y="705975"/>
            <a:ext cx="8014433" cy="4680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996"/>
              </a:lnSpc>
            </a:pPr>
            <a:r>
              <a:rPr lang="vi-VN" sz="2854" b="1" spc="3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TRƯỜNG </a:t>
            </a:r>
            <a:r>
              <a:rPr lang="en-US" sz="2854" b="1" spc="3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ĐẠI HỌC SƯ PHẠM HÀ NỘI 2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888106" y="1174052"/>
            <a:ext cx="6826053" cy="4776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110"/>
              </a:lnSpc>
            </a:pPr>
            <a:r>
              <a:rPr lang="en-US" sz="2854" b="1" spc="28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VIỆN CÔNG NGHỆ THÔNG TIN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67609" y="0"/>
            <a:ext cx="18455609" cy="1590577"/>
            <a:chOff x="0" y="0"/>
            <a:chExt cx="4860737" cy="4189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60737" cy="418918"/>
            </a:xfrm>
            <a:custGeom>
              <a:avLst/>
              <a:gdLst/>
              <a:ahLst/>
              <a:cxnLst/>
              <a:rect l="l" t="t" r="r" b="b"/>
              <a:pathLst>
                <a:path w="4860737" h="418918">
                  <a:moveTo>
                    <a:pt x="0" y="0"/>
                  </a:moveTo>
                  <a:lnTo>
                    <a:pt x="4860737" y="0"/>
                  </a:lnTo>
                  <a:lnTo>
                    <a:pt x="4860737" y="418918"/>
                  </a:lnTo>
                  <a:lnTo>
                    <a:pt x="0" y="418918"/>
                  </a:lnTo>
                  <a:close/>
                </a:path>
              </a:pathLst>
            </a:custGeom>
            <a:solidFill>
              <a:srgbClr val="0A2073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60737" cy="4570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2453939" y="2470871"/>
          <a:ext cx="13663337" cy="1815731"/>
        </p:xfrm>
        <a:graphic>
          <a:graphicData uri="http://schemas.openxmlformats.org/drawingml/2006/table">
            <a:tbl>
              <a:tblPr/>
              <a:tblGrid>
                <a:gridCol w="96004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2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15731">
                <a:tc>
                  <a:txBody>
                    <a:bodyPr/>
                    <a:lstStyle/>
                    <a:p>
                      <a:pPr algn="just">
                        <a:lnSpc>
                          <a:spcPts val="4953"/>
                        </a:lnSpc>
                        <a:defRPr/>
                      </a:pPr>
                      <a:r>
                        <a:rPr lang="en-US" sz="3538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MỞ ĐẦU</a:t>
                      </a:r>
                      <a:endParaRPr lang="en-US" sz="1100"/>
                    </a:p>
                  </a:txBody>
                  <a:tcPr marL="120614" marR="120614" marT="120614" marB="120614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28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96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5598"/>
                        </a:lnSpc>
                        <a:defRPr/>
                      </a:pPr>
                      <a:r>
                        <a:rPr lang="en-US" sz="3998" b="1">
                          <a:solidFill>
                            <a:srgbClr val="CD4D31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01</a:t>
                      </a:r>
                      <a:endParaRPr lang="en-US" sz="1100"/>
                    </a:p>
                  </a:txBody>
                  <a:tcPr marL="120614" marR="120614" marT="120614" marB="120614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28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96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2453939" y="4286602"/>
          <a:ext cx="13663337" cy="1564562"/>
        </p:xfrm>
        <a:graphic>
          <a:graphicData uri="http://schemas.openxmlformats.org/drawingml/2006/table">
            <a:tbl>
              <a:tblPr/>
              <a:tblGrid>
                <a:gridCol w="105124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09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64562">
                <a:tc>
                  <a:txBody>
                    <a:bodyPr/>
                    <a:lstStyle/>
                    <a:p>
                      <a:pPr algn="just">
                        <a:lnSpc>
                          <a:spcPts val="4953"/>
                        </a:lnSpc>
                        <a:defRPr/>
                      </a:pPr>
                      <a:r>
                        <a:rPr lang="en-US" sz="3538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CƠ SỞ LÝ THUYẾT </a:t>
                      </a:r>
                      <a:endParaRPr lang="en-US" sz="1100"/>
                    </a:p>
                  </a:txBody>
                  <a:tcPr marL="120614" marR="120614" marT="120614" marB="120614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28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96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5598"/>
                        </a:lnSpc>
                        <a:defRPr/>
                      </a:pPr>
                      <a:r>
                        <a:rPr lang="en-US" sz="3998" b="1">
                          <a:solidFill>
                            <a:srgbClr val="CD4D31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02</a:t>
                      </a:r>
                      <a:endParaRPr lang="en-US" sz="1100"/>
                    </a:p>
                  </a:txBody>
                  <a:tcPr marL="120614" marR="120614" marT="120614" marB="120614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28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96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2453939" y="5851164"/>
          <a:ext cx="13663337" cy="1784621"/>
        </p:xfrm>
        <a:graphic>
          <a:graphicData uri="http://schemas.openxmlformats.org/drawingml/2006/table">
            <a:tbl>
              <a:tblPr/>
              <a:tblGrid>
                <a:gridCol w="106681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952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84621">
                <a:tc>
                  <a:txBody>
                    <a:bodyPr/>
                    <a:lstStyle/>
                    <a:p>
                      <a:pPr algn="just">
                        <a:lnSpc>
                          <a:spcPts val="4953"/>
                        </a:lnSpc>
                        <a:defRPr/>
                      </a:pPr>
                      <a:r>
                        <a:rPr lang="en-US" sz="3538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PHÂN TÍCH, THIẾT KẾ VÀ XÂY DỰNG MÔ HÌNH</a:t>
                      </a:r>
                      <a:endParaRPr lang="en-US" sz="1100"/>
                    </a:p>
                  </a:txBody>
                  <a:tcPr marL="120614" marR="120614" marT="120614" marB="120614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28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96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5598"/>
                        </a:lnSpc>
                        <a:defRPr/>
                      </a:pPr>
                      <a:r>
                        <a:rPr lang="en-US" sz="3998" b="1">
                          <a:solidFill>
                            <a:srgbClr val="CD4D31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03</a:t>
                      </a:r>
                      <a:endParaRPr lang="en-US" sz="1100"/>
                    </a:p>
                  </a:txBody>
                  <a:tcPr marL="120614" marR="120614" marT="120614" marB="120614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28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96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2453939" y="7635786"/>
          <a:ext cx="13663337" cy="1622514"/>
        </p:xfrm>
        <a:graphic>
          <a:graphicData uri="http://schemas.openxmlformats.org/drawingml/2006/table">
            <a:tbl>
              <a:tblPr/>
              <a:tblGrid>
                <a:gridCol w="96004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2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22514">
                <a:tc>
                  <a:txBody>
                    <a:bodyPr/>
                    <a:lstStyle/>
                    <a:p>
                      <a:pPr algn="just">
                        <a:lnSpc>
                          <a:spcPts val="4953"/>
                        </a:lnSpc>
                        <a:defRPr/>
                      </a:pPr>
                      <a:r>
                        <a:rPr lang="en-US" sz="3538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THỰC NGHIỆM VÀ ĐÁNH GIÁ</a:t>
                      </a:r>
                      <a:endParaRPr lang="en-US" sz="1100"/>
                    </a:p>
                  </a:txBody>
                  <a:tcPr marL="120614" marR="120614" marT="120614" marB="120614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28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96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5598"/>
                        </a:lnSpc>
                        <a:defRPr/>
                      </a:pPr>
                      <a:r>
                        <a:rPr lang="en-US" sz="3998" b="1">
                          <a:solidFill>
                            <a:srgbClr val="CD4D31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04</a:t>
                      </a:r>
                      <a:endParaRPr lang="en-US" sz="1100"/>
                    </a:p>
                  </a:txBody>
                  <a:tcPr marL="120614" marR="120614" marT="120614" marB="120614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289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96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AutoShape 9"/>
          <p:cNvSpPr/>
          <p:nvPr/>
        </p:nvSpPr>
        <p:spPr>
          <a:xfrm flipV="1">
            <a:off x="3306083" y="346523"/>
            <a:ext cx="0" cy="897531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TextBox 10"/>
          <p:cNvSpPr txBox="1"/>
          <p:nvPr/>
        </p:nvSpPr>
        <p:spPr>
          <a:xfrm>
            <a:off x="3697565" y="379364"/>
            <a:ext cx="11599414" cy="807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439"/>
              </a:lnSpc>
              <a:spcBef>
                <a:spcPct val="0"/>
              </a:spcBef>
            </a:pPr>
            <a:r>
              <a:rPr lang="en-US" sz="4599" b="1">
                <a:solidFill>
                  <a:srgbClr val="FACB5F"/>
                </a:solidFill>
                <a:latin typeface="Arial Bold"/>
                <a:ea typeface="Arial Bold"/>
                <a:cs typeface="Arial Bold"/>
                <a:sym typeface="Arial Bold"/>
              </a:rPr>
              <a:t>KẾT CẤU KHÓA LUẬN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244054"/>
            <a:chOff x="0" y="0"/>
            <a:chExt cx="4816593" cy="32765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327652"/>
            </a:xfrm>
            <a:custGeom>
              <a:avLst/>
              <a:gdLst/>
              <a:ahLst/>
              <a:cxnLst/>
              <a:rect l="l" t="t" r="r" b="b"/>
              <a:pathLst>
                <a:path w="4816592" h="327652">
                  <a:moveTo>
                    <a:pt x="0" y="0"/>
                  </a:moveTo>
                  <a:lnTo>
                    <a:pt x="4816592" y="0"/>
                  </a:lnTo>
                  <a:lnTo>
                    <a:pt x="4816592" y="327652"/>
                  </a:lnTo>
                  <a:lnTo>
                    <a:pt x="0" y="327652"/>
                  </a:lnTo>
                  <a:close/>
                </a:path>
              </a:pathLst>
            </a:custGeom>
            <a:solidFill>
              <a:srgbClr val="0A2073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3657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 flipV="1">
            <a:off x="1699040" y="233542"/>
            <a:ext cx="0" cy="897531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6" name="Group 6"/>
          <p:cNvGrpSpPr/>
          <p:nvPr/>
        </p:nvGrpSpPr>
        <p:grpSpPr>
          <a:xfrm>
            <a:off x="699354" y="3225926"/>
            <a:ext cx="723754" cy="618363"/>
            <a:chOff x="0" y="0"/>
            <a:chExt cx="965006" cy="82448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65006" cy="824484"/>
            </a:xfrm>
            <a:custGeom>
              <a:avLst/>
              <a:gdLst/>
              <a:ahLst/>
              <a:cxnLst/>
              <a:rect l="l" t="t" r="r" b="b"/>
              <a:pathLst>
                <a:path w="965006" h="824484">
                  <a:moveTo>
                    <a:pt x="0" y="412242"/>
                  </a:moveTo>
                  <a:cubicBezTo>
                    <a:pt x="0" y="184531"/>
                    <a:pt x="215982" y="0"/>
                    <a:pt x="482503" y="0"/>
                  </a:cubicBezTo>
                  <a:cubicBezTo>
                    <a:pt x="749024" y="0"/>
                    <a:pt x="965006" y="184531"/>
                    <a:pt x="965006" y="412242"/>
                  </a:cubicBezTo>
                  <a:cubicBezTo>
                    <a:pt x="965006" y="639953"/>
                    <a:pt x="749024" y="824484"/>
                    <a:pt x="482503" y="824484"/>
                  </a:cubicBezTo>
                  <a:cubicBezTo>
                    <a:pt x="215982" y="824484"/>
                    <a:pt x="0" y="639953"/>
                    <a:pt x="0" y="412242"/>
                  </a:cubicBezTo>
                  <a:close/>
                </a:path>
              </a:pathLst>
            </a:custGeom>
            <a:solidFill>
              <a:srgbClr val="0A2073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0510504" y="2486250"/>
            <a:ext cx="6748796" cy="7023125"/>
            <a:chOff x="0" y="0"/>
            <a:chExt cx="10823283" cy="1126323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823321" cy="11263213"/>
            </a:xfrm>
            <a:custGeom>
              <a:avLst/>
              <a:gdLst/>
              <a:ahLst/>
              <a:cxnLst/>
              <a:rect l="l" t="t" r="r" b="b"/>
              <a:pathLst>
                <a:path w="10823321" h="11263213">
                  <a:moveTo>
                    <a:pt x="0" y="0"/>
                  </a:moveTo>
                  <a:lnTo>
                    <a:pt x="10823321" y="0"/>
                  </a:lnTo>
                  <a:lnTo>
                    <a:pt x="10823321" y="11263213"/>
                  </a:lnTo>
                  <a:lnTo>
                    <a:pt x="0" y="112632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1112" r="-11112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699354" y="5997812"/>
            <a:ext cx="723754" cy="618363"/>
            <a:chOff x="0" y="0"/>
            <a:chExt cx="965006" cy="82448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65006" cy="824484"/>
            </a:xfrm>
            <a:custGeom>
              <a:avLst/>
              <a:gdLst/>
              <a:ahLst/>
              <a:cxnLst/>
              <a:rect l="l" t="t" r="r" b="b"/>
              <a:pathLst>
                <a:path w="965006" h="824484">
                  <a:moveTo>
                    <a:pt x="0" y="412242"/>
                  </a:moveTo>
                  <a:cubicBezTo>
                    <a:pt x="0" y="184531"/>
                    <a:pt x="215982" y="0"/>
                    <a:pt x="482503" y="0"/>
                  </a:cubicBezTo>
                  <a:cubicBezTo>
                    <a:pt x="749024" y="0"/>
                    <a:pt x="965006" y="184531"/>
                    <a:pt x="965006" y="412242"/>
                  </a:cubicBezTo>
                  <a:cubicBezTo>
                    <a:pt x="965006" y="639953"/>
                    <a:pt x="749024" y="824484"/>
                    <a:pt x="482503" y="824484"/>
                  </a:cubicBezTo>
                  <a:cubicBezTo>
                    <a:pt x="215982" y="824484"/>
                    <a:pt x="0" y="639953"/>
                    <a:pt x="0" y="412242"/>
                  </a:cubicBezTo>
                  <a:close/>
                </a:path>
              </a:pathLst>
            </a:custGeom>
            <a:solidFill>
              <a:srgbClr val="0A2073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699354" y="8163037"/>
            <a:ext cx="723754" cy="618363"/>
            <a:chOff x="0" y="0"/>
            <a:chExt cx="965006" cy="82448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65006" cy="824484"/>
            </a:xfrm>
            <a:custGeom>
              <a:avLst/>
              <a:gdLst/>
              <a:ahLst/>
              <a:cxnLst/>
              <a:rect l="l" t="t" r="r" b="b"/>
              <a:pathLst>
                <a:path w="965006" h="824484">
                  <a:moveTo>
                    <a:pt x="0" y="412242"/>
                  </a:moveTo>
                  <a:cubicBezTo>
                    <a:pt x="0" y="184531"/>
                    <a:pt x="215982" y="0"/>
                    <a:pt x="482503" y="0"/>
                  </a:cubicBezTo>
                  <a:cubicBezTo>
                    <a:pt x="749024" y="0"/>
                    <a:pt x="965006" y="184531"/>
                    <a:pt x="965006" y="412242"/>
                  </a:cubicBezTo>
                  <a:cubicBezTo>
                    <a:pt x="965006" y="639953"/>
                    <a:pt x="749024" y="824484"/>
                    <a:pt x="482503" y="824484"/>
                  </a:cubicBezTo>
                  <a:cubicBezTo>
                    <a:pt x="215982" y="824484"/>
                    <a:pt x="0" y="639953"/>
                    <a:pt x="0" y="412242"/>
                  </a:cubicBezTo>
                  <a:close/>
                </a:path>
              </a:pathLst>
            </a:custGeom>
            <a:solidFill>
              <a:srgbClr val="0A2073"/>
            </a:solidFill>
          </p:spPr>
        </p:sp>
      </p:grpSp>
      <p:sp>
        <p:nvSpPr>
          <p:cNvPr id="14" name="TextBox 14"/>
          <p:cNvSpPr txBox="1"/>
          <p:nvPr/>
        </p:nvSpPr>
        <p:spPr>
          <a:xfrm>
            <a:off x="2422887" y="221614"/>
            <a:ext cx="3301031" cy="807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439"/>
              </a:lnSpc>
              <a:spcBef>
                <a:spcPct val="0"/>
              </a:spcBef>
            </a:pPr>
            <a:r>
              <a:rPr lang="en-US" sz="4599" b="1">
                <a:solidFill>
                  <a:srgbClr val="FACB5F"/>
                </a:solidFill>
                <a:latin typeface="Arial Bold"/>
                <a:ea typeface="Arial Bold"/>
                <a:cs typeface="Arial Bold"/>
                <a:sym typeface="Arial Bold"/>
              </a:rPr>
              <a:t>MỞ ĐẦU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215641" y="3044951"/>
            <a:ext cx="3732518" cy="617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219"/>
              </a:lnSpc>
            </a:pPr>
            <a:r>
              <a:rPr lang="en-US" sz="28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Bối cảnh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215641" y="3672839"/>
            <a:ext cx="7539775" cy="1794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859"/>
              </a:lnSpc>
            </a:pPr>
            <a:r>
              <a:rPr lang="en-US" sz="26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Nhận diện cử chỉ tay thời gian thực giúp máy tính diễn giải chuyển động bàn tay qua camera thông thường, không cần cảm biến chuyên dụng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61128" y="3136009"/>
            <a:ext cx="561980" cy="628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399"/>
              </a:lnSpc>
            </a:pPr>
            <a:r>
              <a:rPr lang="en-US" sz="2999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01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66147" y="1976499"/>
            <a:ext cx="8478965" cy="716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52"/>
              </a:lnSpc>
            </a:pPr>
            <a:r>
              <a:rPr lang="en-US" sz="52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1.Lý do chọn đề tài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198646" y="5816837"/>
            <a:ext cx="3749513" cy="617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219"/>
              </a:lnSpc>
            </a:pPr>
            <a:r>
              <a:rPr lang="en-US" sz="28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Thách thức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180643" y="6444725"/>
            <a:ext cx="7574773" cy="11849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859"/>
              </a:lnSpc>
            </a:pPr>
            <a:r>
              <a:rPr lang="en-US" sz="26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Mô hình cần phản hồi tức thì và duy trì độ chính xác khi điều kiện ánh sáng và nền thay đổi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58570" y="5907896"/>
            <a:ext cx="564539" cy="628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399"/>
              </a:lnSpc>
            </a:pPr>
            <a:r>
              <a:rPr lang="en-US" sz="2999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02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198646" y="7982062"/>
            <a:ext cx="3749513" cy="617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219"/>
              </a:lnSpc>
            </a:pPr>
            <a:r>
              <a:rPr lang="en-US" sz="28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Giải pháp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180643" y="8609950"/>
            <a:ext cx="7574773" cy="11849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859"/>
              </a:lnSpc>
            </a:pPr>
            <a:r>
              <a:rPr lang="en-US" sz="26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Sử dụng YOLOv12 kết hợp dữ liệu HaGRID quy mô lớn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58570" y="8073120"/>
            <a:ext cx="564539" cy="628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399"/>
              </a:lnSpc>
            </a:pPr>
            <a:r>
              <a:rPr lang="en-US" sz="2999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03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66147" y="221615"/>
            <a:ext cx="1151943" cy="807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39"/>
              </a:lnSpc>
            </a:pPr>
            <a:r>
              <a:rPr lang="en-US" sz="4599" b="1" spc="142">
                <a:solidFill>
                  <a:srgbClr val="FACB5F"/>
                </a:solidFill>
                <a:latin typeface="Arial Bold"/>
                <a:ea typeface="Arial Bold"/>
                <a:cs typeface="Arial Bold"/>
                <a:sym typeface="Arial Bold"/>
              </a:rPr>
              <a:t>01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99909" y="5656223"/>
            <a:ext cx="5344043" cy="500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40"/>
              </a:lnSpc>
              <a:spcBef>
                <a:spcPct val="0"/>
              </a:spcBef>
            </a:pPr>
            <a:r>
              <a:rPr lang="en-US" sz="2814" b="1" spc="-2">
                <a:solidFill>
                  <a:srgbClr val="112E34"/>
                </a:solidFill>
                <a:latin typeface="Arial Bold"/>
                <a:ea typeface="Arial Bold"/>
                <a:cs typeface="Arial Bold"/>
                <a:sym typeface="Arial Bold"/>
              </a:rPr>
              <a:t>XÂY DỰNG MÔ HÌNH YOLOv12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99909" y="6379081"/>
            <a:ext cx="4850993" cy="3104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6101" lvl="1" indent="-313050" algn="just">
              <a:lnSpc>
                <a:spcPts val="4987"/>
              </a:lnSpc>
              <a:buFont typeface="Arial"/>
              <a:buChar char="•"/>
            </a:pPr>
            <a:r>
              <a:rPr lang="en-US" sz="2899" spc="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Xây dựng và huấn luyện mô hình YOLOv12 trên bộ dữ liệu HaGRID</a:t>
            </a:r>
          </a:p>
          <a:p>
            <a:pPr marL="626101" lvl="1" indent="-313050" algn="just">
              <a:lnSpc>
                <a:spcPts val="4987"/>
              </a:lnSpc>
              <a:buFont typeface="Arial"/>
              <a:buChar char="•"/>
            </a:pPr>
            <a:r>
              <a:rPr lang="en-US" sz="2899" spc="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Đánh giá hiệu suất mô hình qua các chỉ số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567526" y="5656223"/>
            <a:ext cx="5155483" cy="500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40"/>
              </a:lnSpc>
              <a:spcBef>
                <a:spcPct val="0"/>
              </a:spcBef>
            </a:pPr>
            <a:r>
              <a:rPr lang="en-US" sz="2814" b="1" spc="-2">
                <a:solidFill>
                  <a:srgbClr val="112E34"/>
                </a:solidFill>
                <a:latin typeface="Arial Bold"/>
                <a:ea typeface="Arial Bold"/>
                <a:cs typeface="Arial Bold"/>
                <a:sym typeface="Arial Bold"/>
              </a:rPr>
              <a:t>TRIỂN KHAI THỜI GIAN THỰC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332608" y="5656223"/>
            <a:ext cx="5155483" cy="500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40"/>
              </a:lnSpc>
              <a:spcBef>
                <a:spcPct val="0"/>
              </a:spcBef>
            </a:pPr>
            <a:r>
              <a:rPr lang="en-US" sz="2814" b="1" spc="-2">
                <a:solidFill>
                  <a:srgbClr val="112E34"/>
                </a:solidFill>
                <a:latin typeface="Arial Bold"/>
                <a:ea typeface="Arial Bold"/>
                <a:cs typeface="Arial Bold"/>
                <a:sym typeface="Arial Bold"/>
              </a:rPr>
              <a:t>ỨNG DỤNG ĐIỀU KHIỂN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567526" y="6379081"/>
            <a:ext cx="5008824" cy="2475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987"/>
              </a:lnSpc>
            </a:pPr>
            <a:r>
              <a:rPr lang="en-US" sz="2899" spc="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Xây dựng mô hình nhận diện cử chỉ tay thời gian thực bằng Python xử lý hình ảnh từ webcam với FPS ổn định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332608" y="6379081"/>
            <a:ext cx="5008824" cy="3732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987"/>
              </a:lnSpc>
            </a:pPr>
            <a:r>
              <a:rPr lang="en-US" sz="2899" spc="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Ánh xạ cử chỉ nhận diện được thành các lệnh điều khiển thiết bị trong môi trường không gian mô phỏng 3D trên Unity</a:t>
            </a:r>
          </a:p>
          <a:p>
            <a:pPr algn="just">
              <a:lnSpc>
                <a:spcPts val="4987"/>
              </a:lnSpc>
            </a:pPr>
            <a:endParaRPr lang="en-US" sz="2899" spc="7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5234231" y="1028700"/>
            <a:ext cx="7822072" cy="1379868"/>
            <a:chOff x="0" y="0"/>
            <a:chExt cx="2461376" cy="43420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461376" cy="434204"/>
            </a:xfrm>
            <a:custGeom>
              <a:avLst/>
              <a:gdLst/>
              <a:ahLst/>
              <a:cxnLst/>
              <a:rect l="l" t="t" r="r" b="b"/>
              <a:pathLst>
                <a:path w="2461376" h="434204">
                  <a:moveTo>
                    <a:pt x="14846" y="0"/>
                  </a:moveTo>
                  <a:lnTo>
                    <a:pt x="2446530" y="0"/>
                  </a:lnTo>
                  <a:cubicBezTo>
                    <a:pt x="2450467" y="0"/>
                    <a:pt x="2454244" y="1564"/>
                    <a:pt x="2457028" y="4348"/>
                  </a:cubicBezTo>
                  <a:cubicBezTo>
                    <a:pt x="2459812" y="7133"/>
                    <a:pt x="2461376" y="10909"/>
                    <a:pt x="2461376" y="14846"/>
                  </a:cubicBezTo>
                  <a:lnTo>
                    <a:pt x="2461376" y="419358"/>
                  </a:lnTo>
                  <a:cubicBezTo>
                    <a:pt x="2461376" y="423295"/>
                    <a:pt x="2459812" y="427071"/>
                    <a:pt x="2457028" y="429855"/>
                  </a:cubicBezTo>
                  <a:cubicBezTo>
                    <a:pt x="2454244" y="432640"/>
                    <a:pt x="2450467" y="434204"/>
                    <a:pt x="2446530" y="434204"/>
                  </a:cubicBezTo>
                  <a:lnTo>
                    <a:pt x="14846" y="434204"/>
                  </a:lnTo>
                  <a:cubicBezTo>
                    <a:pt x="10909" y="434204"/>
                    <a:pt x="7133" y="432640"/>
                    <a:pt x="4348" y="429855"/>
                  </a:cubicBezTo>
                  <a:cubicBezTo>
                    <a:pt x="1564" y="427071"/>
                    <a:pt x="0" y="423295"/>
                    <a:pt x="0" y="419358"/>
                  </a:cubicBezTo>
                  <a:lnTo>
                    <a:pt x="0" y="14846"/>
                  </a:lnTo>
                  <a:cubicBezTo>
                    <a:pt x="0" y="10909"/>
                    <a:pt x="1564" y="7133"/>
                    <a:pt x="4348" y="4348"/>
                  </a:cubicBezTo>
                  <a:cubicBezTo>
                    <a:pt x="7133" y="1564"/>
                    <a:pt x="10909" y="0"/>
                    <a:pt x="14846" y="0"/>
                  </a:cubicBezTo>
                  <a:close/>
                </a:path>
              </a:pathLst>
            </a:custGeom>
            <a:solidFill>
              <a:srgbClr val="FACB5F"/>
            </a:solidFill>
            <a:ln cap="sq">
              <a:noFill/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2461376" cy="4818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5234231" y="1076650"/>
            <a:ext cx="7822072" cy="10077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4800" b="1" spc="72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2. Mục tiêu nghiên cứu</a:t>
            </a:r>
          </a:p>
        </p:txBody>
      </p:sp>
      <p:sp>
        <p:nvSpPr>
          <p:cNvPr id="12" name="AutoShape 12"/>
          <p:cNvSpPr/>
          <p:nvPr/>
        </p:nvSpPr>
        <p:spPr>
          <a:xfrm>
            <a:off x="3588890" y="4212521"/>
            <a:ext cx="10693886" cy="20768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3" name="Group 13"/>
          <p:cNvGrpSpPr/>
          <p:nvPr/>
        </p:nvGrpSpPr>
        <p:grpSpPr>
          <a:xfrm>
            <a:off x="2627629" y="3771537"/>
            <a:ext cx="961263" cy="880102"/>
            <a:chOff x="0" y="0"/>
            <a:chExt cx="887754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87754" cy="812800"/>
            </a:xfrm>
            <a:custGeom>
              <a:avLst/>
              <a:gdLst/>
              <a:ahLst/>
              <a:cxnLst/>
              <a:rect l="l" t="t" r="r" b="b"/>
              <a:pathLst>
                <a:path w="887754" h="812800">
                  <a:moveTo>
                    <a:pt x="443877" y="0"/>
                  </a:moveTo>
                  <a:cubicBezTo>
                    <a:pt x="198731" y="0"/>
                    <a:pt x="0" y="181951"/>
                    <a:pt x="0" y="406400"/>
                  </a:cubicBezTo>
                  <a:cubicBezTo>
                    <a:pt x="0" y="630849"/>
                    <a:pt x="198731" y="812800"/>
                    <a:pt x="443877" y="812800"/>
                  </a:cubicBezTo>
                  <a:cubicBezTo>
                    <a:pt x="689024" y="812800"/>
                    <a:pt x="887754" y="630849"/>
                    <a:pt x="887754" y="406400"/>
                  </a:cubicBezTo>
                  <a:cubicBezTo>
                    <a:pt x="887754" y="181951"/>
                    <a:pt x="689024" y="0"/>
                    <a:pt x="443877" y="0"/>
                  </a:cubicBezTo>
                  <a:close/>
                </a:path>
              </a:pathLst>
            </a:custGeom>
            <a:solidFill>
              <a:srgbClr val="0A2073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83227" y="66675"/>
              <a:ext cx="721300" cy="669925"/>
            </a:xfrm>
            <a:prstGeom prst="rect">
              <a:avLst/>
            </a:prstGeom>
          </p:spPr>
          <p:txBody>
            <a:bodyPr lIns="44479" tIns="44479" rIns="44479" bIns="44479" rtlCol="0" anchor="ctr"/>
            <a:lstStyle/>
            <a:p>
              <a:pPr algn="ctr">
                <a:lnSpc>
                  <a:spcPts val="1489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2805182" y="3832996"/>
            <a:ext cx="788768" cy="706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663"/>
              </a:lnSpc>
              <a:spcBef>
                <a:spcPct val="0"/>
              </a:spcBef>
            </a:pPr>
            <a:r>
              <a:rPr lang="en-US" sz="4045" b="1" u="non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01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8387665" y="3771537"/>
            <a:ext cx="979661" cy="880102"/>
            <a:chOff x="0" y="0"/>
            <a:chExt cx="904746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904746" cy="812800"/>
            </a:xfrm>
            <a:custGeom>
              <a:avLst/>
              <a:gdLst/>
              <a:ahLst/>
              <a:cxnLst/>
              <a:rect l="l" t="t" r="r" b="b"/>
              <a:pathLst>
                <a:path w="904746" h="812800">
                  <a:moveTo>
                    <a:pt x="452373" y="0"/>
                  </a:moveTo>
                  <a:cubicBezTo>
                    <a:pt x="202534" y="0"/>
                    <a:pt x="0" y="181951"/>
                    <a:pt x="0" y="406400"/>
                  </a:cubicBezTo>
                  <a:cubicBezTo>
                    <a:pt x="0" y="630849"/>
                    <a:pt x="202534" y="812800"/>
                    <a:pt x="452373" y="812800"/>
                  </a:cubicBezTo>
                  <a:cubicBezTo>
                    <a:pt x="702212" y="812800"/>
                    <a:pt x="904746" y="630849"/>
                    <a:pt x="904746" y="406400"/>
                  </a:cubicBezTo>
                  <a:cubicBezTo>
                    <a:pt x="904746" y="181951"/>
                    <a:pt x="702212" y="0"/>
                    <a:pt x="452373" y="0"/>
                  </a:cubicBezTo>
                  <a:close/>
                </a:path>
              </a:pathLst>
            </a:custGeom>
            <a:solidFill>
              <a:srgbClr val="0A2073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84820" y="66675"/>
              <a:ext cx="735106" cy="669925"/>
            </a:xfrm>
            <a:prstGeom prst="rect">
              <a:avLst/>
            </a:prstGeom>
          </p:spPr>
          <p:txBody>
            <a:bodyPr lIns="44479" tIns="44479" rIns="44479" bIns="44479" rtlCol="0" anchor="ctr"/>
            <a:lstStyle/>
            <a:p>
              <a:pPr algn="ctr">
                <a:lnSpc>
                  <a:spcPts val="148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4065043" y="3771537"/>
            <a:ext cx="1006502" cy="880102"/>
            <a:chOff x="0" y="0"/>
            <a:chExt cx="929534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929534" cy="812800"/>
            </a:xfrm>
            <a:custGeom>
              <a:avLst/>
              <a:gdLst/>
              <a:ahLst/>
              <a:cxnLst/>
              <a:rect l="l" t="t" r="r" b="b"/>
              <a:pathLst>
                <a:path w="929534" h="812800">
                  <a:moveTo>
                    <a:pt x="464767" y="0"/>
                  </a:moveTo>
                  <a:cubicBezTo>
                    <a:pt x="208083" y="0"/>
                    <a:pt x="0" y="181951"/>
                    <a:pt x="0" y="406400"/>
                  </a:cubicBezTo>
                  <a:cubicBezTo>
                    <a:pt x="0" y="630849"/>
                    <a:pt x="208083" y="812800"/>
                    <a:pt x="464767" y="812800"/>
                  </a:cubicBezTo>
                  <a:cubicBezTo>
                    <a:pt x="721450" y="812800"/>
                    <a:pt x="929534" y="630849"/>
                    <a:pt x="929534" y="406400"/>
                  </a:cubicBezTo>
                  <a:cubicBezTo>
                    <a:pt x="929534" y="181951"/>
                    <a:pt x="721450" y="0"/>
                    <a:pt x="464767" y="0"/>
                  </a:cubicBezTo>
                  <a:close/>
                </a:path>
              </a:pathLst>
            </a:custGeom>
            <a:solidFill>
              <a:srgbClr val="0A2073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87144" y="66675"/>
              <a:ext cx="755246" cy="669925"/>
            </a:xfrm>
            <a:prstGeom prst="rect">
              <a:avLst/>
            </a:prstGeom>
          </p:spPr>
          <p:txBody>
            <a:bodyPr lIns="44479" tIns="44479" rIns="44479" bIns="44479" rtlCol="0" anchor="ctr"/>
            <a:lstStyle/>
            <a:p>
              <a:pPr algn="ctr">
                <a:lnSpc>
                  <a:spcPts val="1489"/>
                </a:lnSpc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8578558" y="3832996"/>
            <a:ext cx="788768" cy="706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663"/>
              </a:lnSpc>
              <a:spcBef>
                <a:spcPct val="0"/>
              </a:spcBef>
            </a:pPr>
            <a:r>
              <a:rPr lang="en-US" sz="4045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02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4282776" y="3832996"/>
            <a:ext cx="788768" cy="706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663"/>
              </a:lnSpc>
              <a:spcBef>
                <a:spcPct val="0"/>
              </a:spcBef>
            </a:pPr>
            <a:r>
              <a:rPr lang="en-US" sz="4045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03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50441" y="1323181"/>
            <a:ext cx="13539715" cy="828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000"/>
              </a:lnSpc>
              <a:spcBef>
                <a:spcPct val="0"/>
              </a:spcBef>
            </a:pPr>
            <a:r>
              <a:rPr lang="en-US" sz="6000" b="1">
                <a:solidFill>
                  <a:srgbClr val="0C0E0B"/>
                </a:solidFill>
                <a:latin typeface="Arial Bold"/>
                <a:ea typeface="Arial Bold"/>
                <a:cs typeface="Arial Bold"/>
                <a:sym typeface="Arial Bold"/>
              </a:rPr>
              <a:t>3. Đối tượng &amp; Phạm vi nghiên cứu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2485980" y="2863006"/>
            <a:ext cx="14432860" cy="6395294"/>
            <a:chOff x="0" y="0"/>
            <a:chExt cx="3801247" cy="168435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801247" cy="1684357"/>
            </a:xfrm>
            <a:custGeom>
              <a:avLst/>
              <a:gdLst/>
              <a:ahLst/>
              <a:cxnLst/>
              <a:rect l="l" t="t" r="r" b="b"/>
              <a:pathLst>
                <a:path w="3801247" h="1684357">
                  <a:moveTo>
                    <a:pt x="32185" y="0"/>
                  </a:moveTo>
                  <a:lnTo>
                    <a:pt x="3769063" y="0"/>
                  </a:lnTo>
                  <a:cubicBezTo>
                    <a:pt x="3786837" y="0"/>
                    <a:pt x="3801247" y="14410"/>
                    <a:pt x="3801247" y="32185"/>
                  </a:cubicBezTo>
                  <a:lnTo>
                    <a:pt x="3801247" y="1652173"/>
                  </a:lnTo>
                  <a:cubicBezTo>
                    <a:pt x="3801247" y="1669948"/>
                    <a:pt x="3786837" y="1684357"/>
                    <a:pt x="3769063" y="1684357"/>
                  </a:cubicBezTo>
                  <a:lnTo>
                    <a:pt x="32185" y="1684357"/>
                  </a:lnTo>
                  <a:cubicBezTo>
                    <a:pt x="14410" y="1684357"/>
                    <a:pt x="0" y="1669948"/>
                    <a:pt x="0" y="1652173"/>
                  </a:cubicBezTo>
                  <a:lnTo>
                    <a:pt x="0" y="32185"/>
                  </a:lnTo>
                  <a:cubicBezTo>
                    <a:pt x="0" y="14410"/>
                    <a:pt x="14410" y="0"/>
                    <a:pt x="32185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D2F60"/>
              </a:solidFill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28575"/>
              <a:ext cx="3801247" cy="16557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4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970722" y="3758270"/>
            <a:ext cx="11756693" cy="43285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911"/>
              </a:lnSpc>
            </a:pPr>
            <a:r>
              <a:rPr lang="en-US" sz="35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6 lớp cử chỉ: </a:t>
            </a:r>
            <a:r>
              <a:rPr lang="en-US" sz="35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call - fist - like - palm - peace - stop</a:t>
            </a:r>
          </a:p>
          <a:p>
            <a:pPr algn="just">
              <a:lnSpc>
                <a:spcPts val="6911"/>
              </a:lnSpc>
            </a:pPr>
            <a:r>
              <a:rPr lang="en-US" sz="35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Dữ liệu: </a:t>
            </a:r>
            <a:r>
              <a:rPr lang="en-US" sz="35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HaGRID (6.000 ảnh, 1920×1080px)</a:t>
            </a:r>
          </a:p>
          <a:p>
            <a:pPr algn="just">
              <a:lnSpc>
                <a:spcPts val="6911"/>
              </a:lnSpc>
            </a:pPr>
            <a:r>
              <a:rPr lang="en-US" sz="35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Mô hình: </a:t>
            </a:r>
            <a:r>
              <a:rPr lang="en-US" sz="35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YOLOv12m </a:t>
            </a:r>
          </a:p>
          <a:p>
            <a:pPr algn="just">
              <a:lnSpc>
                <a:spcPts val="6911"/>
              </a:lnSpc>
            </a:pPr>
            <a:r>
              <a:rPr lang="en-US" sz="35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Triển khai: </a:t>
            </a:r>
            <a:r>
              <a:rPr lang="en-US" sz="35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Python + OpenCV + PyQt6</a:t>
            </a:r>
          </a:p>
          <a:p>
            <a:pPr algn="just">
              <a:lnSpc>
                <a:spcPts val="6911"/>
              </a:lnSpc>
            </a:pPr>
            <a:r>
              <a:rPr lang="en-US" sz="35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Môi trường: </a:t>
            </a:r>
            <a:r>
              <a:rPr lang="en-US" sz="35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Unity 3D (mô phỏng điều khiển thiết bị)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244054"/>
            <a:chOff x="0" y="0"/>
            <a:chExt cx="4816593" cy="32765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327652"/>
            </a:xfrm>
            <a:custGeom>
              <a:avLst/>
              <a:gdLst/>
              <a:ahLst/>
              <a:cxnLst/>
              <a:rect l="l" t="t" r="r" b="b"/>
              <a:pathLst>
                <a:path w="4816592" h="327652">
                  <a:moveTo>
                    <a:pt x="0" y="0"/>
                  </a:moveTo>
                  <a:lnTo>
                    <a:pt x="4816592" y="0"/>
                  </a:lnTo>
                  <a:lnTo>
                    <a:pt x="4816592" y="327652"/>
                  </a:lnTo>
                  <a:lnTo>
                    <a:pt x="0" y="327652"/>
                  </a:lnTo>
                  <a:close/>
                </a:path>
              </a:pathLst>
            </a:custGeom>
            <a:solidFill>
              <a:srgbClr val="0A2073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3657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 flipV="1">
            <a:off x="1737140" y="173262"/>
            <a:ext cx="0" cy="897531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6" name="Group 6"/>
          <p:cNvGrpSpPr/>
          <p:nvPr/>
        </p:nvGrpSpPr>
        <p:grpSpPr>
          <a:xfrm>
            <a:off x="11706340" y="1767906"/>
            <a:ext cx="1404846" cy="45626"/>
            <a:chOff x="0" y="0"/>
            <a:chExt cx="1955190" cy="63500"/>
          </a:xfrm>
        </p:grpSpPr>
        <p:sp>
          <p:nvSpPr>
            <p:cNvPr id="7" name="Freeform 7"/>
            <p:cNvSpPr/>
            <p:nvPr/>
          </p:nvSpPr>
          <p:spPr>
            <a:xfrm>
              <a:off x="31750" y="0"/>
              <a:ext cx="1891665" cy="63500"/>
            </a:xfrm>
            <a:custGeom>
              <a:avLst/>
              <a:gdLst/>
              <a:ahLst/>
              <a:cxnLst/>
              <a:rect l="l" t="t" r="r" b="b"/>
              <a:pathLst>
                <a:path w="1891665" h="63500">
                  <a:moveTo>
                    <a:pt x="0" y="0"/>
                  </a:moveTo>
                  <a:lnTo>
                    <a:pt x="1891665" y="0"/>
                  </a:lnTo>
                  <a:lnTo>
                    <a:pt x="1891665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FDC704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1706340" y="3791196"/>
            <a:ext cx="1404846" cy="45626"/>
            <a:chOff x="0" y="0"/>
            <a:chExt cx="1955190" cy="63500"/>
          </a:xfrm>
        </p:grpSpPr>
        <p:sp>
          <p:nvSpPr>
            <p:cNvPr id="9" name="Freeform 9"/>
            <p:cNvSpPr/>
            <p:nvPr/>
          </p:nvSpPr>
          <p:spPr>
            <a:xfrm>
              <a:off x="31750" y="0"/>
              <a:ext cx="1891665" cy="63500"/>
            </a:xfrm>
            <a:custGeom>
              <a:avLst/>
              <a:gdLst/>
              <a:ahLst/>
              <a:cxnLst/>
              <a:rect l="l" t="t" r="r" b="b"/>
              <a:pathLst>
                <a:path w="1891665" h="63500">
                  <a:moveTo>
                    <a:pt x="0" y="0"/>
                  </a:moveTo>
                  <a:lnTo>
                    <a:pt x="1891665" y="0"/>
                  </a:lnTo>
                  <a:lnTo>
                    <a:pt x="1891665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FDC704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11706340" y="5753749"/>
            <a:ext cx="1404846" cy="45626"/>
            <a:chOff x="0" y="0"/>
            <a:chExt cx="1955190" cy="63500"/>
          </a:xfrm>
        </p:grpSpPr>
        <p:sp>
          <p:nvSpPr>
            <p:cNvPr id="11" name="Freeform 11"/>
            <p:cNvSpPr/>
            <p:nvPr/>
          </p:nvSpPr>
          <p:spPr>
            <a:xfrm>
              <a:off x="31750" y="0"/>
              <a:ext cx="1891665" cy="63500"/>
            </a:xfrm>
            <a:custGeom>
              <a:avLst/>
              <a:gdLst/>
              <a:ahLst/>
              <a:cxnLst/>
              <a:rect l="l" t="t" r="r" b="b"/>
              <a:pathLst>
                <a:path w="1891665" h="63500">
                  <a:moveTo>
                    <a:pt x="0" y="0"/>
                  </a:moveTo>
                  <a:lnTo>
                    <a:pt x="1891665" y="0"/>
                  </a:lnTo>
                  <a:lnTo>
                    <a:pt x="1891665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FDC704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1706340" y="7776619"/>
            <a:ext cx="1404846" cy="45626"/>
            <a:chOff x="0" y="0"/>
            <a:chExt cx="1955190" cy="63500"/>
          </a:xfrm>
        </p:grpSpPr>
        <p:sp>
          <p:nvSpPr>
            <p:cNvPr id="13" name="Freeform 13"/>
            <p:cNvSpPr/>
            <p:nvPr/>
          </p:nvSpPr>
          <p:spPr>
            <a:xfrm>
              <a:off x="31750" y="0"/>
              <a:ext cx="1891665" cy="63500"/>
            </a:xfrm>
            <a:custGeom>
              <a:avLst/>
              <a:gdLst/>
              <a:ahLst/>
              <a:cxnLst/>
              <a:rect l="l" t="t" r="r" b="b"/>
              <a:pathLst>
                <a:path w="1891665" h="63500">
                  <a:moveTo>
                    <a:pt x="0" y="0"/>
                  </a:moveTo>
                  <a:lnTo>
                    <a:pt x="1891665" y="0"/>
                  </a:lnTo>
                  <a:lnTo>
                    <a:pt x="1891665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FDC704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7780533" y="1813532"/>
            <a:ext cx="3468899" cy="1829990"/>
            <a:chOff x="0" y="0"/>
            <a:chExt cx="4827829" cy="254688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827778" cy="2546858"/>
            </a:xfrm>
            <a:custGeom>
              <a:avLst/>
              <a:gdLst/>
              <a:ahLst/>
              <a:cxnLst/>
              <a:rect l="l" t="t" r="r" b="b"/>
              <a:pathLst>
                <a:path w="4827778" h="2546858">
                  <a:moveTo>
                    <a:pt x="0" y="0"/>
                  </a:moveTo>
                  <a:lnTo>
                    <a:pt x="4827778" y="0"/>
                  </a:lnTo>
                  <a:lnTo>
                    <a:pt x="4827778" y="2546858"/>
                  </a:lnTo>
                  <a:lnTo>
                    <a:pt x="0" y="2546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019" r="-3019"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>
            <a:off x="7780533" y="3804045"/>
            <a:ext cx="3425326" cy="1834799"/>
            <a:chOff x="0" y="0"/>
            <a:chExt cx="4767186" cy="255357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767199" cy="2553589"/>
            </a:xfrm>
            <a:custGeom>
              <a:avLst/>
              <a:gdLst/>
              <a:ahLst/>
              <a:cxnLst/>
              <a:rect l="l" t="t" r="r" b="b"/>
              <a:pathLst>
                <a:path w="4767199" h="2553589">
                  <a:moveTo>
                    <a:pt x="0" y="0"/>
                  </a:moveTo>
                  <a:lnTo>
                    <a:pt x="4767199" y="0"/>
                  </a:lnTo>
                  <a:lnTo>
                    <a:pt x="4767199" y="2553589"/>
                  </a:lnTo>
                  <a:lnTo>
                    <a:pt x="0" y="25535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6019" t="-13038" b="-13038"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>
            <a:off x="7758751" y="5756240"/>
            <a:ext cx="3490681" cy="1948609"/>
            <a:chOff x="0" y="0"/>
            <a:chExt cx="4858144" cy="2711971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858131" cy="2711958"/>
            </a:xfrm>
            <a:custGeom>
              <a:avLst/>
              <a:gdLst/>
              <a:ahLst/>
              <a:cxnLst/>
              <a:rect l="l" t="t" r="r" b="b"/>
              <a:pathLst>
                <a:path w="4858131" h="2711958">
                  <a:moveTo>
                    <a:pt x="0" y="0"/>
                  </a:moveTo>
                  <a:lnTo>
                    <a:pt x="4858131" y="0"/>
                  </a:lnTo>
                  <a:lnTo>
                    <a:pt x="4858131" y="2711958"/>
                  </a:lnTo>
                  <a:lnTo>
                    <a:pt x="0" y="27119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7493" b="-7493"/>
              </a:stretch>
            </a:blipFill>
          </p:spPr>
        </p:sp>
      </p:grpSp>
      <p:grpSp>
        <p:nvGrpSpPr>
          <p:cNvPr id="20" name="Group 20"/>
          <p:cNvGrpSpPr/>
          <p:nvPr/>
        </p:nvGrpSpPr>
        <p:grpSpPr>
          <a:xfrm>
            <a:off x="7780533" y="7822245"/>
            <a:ext cx="3468899" cy="1815837"/>
            <a:chOff x="0" y="0"/>
            <a:chExt cx="4827829" cy="2527186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827778" cy="2527173"/>
            </a:xfrm>
            <a:custGeom>
              <a:avLst/>
              <a:gdLst/>
              <a:ahLst/>
              <a:cxnLst/>
              <a:rect l="l" t="t" r="r" b="b"/>
              <a:pathLst>
                <a:path w="4827778" h="2527173">
                  <a:moveTo>
                    <a:pt x="0" y="0"/>
                  </a:moveTo>
                  <a:lnTo>
                    <a:pt x="4827778" y="0"/>
                  </a:lnTo>
                  <a:lnTo>
                    <a:pt x="4827778" y="2527173"/>
                  </a:lnTo>
                  <a:lnTo>
                    <a:pt x="0" y="25271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42529" b="-545"/>
              </a:stretch>
            </a:blipFill>
          </p:spPr>
        </p:sp>
      </p:grpSp>
      <p:sp>
        <p:nvSpPr>
          <p:cNvPr id="22" name="TextBox 22"/>
          <p:cNvSpPr txBox="1"/>
          <p:nvPr/>
        </p:nvSpPr>
        <p:spPr>
          <a:xfrm>
            <a:off x="2189625" y="198821"/>
            <a:ext cx="11599414" cy="807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439"/>
              </a:lnSpc>
              <a:spcBef>
                <a:spcPct val="0"/>
              </a:spcBef>
            </a:pPr>
            <a:r>
              <a:rPr lang="en-US" sz="4599" b="1">
                <a:solidFill>
                  <a:srgbClr val="FACB5F"/>
                </a:solidFill>
                <a:latin typeface="Arial Bold"/>
                <a:ea typeface="Arial Bold"/>
                <a:cs typeface="Arial Bold"/>
                <a:sym typeface="Arial Bold"/>
              </a:rPr>
              <a:t>CƠ SỞ LÝ THUYẾT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00721" y="2517550"/>
            <a:ext cx="6803562" cy="645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000" b="1" spc="6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1. Nhận diện cử chỉ tay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28700" y="3409440"/>
            <a:ext cx="6036876" cy="6060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038"/>
              </a:lnSpc>
            </a:pPr>
            <a:r>
              <a:rPr lang="en-US" sz="3299" b="1" spc="138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Đ/n</a:t>
            </a:r>
            <a:r>
              <a:rPr lang="en-US" sz="3299" spc="13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Ứng dụng AI và xử lý ảnh để:</a:t>
            </a:r>
          </a:p>
          <a:p>
            <a:pPr marL="712460" lvl="1" indent="-356230" algn="just">
              <a:lnSpc>
                <a:spcPts val="6038"/>
              </a:lnSpc>
              <a:buFont typeface="Arial"/>
              <a:buChar char="•"/>
            </a:pPr>
            <a:r>
              <a:rPr lang="en-US" sz="3299" spc="13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Phân tích: Hình dạng và chuyển động của bàn tay qua camera</a:t>
            </a:r>
          </a:p>
          <a:p>
            <a:pPr marL="712460" lvl="1" indent="-356230" algn="just">
              <a:lnSpc>
                <a:spcPts val="6038"/>
              </a:lnSpc>
              <a:buFont typeface="Arial"/>
              <a:buChar char="•"/>
            </a:pPr>
            <a:r>
              <a:rPr lang="en-US" sz="3299" spc="13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Ứng dụng: Chuyển đổi thành thông tin/lệnh điều khiển thiết bị 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729154" y="1966123"/>
            <a:ext cx="3016806" cy="522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00"/>
              </a:lnSpc>
            </a:pPr>
            <a:r>
              <a:rPr lang="en-US" sz="3077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Ô tô thông minh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729154" y="5976752"/>
            <a:ext cx="2865834" cy="522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00"/>
              </a:lnSpc>
            </a:pPr>
            <a:r>
              <a:rPr lang="en-US" sz="3077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Y tế &amp; Phục hồi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729154" y="3948161"/>
            <a:ext cx="4646652" cy="522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00"/>
              </a:lnSpc>
            </a:pPr>
            <a:r>
              <a:rPr lang="en-US" sz="3077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Nền tảng họp trực tuyến 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729154" y="7945026"/>
            <a:ext cx="1172527" cy="522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00"/>
              </a:lnSpc>
            </a:pPr>
            <a:r>
              <a:rPr lang="en-US" sz="3077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Xã hội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729154" y="2460400"/>
            <a:ext cx="5787782" cy="1070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44"/>
              </a:lnSpc>
            </a:pPr>
            <a:r>
              <a:rPr lang="en-US" sz="2896" spc="4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Điều khiển rảnh tay trên BMW, Mercedes, tăng ATGT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706340" y="4502088"/>
            <a:ext cx="5787782" cy="1070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44"/>
              </a:lnSpc>
            </a:pPr>
            <a:r>
              <a:rPr lang="en-US" sz="2896" spc="4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Zoom, Teams tích hợp nhận diện cử chỉ kích hoạt cảm xúc tự động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756184" y="6528180"/>
            <a:ext cx="5979550" cy="1070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44"/>
              </a:lnSpc>
            </a:pPr>
            <a:r>
              <a:rPr lang="en-US" sz="2896" spc="4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Thao tác ảnh y khoa không chạm (Gesture4D) 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729154" y="8544079"/>
            <a:ext cx="6278744" cy="1070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44"/>
              </a:lnSpc>
            </a:pPr>
            <a:r>
              <a:rPr lang="en-US" sz="2896" spc="4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Dịch ngôn ngữ ký hiệu (SignAll) xóa bỏ rào cản cho người khiếm thính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66147" y="221615"/>
            <a:ext cx="1151943" cy="807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39"/>
              </a:lnSpc>
            </a:pPr>
            <a:r>
              <a:rPr lang="en-US" sz="4599" b="1" spc="142">
                <a:solidFill>
                  <a:srgbClr val="FACB5F"/>
                </a:solidFill>
                <a:latin typeface="Arial Bold"/>
                <a:ea typeface="Arial Bold"/>
                <a:cs typeface="Arial Bold"/>
                <a:sym typeface="Arial Bold"/>
              </a:rPr>
              <a:t>02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78179" y="2286507"/>
            <a:ext cx="4311243" cy="983839"/>
            <a:chOff x="0" y="0"/>
            <a:chExt cx="6089903" cy="1389735"/>
          </a:xfrm>
        </p:grpSpPr>
        <p:sp>
          <p:nvSpPr>
            <p:cNvPr id="3" name="Freeform 3"/>
            <p:cNvSpPr/>
            <p:nvPr/>
          </p:nvSpPr>
          <p:spPr>
            <a:xfrm>
              <a:off x="18075" y="19492"/>
              <a:ext cx="6053657" cy="1350648"/>
            </a:xfrm>
            <a:custGeom>
              <a:avLst/>
              <a:gdLst/>
              <a:ahLst/>
              <a:cxnLst/>
              <a:rect l="l" t="t" r="r" b="b"/>
              <a:pathLst>
                <a:path w="6053657" h="1350648">
                  <a:moveTo>
                    <a:pt x="0" y="0"/>
                  </a:moveTo>
                  <a:lnTo>
                    <a:pt x="6053657" y="0"/>
                  </a:lnTo>
                  <a:lnTo>
                    <a:pt x="6053657" y="1350648"/>
                  </a:lnTo>
                  <a:lnTo>
                    <a:pt x="0" y="1350648"/>
                  </a:lnTo>
                  <a:close/>
                </a:path>
              </a:pathLst>
            </a:custGeom>
            <a:solidFill>
              <a:srgbClr val="1A2E5A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6089807" cy="1389634"/>
            </a:xfrm>
            <a:custGeom>
              <a:avLst/>
              <a:gdLst/>
              <a:ahLst/>
              <a:cxnLst/>
              <a:rect l="l" t="t" r="r" b="b"/>
              <a:pathLst>
                <a:path w="6089807" h="1389634">
                  <a:moveTo>
                    <a:pt x="18075" y="0"/>
                  </a:moveTo>
                  <a:lnTo>
                    <a:pt x="6071732" y="0"/>
                  </a:lnTo>
                  <a:cubicBezTo>
                    <a:pt x="6081789" y="0"/>
                    <a:pt x="6089807" y="8793"/>
                    <a:pt x="6089807" y="19492"/>
                  </a:cubicBezTo>
                  <a:lnTo>
                    <a:pt x="6089807" y="1370140"/>
                  </a:lnTo>
                  <a:cubicBezTo>
                    <a:pt x="6089807" y="1380985"/>
                    <a:pt x="6081654" y="1389632"/>
                    <a:pt x="6071732" y="1389632"/>
                  </a:cubicBezTo>
                  <a:lnTo>
                    <a:pt x="18075" y="1389632"/>
                  </a:lnTo>
                  <a:cubicBezTo>
                    <a:pt x="8154" y="1389773"/>
                    <a:pt x="0" y="1380985"/>
                    <a:pt x="0" y="1370140"/>
                  </a:cubicBezTo>
                  <a:lnTo>
                    <a:pt x="0" y="19492"/>
                  </a:lnTo>
                  <a:cubicBezTo>
                    <a:pt x="0" y="8793"/>
                    <a:pt x="8154" y="0"/>
                    <a:pt x="18075" y="0"/>
                  </a:cubicBezTo>
                  <a:moveTo>
                    <a:pt x="18075" y="39130"/>
                  </a:moveTo>
                  <a:lnTo>
                    <a:pt x="18075" y="19492"/>
                  </a:lnTo>
                  <a:lnTo>
                    <a:pt x="36286" y="19492"/>
                  </a:lnTo>
                  <a:lnTo>
                    <a:pt x="36286" y="1370140"/>
                  </a:lnTo>
                  <a:lnTo>
                    <a:pt x="18075" y="1370140"/>
                  </a:lnTo>
                  <a:lnTo>
                    <a:pt x="18075" y="1350648"/>
                  </a:lnTo>
                  <a:lnTo>
                    <a:pt x="6071732" y="1350648"/>
                  </a:lnTo>
                  <a:lnTo>
                    <a:pt x="6071732" y="1370140"/>
                  </a:lnTo>
                  <a:lnTo>
                    <a:pt x="6053658" y="1370140"/>
                  </a:lnTo>
                  <a:lnTo>
                    <a:pt x="6053658" y="19492"/>
                  </a:lnTo>
                  <a:lnTo>
                    <a:pt x="6071732" y="19492"/>
                  </a:lnTo>
                  <a:lnTo>
                    <a:pt x="6071732" y="39130"/>
                  </a:lnTo>
                  <a:lnTo>
                    <a:pt x="18075" y="39130"/>
                  </a:lnTo>
                  <a:close/>
                </a:path>
              </a:pathLst>
            </a:custGeom>
            <a:solidFill>
              <a:srgbClr val="1A2E5A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791004" y="2300337"/>
            <a:ext cx="4285584" cy="956169"/>
            <a:chOff x="0" y="0"/>
            <a:chExt cx="6053657" cy="135064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053658" cy="1350648"/>
            </a:xfrm>
            <a:custGeom>
              <a:avLst/>
              <a:gdLst/>
              <a:ahLst/>
              <a:cxnLst/>
              <a:rect l="l" t="t" r="r" b="b"/>
              <a:pathLst>
                <a:path w="6053658" h="1350648">
                  <a:moveTo>
                    <a:pt x="0" y="0"/>
                  </a:moveTo>
                  <a:lnTo>
                    <a:pt x="6053658" y="0"/>
                  </a:lnTo>
                  <a:lnTo>
                    <a:pt x="6053658" y="1350648"/>
                  </a:lnTo>
                  <a:lnTo>
                    <a:pt x="0" y="1350648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6053657" cy="13601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480"/>
                </a:lnSpc>
              </a:pPr>
              <a:r>
                <a:rPr lang="en-US" sz="29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Phương pháp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117230" y="2286507"/>
            <a:ext cx="4028818" cy="983839"/>
            <a:chOff x="0" y="0"/>
            <a:chExt cx="5690959" cy="1389735"/>
          </a:xfrm>
        </p:grpSpPr>
        <p:sp>
          <p:nvSpPr>
            <p:cNvPr id="9" name="Freeform 9"/>
            <p:cNvSpPr/>
            <p:nvPr/>
          </p:nvSpPr>
          <p:spPr>
            <a:xfrm>
              <a:off x="16891" y="19492"/>
              <a:ext cx="5657088" cy="1350648"/>
            </a:xfrm>
            <a:custGeom>
              <a:avLst/>
              <a:gdLst/>
              <a:ahLst/>
              <a:cxnLst/>
              <a:rect l="l" t="t" r="r" b="b"/>
              <a:pathLst>
                <a:path w="5657088" h="1350648">
                  <a:moveTo>
                    <a:pt x="0" y="0"/>
                  </a:moveTo>
                  <a:lnTo>
                    <a:pt x="5657088" y="0"/>
                  </a:lnTo>
                  <a:lnTo>
                    <a:pt x="5657088" y="1350648"/>
                  </a:lnTo>
                  <a:lnTo>
                    <a:pt x="0" y="1350648"/>
                  </a:lnTo>
                  <a:close/>
                </a:path>
              </a:pathLst>
            </a:custGeom>
            <a:solidFill>
              <a:srgbClr val="1A2E5A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5690870" cy="1389634"/>
            </a:xfrm>
            <a:custGeom>
              <a:avLst/>
              <a:gdLst/>
              <a:ahLst/>
              <a:cxnLst/>
              <a:rect l="l" t="t" r="r" b="b"/>
              <a:pathLst>
                <a:path w="5690870" h="1389634">
                  <a:moveTo>
                    <a:pt x="16891" y="0"/>
                  </a:moveTo>
                  <a:lnTo>
                    <a:pt x="5673979" y="0"/>
                  </a:lnTo>
                  <a:cubicBezTo>
                    <a:pt x="5683377" y="0"/>
                    <a:pt x="5690870" y="8793"/>
                    <a:pt x="5690870" y="19492"/>
                  </a:cubicBezTo>
                  <a:lnTo>
                    <a:pt x="5690870" y="1370140"/>
                  </a:lnTo>
                  <a:cubicBezTo>
                    <a:pt x="5690870" y="1380985"/>
                    <a:pt x="5683250" y="1389632"/>
                    <a:pt x="5673979" y="1389632"/>
                  </a:cubicBezTo>
                  <a:lnTo>
                    <a:pt x="16891" y="1389632"/>
                  </a:lnTo>
                  <a:cubicBezTo>
                    <a:pt x="7620" y="1389773"/>
                    <a:pt x="0" y="1380985"/>
                    <a:pt x="0" y="1370140"/>
                  </a:cubicBezTo>
                  <a:lnTo>
                    <a:pt x="0" y="19492"/>
                  </a:lnTo>
                  <a:cubicBezTo>
                    <a:pt x="0" y="8793"/>
                    <a:pt x="7620" y="0"/>
                    <a:pt x="16891" y="0"/>
                  </a:cubicBezTo>
                  <a:moveTo>
                    <a:pt x="16891" y="39130"/>
                  </a:moveTo>
                  <a:lnTo>
                    <a:pt x="16891" y="19492"/>
                  </a:lnTo>
                  <a:lnTo>
                    <a:pt x="33909" y="19492"/>
                  </a:lnTo>
                  <a:lnTo>
                    <a:pt x="33909" y="1370140"/>
                  </a:lnTo>
                  <a:lnTo>
                    <a:pt x="16891" y="1370140"/>
                  </a:lnTo>
                  <a:lnTo>
                    <a:pt x="16891" y="1350648"/>
                  </a:lnTo>
                  <a:lnTo>
                    <a:pt x="5673979" y="1350648"/>
                  </a:lnTo>
                  <a:lnTo>
                    <a:pt x="5673979" y="1370140"/>
                  </a:lnTo>
                  <a:lnTo>
                    <a:pt x="5657088" y="1370140"/>
                  </a:lnTo>
                  <a:lnTo>
                    <a:pt x="5657088" y="19492"/>
                  </a:lnTo>
                  <a:lnTo>
                    <a:pt x="5673979" y="19492"/>
                  </a:lnTo>
                  <a:lnTo>
                    <a:pt x="5673979" y="39130"/>
                  </a:lnTo>
                  <a:lnTo>
                    <a:pt x="16891" y="39130"/>
                  </a:lnTo>
                  <a:close/>
                </a:path>
              </a:pathLst>
            </a:custGeom>
            <a:solidFill>
              <a:srgbClr val="1A2E5A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5129215" y="2300337"/>
            <a:ext cx="4004839" cy="956169"/>
            <a:chOff x="0" y="0"/>
            <a:chExt cx="5657088" cy="135064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657088" cy="1350648"/>
            </a:xfrm>
            <a:custGeom>
              <a:avLst/>
              <a:gdLst/>
              <a:ahLst/>
              <a:cxnLst/>
              <a:rect l="l" t="t" r="r" b="b"/>
              <a:pathLst>
                <a:path w="5657088" h="1350648">
                  <a:moveTo>
                    <a:pt x="0" y="0"/>
                  </a:moveTo>
                  <a:lnTo>
                    <a:pt x="5657088" y="0"/>
                  </a:lnTo>
                  <a:lnTo>
                    <a:pt x="5657088" y="1350648"/>
                  </a:lnTo>
                  <a:lnTo>
                    <a:pt x="0" y="1350648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9525"/>
              <a:ext cx="5657088" cy="13601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480"/>
                </a:lnSpc>
              </a:pPr>
              <a:r>
                <a:rPr lang="en-US" sz="29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Độ chính xác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173856" y="2286507"/>
            <a:ext cx="4028818" cy="983839"/>
            <a:chOff x="0" y="0"/>
            <a:chExt cx="5690959" cy="1389735"/>
          </a:xfrm>
        </p:grpSpPr>
        <p:sp>
          <p:nvSpPr>
            <p:cNvPr id="15" name="Freeform 15"/>
            <p:cNvSpPr/>
            <p:nvPr/>
          </p:nvSpPr>
          <p:spPr>
            <a:xfrm>
              <a:off x="16891" y="19492"/>
              <a:ext cx="5657088" cy="1350648"/>
            </a:xfrm>
            <a:custGeom>
              <a:avLst/>
              <a:gdLst/>
              <a:ahLst/>
              <a:cxnLst/>
              <a:rect l="l" t="t" r="r" b="b"/>
              <a:pathLst>
                <a:path w="5657088" h="1350648">
                  <a:moveTo>
                    <a:pt x="0" y="0"/>
                  </a:moveTo>
                  <a:lnTo>
                    <a:pt x="5657088" y="0"/>
                  </a:lnTo>
                  <a:lnTo>
                    <a:pt x="5657088" y="1350648"/>
                  </a:lnTo>
                  <a:lnTo>
                    <a:pt x="0" y="1350648"/>
                  </a:lnTo>
                  <a:close/>
                </a:path>
              </a:pathLst>
            </a:custGeom>
            <a:solidFill>
              <a:srgbClr val="1A2E5A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0" y="0"/>
              <a:ext cx="5690870" cy="1389634"/>
            </a:xfrm>
            <a:custGeom>
              <a:avLst/>
              <a:gdLst/>
              <a:ahLst/>
              <a:cxnLst/>
              <a:rect l="l" t="t" r="r" b="b"/>
              <a:pathLst>
                <a:path w="5690870" h="1389634">
                  <a:moveTo>
                    <a:pt x="16891" y="0"/>
                  </a:moveTo>
                  <a:lnTo>
                    <a:pt x="5673979" y="0"/>
                  </a:lnTo>
                  <a:cubicBezTo>
                    <a:pt x="5683377" y="0"/>
                    <a:pt x="5690870" y="8793"/>
                    <a:pt x="5690870" y="19492"/>
                  </a:cubicBezTo>
                  <a:lnTo>
                    <a:pt x="5690870" y="1370140"/>
                  </a:lnTo>
                  <a:cubicBezTo>
                    <a:pt x="5690870" y="1380985"/>
                    <a:pt x="5683250" y="1389632"/>
                    <a:pt x="5673979" y="1389632"/>
                  </a:cubicBezTo>
                  <a:lnTo>
                    <a:pt x="16891" y="1389632"/>
                  </a:lnTo>
                  <a:cubicBezTo>
                    <a:pt x="7620" y="1389773"/>
                    <a:pt x="0" y="1380985"/>
                    <a:pt x="0" y="1370140"/>
                  </a:cubicBezTo>
                  <a:lnTo>
                    <a:pt x="0" y="19492"/>
                  </a:lnTo>
                  <a:cubicBezTo>
                    <a:pt x="0" y="8793"/>
                    <a:pt x="7620" y="0"/>
                    <a:pt x="16891" y="0"/>
                  </a:cubicBezTo>
                  <a:moveTo>
                    <a:pt x="16891" y="39130"/>
                  </a:moveTo>
                  <a:lnTo>
                    <a:pt x="16891" y="19492"/>
                  </a:lnTo>
                  <a:lnTo>
                    <a:pt x="33909" y="19492"/>
                  </a:lnTo>
                  <a:lnTo>
                    <a:pt x="33909" y="1370140"/>
                  </a:lnTo>
                  <a:lnTo>
                    <a:pt x="16891" y="1370140"/>
                  </a:lnTo>
                  <a:lnTo>
                    <a:pt x="16891" y="1350648"/>
                  </a:lnTo>
                  <a:lnTo>
                    <a:pt x="5673979" y="1350648"/>
                  </a:lnTo>
                  <a:lnTo>
                    <a:pt x="5673979" y="1370140"/>
                  </a:lnTo>
                  <a:lnTo>
                    <a:pt x="5657088" y="1370140"/>
                  </a:lnTo>
                  <a:lnTo>
                    <a:pt x="5657088" y="19492"/>
                  </a:lnTo>
                  <a:lnTo>
                    <a:pt x="5673979" y="19492"/>
                  </a:lnTo>
                  <a:lnTo>
                    <a:pt x="5673979" y="39130"/>
                  </a:lnTo>
                  <a:lnTo>
                    <a:pt x="16891" y="39130"/>
                  </a:lnTo>
                  <a:close/>
                </a:path>
              </a:pathLst>
            </a:custGeom>
            <a:solidFill>
              <a:srgbClr val="1A2E5A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9185841" y="2300337"/>
            <a:ext cx="4004839" cy="956169"/>
            <a:chOff x="0" y="0"/>
            <a:chExt cx="5657088" cy="135064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5657088" cy="1350648"/>
            </a:xfrm>
            <a:custGeom>
              <a:avLst/>
              <a:gdLst/>
              <a:ahLst/>
              <a:cxnLst/>
              <a:rect l="l" t="t" r="r" b="b"/>
              <a:pathLst>
                <a:path w="5657088" h="1350648">
                  <a:moveTo>
                    <a:pt x="0" y="0"/>
                  </a:moveTo>
                  <a:lnTo>
                    <a:pt x="5657088" y="0"/>
                  </a:lnTo>
                  <a:lnTo>
                    <a:pt x="5657088" y="1350648"/>
                  </a:lnTo>
                  <a:lnTo>
                    <a:pt x="0" y="1350648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9525"/>
              <a:ext cx="5657088" cy="13601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480"/>
                </a:lnSpc>
              </a:pPr>
              <a:r>
                <a:rPr lang="en-US" sz="29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Nhược điểm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3230482" y="2286507"/>
            <a:ext cx="4028818" cy="983839"/>
            <a:chOff x="0" y="0"/>
            <a:chExt cx="5690959" cy="1389735"/>
          </a:xfrm>
        </p:grpSpPr>
        <p:sp>
          <p:nvSpPr>
            <p:cNvPr id="21" name="Freeform 21"/>
            <p:cNvSpPr/>
            <p:nvPr/>
          </p:nvSpPr>
          <p:spPr>
            <a:xfrm>
              <a:off x="16891" y="19492"/>
              <a:ext cx="5657088" cy="1350648"/>
            </a:xfrm>
            <a:custGeom>
              <a:avLst/>
              <a:gdLst/>
              <a:ahLst/>
              <a:cxnLst/>
              <a:rect l="l" t="t" r="r" b="b"/>
              <a:pathLst>
                <a:path w="5657088" h="1350648">
                  <a:moveTo>
                    <a:pt x="0" y="0"/>
                  </a:moveTo>
                  <a:lnTo>
                    <a:pt x="5657088" y="0"/>
                  </a:lnTo>
                  <a:lnTo>
                    <a:pt x="5657088" y="1350648"/>
                  </a:lnTo>
                  <a:lnTo>
                    <a:pt x="0" y="1350648"/>
                  </a:lnTo>
                  <a:close/>
                </a:path>
              </a:pathLst>
            </a:custGeom>
            <a:solidFill>
              <a:srgbClr val="1A2E5A"/>
            </a:solidFill>
          </p:spPr>
        </p:sp>
        <p:sp>
          <p:nvSpPr>
            <p:cNvPr id="22" name="Freeform 22"/>
            <p:cNvSpPr/>
            <p:nvPr/>
          </p:nvSpPr>
          <p:spPr>
            <a:xfrm>
              <a:off x="0" y="0"/>
              <a:ext cx="5690870" cy="1389634"/>
            </a:xfrm>
            <a:custGeom>
              <a:avLst/>
              <a:gdLst/>
              <a:ahLst/>
              <a:cxnLst/>
              <a:rect l="l" t="t" r="r" b="b"/>
              <a:pathLst>
                <a:path w="5690870" h="1389634">
                  <a:moveTo>
                    <a:pt x="16891" y="0"/>
                  </a:moveTo>
                  <a:lnTo>
                    <a:pt x="5673979" y="0"/>
                  </a:lnTo>
                  <a:cubicBezTo>
                    <a:pt x="5683377" y="0"/>
                    <a:pt x="5690870" y="8793"/>
                    <a:pt x="5690870" y="19492"/>
                  </a:cubicBezTo>
                  <a:lnTo>
                    <a:pt x="5690870" y="1370140"/>
                  </a:lnTo>
                  <a:cubicBezTo>
                    <a:pt x="5690870" y="1380985"/>
                    <a:pt x="5683250" y="1389632"/>
                    <a:pt x="5673979" y="1389632"/>
                  </a:cubicBezTo>
                  <a:lnTo>
                    <a:pt x="16891" y="1389632"/>
                  </a:lnTo>
                  <a:cubicBezTo>
                    <a:pt x="7620" y="1389773"/>
                    <a:pt x="0" y="1380985"/>
                    <a:pt x="0" y="1370140"/>
                  </a:cubicBezTo>
                  <a:lnTo>
                    <a:pt x="0" y="19492"/>
                  </a:lnTo>
                  <a:cubicBezTo>
                    <a:pt x="0" y="8793"/>
                    <a:pt x="7620" y="0"/>
                    <a:pt x="16891" y="0"/>
                  </a:cubicBezTo>
                  <a:moveTo>
                    <a:pt x="16891" y="39130"/>
                  </a:moveTo>
                  <a:lnTo>
                    <a:pt x="16891" y="19492"/>
                  </a:lnTo>
                  <a:lnTo>
                    <a:pt x="33909" y="19492"/>
                  </a:lnTo>
                  <a:lnTo>
                    <a:pt x="33909" y="1370140"/>
                  </a:lnTo>
                  <a:lnTo>
                    <a:pt x="16891" y="1370140"/>
                  </a:lnTo>
                  <a:lnTo>
                    <a:pt x="16891" y="1350648"/>
                  </a:lnTo>
                  <a:lnTo>
                    <a:pt x="5673979" y="1350648"/>
                  </a:lnTo>
                  <a:lnTo>
                    <a:pt x="5673979" y="1370140"/>
                  </a:lnTo>
                  <a:lnTo>
                    <a:pt x="5657088" y="1370140"/>
                  </a:lnTo>
                  <a:lnTo>
                    <a:pt x="5657088" y="19492"/>
                  </a:lnTo>
                  <a:lnTo>
                    <a:pt x="5673979" y="19492"/>
                  </a:lnTo>
                  <a:lnTo>
                    <a:pt x="5673979" y="39130"/>
                  </a:lnTo>
                  <a:lnTo>
                    <a:pt x="16891" y="39130"/>
                  </a:lnTo>
                  <a:close/>
                </a:path>
              </a:pathLst>
            </a:custGeom>
            <a:solidFill>
              <a:srgbClr val="1A2E5A"/>
            </a:solidFill>
          </p:spPr>
        </p:sp>
      </p:grpSp>
      <p:grpSp>
        <p:nvGrpSpPr>
          <p:cNvPr id="23" name="Group 23"/>
          <p:cNvGrpSpPr/>
          <p:nvPr/>
        </p:nvGrpSpPr>
        <p:grpSpPr>
          <a:xfrm>
            <a:off x="13242467" y="2300337"/>
            <a:ext cx="4004839" cy="956169"/>
            <a:chOff x="0" y="0"/>
            <a:chExt cx="5657088" cy="1350648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5657088" cy="1350648"/>
            </a:xfrm>
            <a:custGeom>
              <a:avLst/>
              <a:gdLst/>
              <a:ahLst/>
              <a:cxnLst/>
              <a:rect l="l" t="t" r="r" b="b"/>
              <a:pathLst>
                <a:path w="5657088" h="1350648">
                  <a:moveTo>
                    <a:pt x="0" y="0"/>
                  </a:moveTo>
                  <a:lnTo>
                    <a:pt x="5657088" y="0"/>
                  </a:lnTo>
                  <a:lnTo>
                    <a:pt x="5657088" y="1350648"/>
                  </a:lnTo>
                  <a:lnTo>
                    <a:pt x="0" y="1350648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-9525"/>
              <a:ext cx="5657088" cy="13601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480"/>
                </a:lnSpc>
              </a:pPr>
              <a:r>
                <a:rPr lang="en-US" sz="29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Thực tế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778179" y="3282516"/>
            <a:ext cx="4311243" cy="1940008"/>
            <a:chOff x="0" y="0"/>
            <a:chExt cx="6089903" cy="2740383"/>
          </a:xfrm>
        </p:grpSpPr>
        <p:sp>
          <p:nvSpPr>
            <p:cNvPr id="27" name="Freeform 27"/>
            <p:cNvSpPr/>
            <p:nvPr/>
          </p:nvSpPr>
          <p:spPr>
            <a:xfrm>
              <a:off x="18075" y="19492"/>
              <a:ext cx="6053657" cy="2701297"/>
            </a:xfrm>
            <a:custGeom>
              <a:avLst/>
              <a:gdLst/>
              <a:ahLst/>
              <a:cxnLst/>
              <a:rect l="l" t="t" r="r" b="b"/>
              <a:pathLst>
                <a:path w="6053657" h="2701297">
                  <a:moveTo>
                    <a:pt x="0" y="0"/>
                  </a:moveTo>
                  <a:lnTo>
                    <a:pt x="6053657" y="0"/>
                  </a:lnTo>
                  <a:lnTo>
                    <a:pt x="6053657" y="2701297"/>
                  </a:lnTo>
                  <a:lnTo>
                    <a:pt x="0" y="2701297"/>
                  </a:lnTo>
                  <a:close/>
                </a:path>
              </a:pathLst>
            </a:custGeom>
            <a:solidFill>
              <a:srgbClr val="F4F7FB"/>
            </a:solidFill>
          </p:spPr>
        </p:sp>
        <p:sp>
          <p:nvSpPr>
            <p:cNvPr id="28" name="Freeform 28"/>
            <p:cNvSpPr/>
            <p:nvPr/>
          </p:nvSpPr>
          <p:spPr>
            <a:xfrm>
              <a:off x="0" y="0"/>
              <a:ext cx="6089807" cy="2740280"/>
            </a:xfrm>
            <a:custGeom>
              <a:avLst/>
              <a:gdLst/>
              <a:ahLst/>
              <a:cxnLst/>
              <a:rect l="l" t="t" r="r" b="b"/>
              <a:pathLst>
                <a:path w="6089807" h="2740280">
                  <a:moveTo>
                    <a:pt x="18075" y="0"/>
                  </a:moveTo>
                  <a:lnTo>
                    <a:pt x="6071732" y="0"/>
                  </a:lnTo>
                  <a:cubicBezTo>
                    <a:pt x="6081789" y="0"/>
                    <a:pt x="6089807" y="8793"/>
                    <a:pt x="6089807" y="19492"/>
                  </a:cubicBezTo>
                  <a:lnTo>
                    <a:pt x="6089807" y="2720789"/>
                  </a:lnTo>
                  <a:cubicBezTo>
                    <a:pt x="6089807" y="2731634"/>
                    <a:pt x="6081654" y="2740280"/>
                    <a:pt x="6071732" y="2740280"/>
                  </a:cubicBezTo>
                  <a:lnTo>
                    <a:pt x="18075" y="2740280"/>
                  </a:lnTo>
                  <a:cubicBezTo>
                    <a:pt x="8018" y="2740280"/>
                    <a:pt x="0" y="2731487"/>
                    <a:pt x="0" y="2720789"/>
                  </a:cubicBezTo>
                  <a:lnTo>
                    <a:pt x="0" y="19492"/>
                  </a:lnTo>
                  <a:cubicBezTo>
                    <a:pt x="0" y="8793"/>
                    <a:pt x="8154" y="0"/>
                    <a:pt x="18075" y="0"/>
                  </a:cubicBezTo>
                  <a:moveTo>
                    <a:pt x="18075" y="39130"/>
                  </a:moveTo>
                  <a:lnTo>
                    <a:pt x="18075" y="19492"/>
                  </a:lnTo>
                  <a:lnTo>
                    <a:pt x="36286" y="19492"/>
                  </a:lnTo>
                  <a:lnTo>
                    <a:pt x="36286" y="2720789"/>
                  </a:lnTo>
                  <a:lnTo>
                    <a:pt x="18075" y="2720789"/>
                  </a:lnTo>
                  <a:lnTo>
                    <a:pt x="18075" y="2701297"/>
                  </a:lnTo>
                  <a:lnTo>
                    <a:pt x="6071732" y="2701297"/>
                  </a:lnTo>
                  <a:lnTo>
                    <a:pt x="6071732" y="2720789"/>
                  </a:lnTo>
                  <a:lnTo>
                    <a:pt x="6053658" y="2720789"/>
                  </a:lnTo>
                  <a:lnTo>
                    <a:pt x="6053658" y="19492"/>
                  </a:lnTo>
                  <a:lnTo>
                    <a:pt x="6071732" y="19492"/>
                  </a:lnTo>
                  <a:lnTo>
                    <a:pt x="6071732" y="39130"/>
                  </a:lnTo>
                  <a:lnTo>
                    <a:pt x="18075" y="39130"/>
                  </a:lnTo>
                  <a:close/>
                </a:path>
              </a:pathLst>
            </a:custGeom>
            <a:solidFill>
              <a:srgbClr val="D0D8EC"/>
            </a:solidFill>
          </p:spPr>
        </p:sp>
      </p:grpSp>
      <p:grpSp>
        <p:nvGrpSpPr>
          <p:cNvPr id="29" name="Group 29"/>
          <p:cNvGrpSpPr/>
          <p:nvPr/>
        </p:nvGrpSpPr>
        <p:grpSpPr>
          <a:xfrm>
            <a:off x="883365" y="3336186"/>
            <a:ext cx="4100860" cy="1832656"/>
            <a:chOff x="0" y="0"/>
            <a:chExt cx="5792724" cy="2588743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5792724" cy="2588743"/>
            </a:xfrm>
            <a:custGeom>
              <a:avLst/>
              <a:gdLst/>
              <a:ahLst/>
              <a:cxnLst/>
              <a:rect l="l" t="t" r="r" b="b"/>
              <a:pathLst>
                <a:path w="5792724" h="2588743">
                  <a:moveTo>
                    <a:pt x="0" y="0"/>
                  </a:moveTo>
                  <a:lnTo>
                    <a:pt x="5792724" y="0"/>
                  </a:lnTo>
                  <a:lnTo>
                    <a:pt x="5792724" y="2588743"/>
                  </a:lnTo>
                  <a:lnTo>
                    <a:pt x="0" y="2588743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  <p:sp>
          <p:nvSpPr>
            <p:cNvPr id="31" name="TextBox 31"/>
            <p:cNvSpPr txBox="1"/>
            <p:nvPr/>
          </p:nvSpPr>
          <p:spPr>
            <a:xfrm>
              <a:off x="0" y="-114300"/>
              <a:ext cx="5792724" cy="27030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just">
                <a:lnSpc>
                  <a:spcPts val="4553"/>
                </a:lnSpc>
              </a:pPr>
              <a:r>
                <a:rPr lang="en-US" sz="2900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Cảm biến phần cứng</a:t>
              </a:r>
            </a:p>
            <a:p>
              <a:pPr algn="just">
                <a:lnSpc>
                  <a:spcPts val="4553"/>
                </a:lnSpc>
              </a:pPr>
              <a:r>
                <a:rPr lang="en-US" sz="29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(Kinect, Leap Motion)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117230" y="3282516"/>
            <a:ext cx="4028818" cy="1940008"/>
            <a:chOff x="0" y="0"/>
            <a:chExt cx="5690959" cy="2740383"/>
          </a:xfrm>
        </p:grpSpPr>
        <p:sp>
          <p:nvSpPr>
            <p:cNvPr id="33" name="Freeform 33"/>
            <p:cNvSpPr/>
            <p:nvPr/>
          </p:nvSpPr>
          <p:spPr>
            <a:xfrm>
              <a:off x="16891" y="19492"/>
              <a:ext cx="5657088" cy="2701297"/>
            </a:xfrm>
            <a:custGeom>
              <a:avLst/>
              <a:gdLst/>
              <a:ahLst/>
              <a:cxnLst/>
              <a:rect l="l" t="t" r="r" b="b"/>
              <a:pathLst>
                <a:path w="5657088" h="2701297">
                  <a:moveTo>
                    <a:pt x="0" y="0"/>
                  </a:moveTo>
                  <a:lnTo>
                    <a:pt x="5657088" y="0"/>
                  </a:lnTo>
                  <a:lnTo>
                    <a:pt x="5657088" y="2701297"/>
                  </a:lnTo>
                  <a:lnTo>
                    <a:pt x="0" y="2701297"/>
                  </a:lnTo>
                  <a:close/>
                </a:path>
              </a:pathLst>
            </a:custGeom>
            <a:solidFill>
              <a:srgbClr val="F4F7FB"/>
            </a:solidFill>
          </p:spPr>
        </p:sp>
        <p:sp>
          <p:nvSpPr>
            <p:cNvPr id="34" name="Freeform 34"/>
            <p:cNvSpPr/>
            <p:nvPr/>
          </p:nvSpPr>
          <p:spPr>
            <a:xfrm>
              <a:off x="0" y="0"/>
              <a:ext cx="5690870" cy="2740280"/>
            </a:xfrm>
            <a:custGeom>
              <a:avLst/>
              <a:gdLst/>
              <a:ahLst/>
              <a:cxnLst/>
              <a:rect l="l" t="t" r="r" b="b"/>
              <a:pathLst>
                <a:path w="5690870" h="2740280">
                  <a:moveTo>
                    <a:pt x="16891" y="0"/>
                  </a:moveTo>
                  <a:lnTo>
                    <a:pt x="5673979" y="0"/>
                  </a:lnTo>
                  <a:cubicBezTo>
                    <a:pt x="5683377" y="0"/>
                    <a:pt x="5690870" y="8793"/>
                    <a:pt x="5690870" y="19492"/>
                  </a:cubicBezTo>
                  <a:lnTo>
                    <a:pt x="5690870" y="2720789"/>
                  </a:lnTo>
                  <a:cubicBezTo>
                    <a:pt x="5690870" y="2731634"/>
                    <a:pt x="5683250" y="2740280"/>
                    <a:pt x="5673979" y="2740280"/>
                  </a:cubicBezTo>
                  <a:lnTo>
                    <a:pt x="16891" y="2740280"/>
                  </a:lnTo>
                  <a:cubicBezTo>
                    <a:pt x="7493" y="2740280"/>
                    <a:pt x="0" y="2731487"/>
                    <a:pt x="0" y="2720789"/>
                  </a:cubicBezTo>
                  <a:lnTo>
                    <a:pt x="0" y="19492"/>
                  </a:lnTo>
                  <a:cubicBezTo>
                    <a:pt x="0" y="8793"/>
                    <a:pt x="7620" y="0"/>
                    <a:pt x="16891" y="0"/>
                  </a:cubicBezTo>
                  <a:moveTo>
                    <a:pt x="16891" y="39130"/>
                  </a:moveTo>
                  <a:lnTo>
                    <a:pt x="16891" y="19492"/>
                  </a:lnTo>
                  <a:lnTo>
                    <a:pt x="33909" y="19492"/>
                  </a:lnTo>
                  <a:lnTo>
                    <a:pt x="33909" y="2720789"/>
                  </a:lnTo>
                  <a:lnTo>
                    <a:pt x="16891" y="2720789"/>
                  </a:lnTo>
                  <a:lnTo>
                    <a:pt x="16891" y="2701297"/>
                  </a:lnTo>
                  <a:lnTo>
                    <a:pt x="5673979" y="2701297"/>
                  </a:lnTo>
                  <a:lnTo>
                    <a:pt x="5673979" y="2720789"/>
                  </a:lnTo>
                  <a:lnTo>
                    <a:pt x="5657088" y="2720789"/>
                  </a:lnTo>
                  <a:lnTo>
                    <a:pt x="5657088" y="19492"/>
                  </a:lnTo>
                  <a:lnTo>
                    <a:pt x="5673979" y="19492"/>
                  </a:lnTo>
                  <a:lnTo>
                    <a:pt x="5673979" y="39130"/>
                  </a:lnTo>
                  <a:lnTo>
                    <a:pt x="16891" y="39130"/>
                  </a:lnTo>
                  <a:close/>
                </a:path>
              </a:pathLst>
            </a:custGeom>
            <a:solidFill>
              <a:srgbClr val="D0D8EC"/>
            </a:solidFill>
          </p:spPr>
        </p:sp>
      </p:grpSp>
      <p:grpSp>
        <p:nvGrpSpPr>
          <p:cNvPr id="35" name="Group 35"/>
          <p:cNvGrpSpPr/>
          <p:nvPr/>
        </p:nvGrpSpPr>
        <p:grpSpPr>
          <a:xfrm>
            <a:off x="5215526" y="3336186"/>
            <a:ext cx="3832217" cy="1832656"/>
            <a:chOff x="0" y="0"/>
            <a:chExt cx="5413248" cy="2588743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5413248" cy="2588743"/>
            </a:xfrm>
            <a:custGeom>
              <a:avLst/>
              <a:gdLst/>
              <a:ahLst/>
              <a:cxnLst/>
              <a:rect l="l" t="t" r="r" b="b"/>
              <a:pathLst>
                <a:path w="5413248" h="2588743">
                  <a:moveTo>
                    <a:pt x="0" y="0"/>
                  </a:moveTo>
                  <a:lnTo>
                    <a:pt x="5413248" y="0"/>
                  </a:lnTo>
                  <a:lnTo>
                    <a:pt x="5413248" y="2588743"/>
                  </a:lnTo>
                  <a:lnTo>
                    <a:pt x="0" y="2588743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  <p:sp>
          <p:nvSpPr>
            <p:cNvPr id="37" name="TextBox 37"/>
            <p:cNvSpPr txBox="1"/>
            <p:nvPr/>
          </p:nvSpPr>
          <p:spPr>
            <a:xfrm>
              <a:off x="0" y="-114300"/>
              <a:ext cx="5413248" cy="27030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just">
                <a:lnSpc>
                  <a:spcPts val="4553"/>
                </a:lnSpc>
              </a:pPr>
              <a:r>
                <a:rPr lang="en-US" sz="29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Độ chính xác 3D rất cao</a:t>
              </a:r>
            </a:p>
            <a:p>
              <a:pPr algn="just">
                <a:lnSpc>
                  <a:spcPts val="4553"/>
                </a:lnSpc>
              </a:pPr>
              <a:endParaRPr lang="en-US" sz="2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9173856" y="3282516"/>
            <a:ext cx="4028818" cy="1940008"/>
            <a:chOff x="0" y="0"/>
            <a:chExt cx="5690959" cy="2740383"/>
          </a:xfrm>
        </p:grpSpPr>
        <p:sp>
          <p:nvSpPr>
            <p:cNvPr id="39" name="Freeform 39"/>
            <p:cNvSpPr/>
            <p:nvPr/>
          </p:nvSpPr>
          <p:spPr>
            <a:xfrm>
              <a:off x="16891" y="19492"/>
              <a:ext cx="5657088" cy="2701297"/>
            </a:xfrm>
            <a:custGeom>
              <a:avLst/>
              <a:gdLst/>
              <a:ahLst/>
              <a:cxnLst/>
              <a:rect l="l" t="t" r="r" b="b"/>
              <a:pathLst>
                <a:path w="5657088" h="2701297">
                  <a:moveTo>
                    <a:pt x="0" y="0"/>
                  </a:moveTo>
                  <a:lnTo>
                    <a:pt x="5657088" y="0"/>
                  </a:lnTo>
                  <a:lnTo>
                    <a:pt x="5657088" y="2701297"/>
                  </a:lnTo>
                  <a:lnTo>
                    <a:pt x="0" y="2701297"/>
                  </a:lnTo>
                  <a:close/>
                </a:path>
              </a:pathLst>
            </a:custGeom>
            <a:solidFill>
              <a:srgbClr val="F4F7FB"/>
            </a:solidFill>
          </p:spPr>
        </p:sp>
        <p:sp>
          <p:nvSpPr>
            <p:cNvPr id="40" name="Freeform 40"/>
            <p:cNvSpPr/>
            <p:nvPr/>
          </p:nvSpPr>
          <p:spPr>
            <a:xfrm>
              <a:off x="0" y="0"/>
              <a:ext cx="5690870" cy="2740280"/>
            </a:xfrm>
            <a:custGeom>
              <a:avLst/>
              <a:gdLst/>
              <a:ahLst/>
              <a:cxnLst/>
              <a:rect l="l" t="t" r="r" b="b"/>
              <a:pathLst>
                <a:path w="5690870" h="2740280">
                  <a:moveTo>
                    <a:pt x="16891" y="0"/>
                  </a:moveTo>
                  <a:lnTo>
                    <a:pt x="5673979" y="0"/>
                  </a:lnTo>
                  <a:cubicBezTo>
                    <a:pt x="5683377" y="0"/>
                    <a:pt x="5690870" y="8793"/>
                    <a:pt x="5690870" y="19492"/>
                  </a:cubicBezTo>
                  <a:lnTo>
                    <a:pt x="5690870" y="2720789"/>
                  </a:lnTo>
                  <a:cubicBezTo>
                    <a:pt x="5690870" y="2731634"/>
                    <a:pt x="5683250" y="2740280"/>
                    <a:pt x="5673979" y="2740280"/>
                  </a:cubicBezTo>
                  <a:lnTo>
                    <a:pt x="16891" y="2740280"/>
                  </a:lnTo>
                  <a:cubicBezTo>
                    <a:pt x="7493" y="2740280"/>
                    <a:pt x="0" y="2731487"/>
                    <a:pt x="0" y="2720789"/>
                  </a:cubicBezTo>
                  <a:lnTo>
                    <a:pt x="0" y="19492"/>
                  </a:lnTo>
                  <a:cubicBezTo>
                    <a:pt x="0" y="8793"/>
                    <a:pt x="7620" y="0"/>
                    <a:pt x="16891" y="0"/>
                  </a:cubicBezTo>
                  <a:moveTo>
                    <a:pt x="16891" y="39130"/>
                  </a:moveTo>
                  <a:lnTo>
                    <a:pt x="16891" y="19492"/>
                  </a:lnTo>
                  <a:lnTo>
                    <a:pt x="33909" y="19492"/>
                  </a:lnTo>
                  <a:lnTo>
                    <a:pt x="33909" y="2720789"/>
                  </a:lnTo>
                  <a:lnTo>
                    <a:pt x="16891" y="2720789"/>
                  </a:lnTo>
                  <a:lnTo>
                    <a:pt x="16891" y="2701297"/>
                  </a:lnTo>
                  <a:lnTo>
                    <a:pt x="5673979" y="2701297"/>
                  </a:lnTo>
                  <a:lnTo>
                    <a:pt x="5673979" y="2720789"/>
                  </a:lnTo>
                  <a:lnTo>
                    <a:pt x="5657088" y="2720789"/>
                  </a:lnTo>
                  <a:lnTo>
                    <a:pt x="5657088" y="19492"/>
                  </a:lnTo>
                  <a:lnTo>
                    <a:pt x="5673979" y="19492"/>
                  </a:lnTo>
                  <a:lnTo>
                    <a:pt x="5673979" y="39130"/>
                  </a:lnTo>
                  <a:lnTo>
                    <a:pt x="16891" y="39130"/>
                  </a:lnTo>
                  <a:close/>
                </a:path>
              </a:pathLst>
            </a:custGeom>
            <a:solidFill>
              <a:srgbClr val="D0D8EC"/>
            </a:solidFill>
          </p:spPr>
        </p:sp>
      </p:grpSp>
      <p:grpSp>
        <p:nvGrpSpPr>
          <p:cNvPr id="41" name="Group 41"/>
          <p:cNvGrpSpPr/>
          <p:nvPr/>
        </p:nvGrpSpPr>
        <p:grpSpPr>
          <a:xfrm>
            <a:off x="9272152" y="3336186"/>
            <a:ext cx="3832217" cy="1832656"/>
            <a:chOff x="0" y="0"/>
            <a:chExt cx="5413248" cy="2588743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5413248" cy="2588743"/>
            </a:xfrm>
            <a:custGeom>
              <a:avLst/>
              <a:gdLst/>
              <a:ahLst/>
              <a:cxnLst/>
              <a:rect l="l" t="t" r="r" b="b"/>
              <a:pathLst>
                <a:path w="5413248" h="2588743">
                  <a:moveTo>
                    <a:pt x="0" y="0"/>
                  </a:moveTo>
                  <a:lnTo>
                    <a:pt x="5413248" y="0"/>
                  </a:lnTo>
                  <a:lnTo>
                    <a:pt x="5413248" y="2588743"/>
                  </a:lnTo>
                  <a:lnTo>
                    <a:pt x="0" y="2588743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  <p:sp>
          <p:nvSpPr>
            <p:cNvPr id="43" name="TextBox 43"/>
            <p:cNvSpPr txBox="1"/>
            <p:nvPr/>
          </p:nvSpPr>
          <p:spPr>
            <a:xfrm>
              <a:off x="0" y="-114300"/>
              <a:ext cx="5413248" cy="27030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just">
                <a:lnSpc>
                  <a:spcPts val="4553"/>
                </a:lnSpc>
              </a:pPr>
              <a:r>
                <a:rPr lang="en-US" sz="29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Chi phí cao </a:t>
              </a:r>
            </a:p>
            <a:p>
              <a:pPr algn="just">
                <a:lnSpc>
                  <a:spcPts val="4553"/>
                </a:lnSpc>
              </a:pPr>
              <a:r>
                <a:rPr lang="en-US" sz="29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Vùng hoạt động hẹp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3230482" y="3282516"/>
            <a:ext cx="4028818" cy="1940008"/>
            <a:chOff x="0" y="0"/>
            <a:chExt cx="5690959" cy="2740383"/>
          </a:xfrm>
        </p:grpSpPr>
        <p:sp>
          <p:nvSpPr>
            <p:cNvPr id="45" name="Freeform 45"/>
            <p:cNvSpPr/>
            <p:nvPr/>
          </p:nvSpPr>
          <p:spPr>
            <a:xfrm>
              <a:off x="16891" y="19492"/>
              <a:ext cx="5657088" cy="2701297"/>
            </a:xfrm>
            <a:custGeom>
              <a:avLst/>
              <a:gdLst/>
              <a:ahLst/>
              <a:cxnLst/>
              <a:rect l="l" t="t" r="r" b="b"/>
              <a:pathLst>
                <a:path w="5657088" h="2701297">
                  <a:moveTo>
                    <a:pt x="0" y="0"/>
                  </a:moveTo>
                  <a:lnTo>
                    <a:pt x="5657088" y="0"/>
                  </a:lnTo>
                  <a:lnTo>
                    <a:pt x="5657088" y="2701297"/>
                  </a:lnTo>
                  <a:lnTo>
                    <a:pt x="0" y="2701297"/>
                  </a:lnTo>
                  <a:close/>
                </a:path>
              </a:pathLst>
            </a:custGeom>
            <a:solidFill>
              <a:srgbClr val="F4F7FB"/>
            </a:solidFill>
          </p:spPr>
        </p:sp>
        <p:sp>
          <p:nvSpPr>
            <p:cNvPr id="46" name="Freeform 46"/>
            <p:cNvSpPr/>
            <p:nvPr/>
          </p:nvSpPr>
          <p:spPr>
            <a:xfrm>
              <a:off x="0" y="0"/>
              <a:ext cx="5690870" cy="2740280"/>
            </a:xfrm>
            <a:custGeom>
              <a:avLst/>
              <a:gdLst/>
              <a:ahLst/>
              <a:cxnLst/>
              <a:rect l="l" t="t" r="r" b="b"/>
              <a:pathLst>
                <a:path w="5690870" h="2740280">
                  <a:moveTo>
                    <a:pt x="16891" y="0"/>
                  </a:moveTo>
                  <a:lnTo>
                    <a:pt x="5673979" y="0"/>
                  </a:lnTo>
                  <a:cubicBezTo>
                    <a:pt x="5683377" y="0"/>
                    <a:pt x="5690870" y="8793"/>
                    <a:pt x="5690870" y="19492"/>
                  </a:cubicBezTo>
                  <a:lnTo>
                    <a:pt x="5690870" y="2720789"/>
                  </a:lnTo>
                  <a:cubicBezTo>
                    <a:pt x="5690870" y="2731634"/>
                    <a:pt x="5683250" y="2740280"/>
                    <a:pt x="5673979" y="2740280"/>
                  </a:cubicBezTo>
                  <a:lnTo>
                    <a:pt x="16891" y="2740280"/>
                  </a:lnTo>
                  <a:cubicBezTo>
                    <a:pt x="7493" y="2740280"/>
                    <a:pt x="0" y="2731487"/>
                    <a:pt x="0" y="2720789"/>
                  </a:cubicBezTo>
                  <a:lnTo>
                    <a:pt x="0" y="19492"/>
                  </a:lnTo>
                  <a:cubicBezTo>
                    <a:pt x="0" y="8793"/>
                    <a:pt x="7620" y="0"/>
                    <a:pt x="16891" y="0"/>
                  </a:cubicBezTo>
                  <a:moveTo>
                    <a:pt x="16891" y="39130"/>
                  </a:moveTo>
                  <a:lnTo>
                    <a:pt x="16891" y="19492"/>
                  </a:lnTo>
                  <a:lnTo>
                    <a:pt x="33909" y="19492"/>
                  </a:lnTo>
                  <a:lnTo>
                    <a:pt x="33909" y="2720789"/>
                  </a:lnTo>
                  <a:lnTo>
                    <a:pt x="16891" y="2720789"/>
                  </a:lnTo>
                  <a:lnTo>
                    <a:pt x="16891" y="2701297"/>
                  </a:lnTo>
                  <a:lnTo>
                    <a:pt x="5673979" y="2701297"/>
                  </a:lnTo>
                  <a:lnTo>
                    <a:pt x="5673979" y="2720789"/>
                  </a:lnTo>
                  <a:lnTo>
                    <a:pt x="5657088" y="2720789"/>
                  </a:lnTo>
                  <a:lnTo>
                    <a:pt x="5657088" y="19492"/>
                  </a:lnTo>
                  <a:lnTo>
                    <a:pt x="5673979" y="19492"/>
                  </a:lnTo>
                  <a:lnTo>
                    <a:pt x="5673979" y="39130"/>
                  </a:lnTo>
                  <a:lnTo>
                    <a:pt x="16891" y="39130"/>
                  </a:lnTo>
                  <a:close/>
                </a:path>
              </a:pathLst>
            </a:custGeom>
            <a:solidFill>
              <a:srgbClr val="D0D8EC"/>
            </a:solidFill>
          </p:spPr>
        </p:sp>
      </p:grpSp>
      <p:grpSp>
        <p:nvGrpSpPr>
          <p:cNvPr id="47" name="Group 47"/>
          <p:cNvGrpSpPr/>
          <p:nvPr/>
        </p:nvGrpSpPr>
        <p:grpSpPr>
          <a:xfrm>
            <a:off x="13328778" y="3336186"/>
            <a:ext cx="3832217" cy="1832656"/>
            <a:chOff x="0" y="0"/>
            <a:chExt cx="5413248" cy="2588743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5413248" cy="2588743"/>
            </a:xfrm>
            <a:custGeom>
              <a:avLst/>
              <a:gdLst/>
              <a:ahLst/>
              <a:cxnLst/>
              <a:rect l="l" t="t" r="r" b="b"/>
              <a:pathLst>
                <a:path w="5413248" h="2588743">
                  <a:moveTo>
                    <a:pt x="0" y="0"/>
                  </a:moveTo>
                  <a:lnTo>
                    <a:pt x="5413248" y="0"/>
                  </a:lnTo>
                  <a:lnTo>
                    <a:pt x="5413248" y="2588743"/>
                  </a:lnTo>
                  <a:lnTo>
                    <a:pt x="0" y="2588743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  <p:sp>
          <p:nvSpPr>
            <p:cNvPr id="49" name="TextBox 49"/>
            <p:cNvSpPr txBox="1"/>
            <p:nvPr/>
          </p:nvSpPr>
          <p:spPr>
            <a:xfrm>
              <a:off x="0" y="-114300"/>
              <a:ext cx="5413248" cy="27030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553"/>
                </a:lnSpc>
              </a:pPr>
              <a:r>
                <a:rPr lang="en-US" sz="29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Thấp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778179" y="5274534"/>
            <a:ext cx="4311243" cy="1940008"/>
            <a:chOff x="0" y="0"/>
            <a:chExt cx="6089903" cy="2740383"/>
          </a:xfrm>
        </p:grpSpPr>
        <p:sp>
          <p:nvSpPr>
            <p:cNvPr id="51" name="Freeform 51"/>
            <p:cNvSpPr/>
            <p:nvPr/>
          </p:nvSpPr>
          <p:spPr>
            <a:xfrm>
              <a:off x="18075" y="19492"/>
              <a:ext cx="6053657" cy="2701297"/>
            </a:xfrm>
            <a:custGeom>
              <a:avLst/>
              <a:gdLst/>
              <a:ahLst/>
              <a:cxnLst/>
              <a:rect l="l" t="t" r="r" b="b"/>
              <a:pathLst>
                <a:path w="6053657" h="2701297">
                  <a:moveTo>
                    <a:pt x="0" y="0"/>
                  </a:moveTo>
                  <a:lnTo>
                    <a:pt x="6053657" y="0"/>
                  </a:lnTo>
                  <a:lnTo>
                    <a:pt x="6053657" y="2701297"/>
                  </a:lnTo>
                  <a:lnTo>
                    <a:pt x="0" y="2701297"/>
                  </a:lnTo>
                  <a:close/>
                </a:path>
              </a:pathLst>
            </a:custGeom>
            <a:solidFill>
              <a:srgbClr val="E8EEF8"/>
            </a:solidFill>
          </p:spPr>
        </p:sp>
        <p:sp>
          <p:nvSpPr>
            <p:cNvPr id="52" name="Freeform 52"/>
            <p:cNvSpPr/>
            <p:nvPr/>
          </p:nvSpPr>
          <p:spPr>
            <a:xfrm>
              <a:off x="0" y="0"/>
              <a:ext cx="6089807" cy="2740280"/>
            </a:xfrm>
            <a:custGeom>
              <a:avLst/>
              <a:gdLst/>
              <a:ahLst/>
              <a:cxnLst/>
              <a:rect l="l" t="t" r="r" b="b"/>
              <a:pathLst>
                <a:path w="6089807" h="2740280">
                  <a:moveTo>
                    <a:pt x="18075" y="0"/>
                  </a:moveTo>
                  <a:lnTo>
                    <a:pt x="6071732" y="0"/>
                  </a:lnTo>
                  <a:cubicBezTo>
                    <a:pt x="6081789" y="0"/>
                    <a:pt x="6089807" y="8793"/>
                    <a:pt x="6089807" y="19492"/>
                  </a:cubicBezTo>
                  <a:lnTo>
                    <a:pt x="6089807" y="2720789"/>
                  </a:lnTo>
                  <a:cubicBezTo>
                    <a:pt x="6089807" y="2731634"/>
                    <a:pt x="6081654" y="2740280"/>
                    <a:pt x="6071732" y="2740280"/>
                  </a:cubicBezTo>
                  <a:lnTo>
                    <a:pt x="18075" y="2740280"/>
                  </a:lnTo>
                  <a:cubicBezTo>
                    <a:pt x="8018" y="2740280"/>
                    <a:pt x="0" y="2731487"/>
                    <a:pt x="0" y="2720789"/>
                  </a:cubicBezTo>
                  <a:lnTo>
                    <a:pt x="0" y="19492"/>
                  </a:lnTo>
                  <a:cubicBezTo>
                    <a:pt x="0" y="8793"/>
                    <a:pt x="8154" y="0"/>
                    <a:pt x="18075" y="0"/>
                  </a:cubicBezTo>
                  <a:moveTo>
                    <a:pt x="18075" y="39130"/>
                  </a:moveTo>
                  <a:lnTo>
                    <a:pt x="18075" y="19492"/>
                  </a:lnTo>
                  <a:lnTo>
                    <a:pt x="36286" y="19492"/>
                  </a:lnTo>
                  <a:lnTo>
                    <a:pt x="36286" y="2720789"/>
                  </a:lnTo>
                  <a:lnTo>
                    <a:pt x="18075" y="2720789"/>
                  </a:lnTo>
                  <a:lnTo>
                    <a:pt x="18075" y="2701297"/>
                  </a:lnTo>
                  <a:lnTo>
                    <a:pt x="6071732" y="2701297"/>
                  </a:lnTo>
                  <a:lnTo>
                    <a:pt x="6071732" y="2720789"/>
                  </a:lnTo>
                  <a:lnTo>
                    <a:pt x="6053658" y="2720789"/>
                  </a:lnTo>
                  <a:lnTo>
                    <a:pt x="6053658" y="19492"/>
                  </a:lnTo>
                  <a:lnTo>
                    <a:pt x="6071732" y="19492"/>
                  </a:lnTo>
                  <a:lnTo>
                    <a:pt x="6071732" y="39130"/>
                  </a:lnTo>
                  <a:lnTo>
                    <a:pt x="18075" y="39130"/>
                  </a:lnTo>
                  <a:close/>
                </a:path>
              </a:pathLst>
            </a:custGeom>
            <a:solidFill>
              <a:srgbClr val="D0D8EC"/>
            </a:solidFill>
          </p:spPr>
        </p:sp>
      </p:grpSp>
      <p:grpSp>
        <p:nvGrpSpPr>
          <p:cNvPr id="53" name="Group 53"/>
          <p:cNvGrpSpPr/>
          <p:nvPr/>
        </p:nvGrpSpPr>
        <p:grpSpPr>
          <a:xfrm>
            <a:off x="883365" y="5328204"/>
            <a:ext cx="4100860" cy="1832656"/>
            <a:chOff x="0" y="0"/>
            <a:chExt cx="5792724" cy="2588743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5792724" cy="2588743"/>
            </a:xfrm>
            <a:custGeom>
              <a:avLst/>
              <a:gdLst/>
              <a:ahLst/>
              <a:cxnLst/>
              <a:rect l="l" t="t" r="r" b="b"/>
              <a:pathLst>
                <a:path w="5792724" h="2588743">
                  <a:moveTo>
                    <a:pt x="0" y="0"/>
                  </a:moveTo>
                  <a:lnTo>
                    <a:pt x="5792724" y="0"/>
                  </a:lnTo>
                  <a:lnTo>
                    <a:pt x="5792724" y="2588743"/>
                  </a:lnTo>
                  <a:lnTo>
                    <a:pt x="0" y="2588743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  <p:sp>
          <p:nvSpPr>
            <p:cNvPr id="55" name="TextBox 55"/>
            <p:cNvSpPr txBox="1"/>
            <p:nvPr/>
          </p:nvSpPr>
          <p:spPr>
            <a:xfrm>
              <a:off x="0" y="-114300"/>
              <a:ext cx="5792724" cy="27030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just">
                <a:lnSpc>
                  <a:spcPts val="4553"/>
                </a:lnSpc>
              </a:pPr>
              <a:r>
                <a:rPr lang="en-US" sz="2900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Xử lý ảnh truyền thống</a:t>
              </a:r>
            </a:p>
            <a:p>
              <a:pPr algn="just">
                <a:lnSpc>
                  <a:spcPts val="4553"/>
                </a:lnSpc>
              </a:pPr>
              <a:r>
                <a:rPr lang="en-US" sz="29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(HSV, HOG, SIFT)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5117230" y="5274534"/>
            <a:ext cx="4028818" cy="1940008"/>
            <a:chOff x="0" y="0"/>
            <a:chExt cx="5690959" cy="2740383"/>
          </a:xfrm>
        </p:grpSpPr>
        <p:sp>
          <p:nvSpPr>
            <p:cNvPr id="57" name="Freeform 57"/>
            <p:cNvSpPr/>
            <p:nvPr/>
          </p:nvSpPr>
          <p:spPr>
            <a:xfrm>
              <a:off x="16891" y="19492"/>
              <a:ext cx="5657088" cy="2701297"/>
            </a:xfrm>
            <a:custGeom>
              <a:avLst/>
              <a:gdLst/>
              <a:ahLst/>
              <a:cxnLst/>
              <a:rect l="l" t="t" r="r" b="b"/>
              <a:pathLst>
                <a:path w="5657088" h="2701297">
                  <a:moveTo>
                    <a:pt x="0" y="0"/>
                  </a:moveTo>
                  <a:lnTo>
                    <a:pt x="5657088" y="0"/>
                  </a:lnTo>
                  <a:lnTo>
                    <a:pt x="5657088" y="2701297"/>
                  </a:lnTo>
                  <a:lnTo>
                    <a:pt x="0" y="2701297"/>
                  </a:lnTo>
                  <a:close/>
                </a:path>
              </a:pathLst>
            </a:custGeom>
            <a:solidFill>
              <a:srgbClr val="E8EEF8"/>
            </a:solidFill>
          </p:spPr>
        </p:sp>
        <p:sp>
          <p:nvSpPr>
            <p:cNvPr id="58" name="Freeform 58"/>
            <p:cNvSpPr/>
            <p:nvPr/>
          </p:nvSpPr>
          <p:spPr>
            <a:xfrm>
              <a:off x="0" y="0"/>
              <a:ext cx="5690870" cy="2740280"/>
            </a:xfrm>
            <a:custGeom>
              <a:avLst/>
              <a:gdLst/>
              <a:ahLst/>
              <a:cxnLst/>
              <a:rect l="l" t="t" r="r" b="b"/>
              <a:pathLst>
                <a:path w="5690870" h="2740280">
                  <a:moveTo>
                    <a:pt x="16891" y="0"/>
                  </a:moveTo>
                  <a:lnTo>
                    <a:pt x="5673979" y="0"/>
                  </a:lnTo>
                  <a:cubicBezTo>
                    <a:pt x="5683377" y="0"/>
                    <a:pt x="5690870" y="8793"/>
                    <a:pt x="5690870" y="19492"/>
                  </a:cubicBezTo>
                  <a:lnTo>
                    <a:pt x="5690870" y="2720789"/>
                  </a:lnTo>
                  <a:cubicBezTo>
                    <a:pt x="5690870" y="2731634"/>
                    <a:pt x="5683250" y="2740280"/>
                    <a:pt x="5673979" y="2740280"/>
                  </a:cubicBezTo>
                  <a:lnTo>
                    <a:pt x="16891" y="2740280"/>
                  </a:lnTo>
                  <a:cubicBezTo>
                    <a:pt x="7493" y="2740280"/>
                    <a:pt x="0" y="2731487"/>
                    <a:pt x="0" y="2720789"/>
                  </a:cubicBezTo>
                  <a:lnTo>
                    <a:pt x="0" y="19492"/>
                  </a:lnTo>
                  <a:cubicBezTo>
                    <a:pt x="0" y="8793"/>
                    <a:pt x="7620" y="0"/>
                    <a:pt x="16891" y="0"/>
                  </a:cubicBezTo>
                  <a:moveTo>
                    <a:pt x="16891" y="39130"/>
                  </a:moveTo>
                  <a:lnTo>
                    <a:pt x="16891" y="19492"/>
                  </a:lnTo>
                  <a:lnTo>
                    <a:pt x="33909" y="19492"/>
                  </a:lnTo>
                  <a:lnTo>
                    <a:pt x="33909" y="2720789"/>
                  </a:lnTo>
                  <a:lnTo>
                    <a:pt x="16891" y="2720789"/>
                  </a:lnTo>
                  <a:lnTo>
                    <a:pt x="16891" y="2701297"/>
                  </a:lnTo>
                  <a:lnTo>
                    <a:pt x="5673979" y="2701297"/>
                  </a:lnTo>
                  <a:lnTo>
                    <a:pt x="5673979" y="2720789"/>
                  </a:lnTo>
                  <a:lnTo>
                    <a:pt x="5657088" y="2720789"/>
                  </a:lnTo>
                  <a:lnTo>
                    <a:pt x="5657088" y="19492"/>
                  </a:lnTo>
                  <a:lnTo>
                    <a:pt x="5673979" y="19492"/>
                  </a:lnTo>
                  <a:lnTo>
                    <a:pt x="5673979" y="39130"/>
                  </a:lnTo>
                  <a:lnTo>
                    <a:pt x="16891" y="39130"/>
                  </a:lnTo>
                  <a:close/>
                </a:path>
              </a:pathLst>
            </a:custGeom>
            <a:solidFill>
              <a:srgbClr val="D0D8EC"/>
            </a:solidFill>
          </p:spPr>
        </p:sp>
      </p:grpSp>
      <p:grpSp>
        <p:nvGrpSpPr>
          <p:cNvPr id="59" name="Group 59"/>
          <p:cNvGrpSpPr/>
          <p:nvPr/>
        </p:nvGrpSpPr>
        <p:grpSpPr>
          <a:xfrm>
            <a:off x="5215526" y="5328204"/>
            <a:ext cx="3832217" cy="1832656"/>
            <a:chOff x="0" y="0"/>
            <a:chExt cx="5413248" cy="2588743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5413248" cy="2588743"/>
            </a:xfrm>
            <a:custGeom>
              <a:avLst/>
              <a:gdLst/>
              <a:ahLst/>
              <a:cxnLst/>
              <a:rect l="l" t="t" r="r" b="b"/>
              <a:pathLst>
                <a:path w="5413248" h="2588743">
                  <a:moveTo>
                    <a:pt x="0" y="0"/>
                  </a:moveTo>
                  <a:lnTo>
                    <a:pt x="5413248" y="0"/>
                  </a:lnTo>
                  <a:lnTo>
                    <a:pt x="5413248" y="2588743"/>
                  </a:lnTo>
                  <a:lnTo>
                    <a:pt x="0" y="2588743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  <p:sp>
          <p:nvSpPr>
            <p:cNvPr id="61" name="TextBox 61"/>
            <p:cNvSpPr txBox="1"/>
            <p:nvPr/>
          </p:nvSpPr>
          <p:spPr>
            <a:xfrm>
              <a:off x="0" y="-114300"/>
              <a:ext cx="5413248" cy="27030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just">
                <a:lnSpc>
                  <a:spcPts val="4553"/>
                </a:lnSpc>
              </a:pPr>
              <a:r>
                <a:rPr lang="en-US" sz="29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Cao trong môi trường kiểm soát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9173856" y="5274534"/>
            <a:ext cx="4028818" cy="1940008"/>
            <a:chOff x="0" y="0"/>
            <a:chExt cx="5690959" cy="2740383"/>
          </a:xfrm>
        </p:grpSpPr>
        <p:sp>
          <p:nvSpPr>
            <p:cNvPr id="63" name="Freeform 63"/>
            <p:cNvSpPr/>
            <p:nvPr/>
          </p:nvSpPr>
          <p:spPr>
            <a:xfrm>
              <a:off x="16891" y="19492"/>
              <a:ext cx="5657088" cy="2701297"/>
            </a:xfrm>
            <a:custGeom>
              <a:avLst/>
              <a:gdLst/>
              <a:ahLst/>
              <a:cxnLst/>
              <a:rect l="l" t="t" r="r" b="b"/>
              <a:pathLst>
                <a:path w="5657088" h="2701297">
                  <a:moveTo>
                    <a:pt x="0" y="0"/>
                  </a:moveTo>
                  <a:lnTo>
                    <a:pt x="5657088" y="0"/>
                  </a:lnTo>
                  <a:lnTo>
                    <a:pt x="5657088" y="2701297"/>
                  </a:lnTo>
                  <a:lnTo>
                    <a:pt x="0" y="2701297"/>
                  </a:lnTo>
                  <a:close/>
                </a:path>
              </a:pathLst>
            </a:custGeom>
            <a:solidFill>
              <a:srgbClr val="E8EEF8"/>
            </a:solidFill>
          </p:spPr>
        </p:sp>
        <p:sp>
          <p:nvSpPr>
            <p:cNvPr id="64" name="Freeform 64"/>
            <p:cNvSpPr/>
            <p:nvPr/>
          </p:nvSpPr>
          <p:spPr>
            <a:xfrm>
              <a:off x="0" y="0"/>
              <a:ext cx="5690870" cy="2740280"/>
            </a:xfrm>
            <a:custGeom>
              <a:avLst/>
              <a:gdLst/>
              <a:ahLst/>
              <a:cxnLst/>
              <a:rect l="l" t="t" r="r" b="b"/>
              <a:pathLst>
                <a:path w="5690870" h="2740280">
                  <a:moveTo>
                    <a:pt x="16891" y="0"/>
                  </a:moveTo>
                  <a:lnTo>
                    <a:pt x="5673979" y="0"/>
                  </a:lnTo>
                  <a:cubicBezTo>
                    <a:pt x="5683377" y="0"/>
                    <a:pt x="5690870" y="8793"/>
                    <a:pt x="5690870" y="19492"/>
                  </a:cubicBezTo>
                  <a:lnTo>
                    <a:pt x="5690870" y="2720789"/>
                  </a:lnTo>
                  <a:cubicBezTo>
                    <a:pt x="5690870" y="2731634"/>
                    <a:pt x="5683250" y="2740280"/>
                    <a:pt x="5673979" y="2740280"/>
                  </a:cubicBezTo>
                  <a:lnTo>
                    <a:pt x="16891" y="2740280"/>
                  </a:lnTo>
                  <a:cubicBezTo>
                    <a:pt x="7493" y="2740280"/>
                    <a:pt x="0" y="2731487"/>
                    <a:pt x="0" y="2720789"/>
                  </a:cubicBezTo>
                  <a:lnTo>
                    <a:pt x="0" y="19492"/>
                  </a:lnTo>
                  <a:cubicBezTo>
                    <a:pt x="0" y="8793"/>
                    <a:pt x="7620" y="0"/>
                    <a:pt x="16891" y="0"/>
                  </a:cubicBezTo>
                  <a:moveTo>
                    <a:pt x="16891" y="39130"/>
                  </a:moveTo>
                  <a:lnTo>
                    <a:pt x="16891" y="19492"/>
                  </a:lnTo>
                  <a:lnTo>
                    <a:pt x="33909" y="19492"/>
                  </a:lnTo>
                  <a:lnTo>
                    <a:pt x="33909" y="2720789"/>
                  </a:lnTo>
                  <a:lnTo>
                    <a:pt x="16891" y="2720789"/>
                  </a:lnTo>
                  <a:lnTo>
                    <a:pt x="16891" y="2701297"/>
                  </a:lnTo>
                  <a:lnTo>
                    <a:pt x="5673979" y="2701297"/>
                  </a:lnTo>
                  <a:lnTo>
                    <a:pt x="5673979" y="2720789"/>
                  </a:lnTo>
                  <a:lnTo>
                    <a:pt x="5657088" y="2720789"/>
                  </a:lnTo>
                  <a:lnTo>
                    <a:pt x="5657088" y="19492"/>
                  </a:lnTo>
                  <a:lnTo>
                    <a:pt x="5673979" y="19492"/>
                  </a:lnTo>
                  <a:lnTo>
                    <a:pt x="5673979" y="39130"/>
                  </a:lnTo>
                  <a:lnTo>
                    <a:pt x="16891" y="39130"/>
                  </a:lnTo>
                  <a:close/>
                </a:path>
              </a:pathLst>
            </a:custGeom>
            <a:solidFill>
              <a:srgbClr val="D0D8EC"/>
            </a:solidFill>
          </p:spPr>
        </p:sp>
      </p:grpSp>
      <p:grpSp>
        <p:nvGrpSpPr>
          <p:cNvPr id="65" name="Group 65"/>
          <p:cNvGrpSpPr/>
          <p:nvPr/>
        </p:nvGrpSpPr>
        <p:grpSpPr>
          <a:xfrm>
            <a:off x="9272152" y="5328204"/>
            <a:ext cx="3832217" cy="1832656"/>
            <a:chOff x="0" y="0"/>
            <a:chExt cx="5413248" cy="2588743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5413248" cy="2588743"/>
            </a:xfrm>
            <a:custGeom>
              <a:avLst/>
              <a:gdLst/>
              <a:ahLst/>
              <a:cxnLst/>
              <a:rect l="l" t="t" r="r" b="b"/>
              <a:pathLst>
                <a:path w="5413248" h="2588743">
                  <a:moveTo>
                    <a:pt x="0" y="0"/>
                  </a:moveTo>
                  <a:lnTo>
                    <a:pt x="5413248" y="0"/>
                  </a:lnTo>
                  <a:lnTo>
                    <a:pt x="5413248" y="2588743"/>
                  </a:lnTo>
                  <a:lnTo>
                    <a:pt x="0" y="2588743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  <p:sp>
          <p:nvSpPr>
            <p:cNvPr id="67" name="TextBox 67"/>
            <p:cNvSpPr txBox="1"/>
            <p:nvPr/>
          </p:nvSpPr>
          <p:spPr>
            <a:xfrm>
              <a:off x="0" y="-114300"/>
              <a:ext cx="5413248" cy="27030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just">
                <a:lnSpc>
                  <a:spcPts val="4553"/>
                </a:lnSpc>
              </a:pPr>
              <a:r>
                <a:rPr lang="en-US" sz="29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Rất nhanh và nhẹ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13230482" y="5274534"/>
            <a:ext cx="4028818" cy="1940008"/>
            <a:chOff x="0" y="0"/>
            <a:chExt cx="5690959" cy="2740383"/>
          </a:xfrm>
        </p:grpSpPr>
        <p:sp>
          <p:nvSpPr>
            <p:cNvPr id="69" name="Freeform 69"/>
            <p:cNvSpPr/>
            <p:nvPr/>
          </p:nvSpPr>
          <p:spPr>
            <a:xfrm>
              <a:off x="16891" y="19492"/>
              <a:ext cx="5657088" cy="2701297"/>
            </a:xfrm>
            <a:custGeom>
              <a:avLst/>
              <a:gdLst/>
              <a:ahLst/>
              <a:cxnLst/>
              <a:rect l="l" t="t" r="r" b="b"/>
              <a:pathLst>
                <a:path w="5657088" h="2701297">
                  <a:moveTo>
                    <a:pt x="0" y="0"/>
                  </a:moveTo>
                  <a:lnTo>
                    <a:pt x="5657088" y="0"/>
                  </a:lnTo>
                  <a:lnTo>
                    <a:pt x="5657088" y="2701297"/>
                  </a:lnTo>
                  <a:lnTo>
                    <a:pt x="0" y="2701297"/>
                  </a:lnTo>
                  <a:close/>
                </a:path>
              </a:pathLst>
            </a:custGeom>
            <a:solidFill>
              <a:srgbClr val="E8EEF8"/>
            </a:solidFill>
          </p:spPr>
        </p:sp>
        <p:sp>
          <p:nvSpPr>
            <p:cNvPr id="70" name="Freeform 70"/>
            <p:cNvSpPr/>
            <p:nvPr/>
          </p:nvSpPr>
          <p:spPr>
            <a:xfrm>
              <a:off x="0" y="0"/>
              <a:ext cx="5690870" cy="2740280"/>
            </a:xfrm>
            <a:custGeom>
              <a:avLst/>
              <a:gdLst/>
              <a:ahLst/>
              <a:cxnLst/>
              <a:rect l="l" t="t" r="r" b="b"/>
              <a:pathLst>
                <a:path w="5690870" h="2740280">
                  <a:moveTo>
                    <a:pt x="16891" y="0"/>
                  </a:moveTo>
                  <a:lnTo>
                    <a:pt x="5673979" y="0"/>
                  </a:lnTo>
                  <a:cubicBezTo>
                    <a:pt x="5683377" y="0"/>
                    <a:pt x="5690870" y="8793"/>
                    <a:pt x="5690870" y="19492"/>
                  </a:cubicBezTo>
                  <a:lnTo>
                    <a:pt x="5690870" y="2720789"/>
                  </a:lnTo>
                  <a:cubicBezTo>
                    <a:pt x="5690870" y="2731634"/>
                    <a:pt x="5683250" y="2740280"/>
                    <a:pt x="5673979" y="2740280"/>
                  </a:cubicBezTo>
                  <a:lnTo>
                    <a:pt x="16891" y="2740280"/>
                  </a:lnTo>
                  <a:cubicBezTo>
                    <a:pt x="7493" y="2740280"/>
                    <a:pt x="0" y="2731487"/>
                    <a:pt x="0" y="2720789"/>
                  </a:cubicBezTo>
                  <a:lnTo>
                    <a:pt x="0" y="19492"/>
                  </a:lnTo>
                  <a:cubicBezTo>
                    <a:pt x="0" y="8793"/>
                    <a:pt x="7620" y="0"/>
                    <a:pt x="16891" y="0"/>
                  </a:cubicBezTo>
                  <a:moveTo>
                    <a:pt x="16891" y="39130"/>
                  </a:moveTo>
                  <a:lnTo>
                    <a:pt x="16891" y="19492"/>
                  </a:lnTo>
                  <a:lnTo>
                    <a:pt x="33909" y="19492"/>
                  </a:lnTo>
                  <a:lnTo>
                    <a:pt x="33909" y="2720789"/>
                  </a:lnTo>
                  <a:lnTo>
                    <a:pt x="16891" y="2720789"/>
                  </a:lnTo>
                  <a:lnTo>
                    <a:pt x="16891" y="2701297"/>
                  </a:lnTo>
                  <a:lnTo>
                    <a:pt x="5673979" y="2701297"/>
                  </a:lnTo>
                  <a:lnTo>
                    <a:pt x="5673979" y="2720789"/>
                  </a:lnTo>
                  <a:lnTo>
                    <a:pt x="5657088" y="2720789"/>
                  </a:lnTo>
                  <a:lnTo>
                    <a:pt x="5657088" y="19492"/>
                  </a:lnTo>
                  <a:lnTo>
                    <a:pt x="5673979" y="19492"/>
                  </a:lnTo>
                  <a:lnTo>
                    <a:pt x="5673979" y="39130"/>
                  </a:lnTo>
                  <a:lnTo>
                    <a:pt x="16891" y="39130"/>
                  </a:lnTo>
                  <a:close/>
                </a:path>
              </a:pathLst>
            </a:custGeom>
            <a:solidFill>
              <a:srgbClr val="D0D8EC"/>
            </a:solidFill>
          </p:spPr>
        </p:sp>
      </p:grpSp>
      <p:grpSp>
        <p:nvGrpSpPr>
          <p:cNvPr id="71" name="Group 71"/>
          <p:cNvGrpSpPr/>
          <p:nvPr/>
        </p:nvGrpSpPr>
        <p:grpSpPr>
          <a:xfrm>
            <a:off x="13328778" y="5328204"/>
            <a:ext cx="3832217" cy="1832656"/>
            <a:chOff x="0" y="0"/>
            <a:chExt cx="5413248" cy="2588743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5413248" cy="2588743"/>
            </a:xfrm>
            <a:custGeom>
              <a:avLst/>
              <a:gdLst/>
              <a:ahLst/>
              <a:cxnLst/>
              <a:rect l="l" t="t" r="r" b="b"/>
              <a:pathLst>
                <a:path w="5413248" h="2588743">
                  <a:moveTo>
                    <a:pt x="0" y="0"/>
                  </a:moveTo>
                  <a:lnTo>
                    <a:pt x="5413248" y="0"/>
                  </a:lnTo>
                  <a:lnTo>
                    <a:pt x="5413248" y="2588743"/>
                  </a:lnTo>
                  <a:lnTo>
                    <a:pt x="0" y="2588743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  <p:sp>
          <p:nvSpPr>
            <p:cNvPr id="73" name="TextBox 73"/>
            <p:cNvSpPr txBox="1"/>
            <p:nvPr/>
          </p:nvSpPr>
          <p:spPr>
            <a:xfrm>
              <a:off x="0" y="-114300"/>
              <a:ext cx="5413248" cy="27030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just">
                <a:lnSpc>
                  <a:spcPts val="4553"/>
                </a:lnSpc>
              </a:pPr>
              <a:r>
                <a:rPr lang="en-US" sz="29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Thất bại khi ánh sáng hoặc nền thay đổi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750466" y="7318292"/>
            <a:ext cx="4311243" cy="1940008"/>
            <a:chOff x="0" y="0"/>
            <a:chExt cx="6089903" cy="2740383"/>
          </a:xfrm>
        </p:grpSpPr>
        <p:sp>
          <p:nvSpPr>
            <p:cNvPr id="75" name="Freeform 75"/>
            <p:cNvSpPr/>
            <p:nvPr/>
          </p:nvSpPr>
          <p:spPr>
            <a:xfrm>
              <a:off x="18075" y="19492"/>
              <a:ext cx="6053657" cy="2701297"/>
            </a:xfrm>
            <a:custGeom>
              <a:avLst/>
              <a:gdLst/>
              <a:ahLst/>
              <a:cxnLst/>
              <a:rect l="l" t="t" r="r" b="b"/>
              <a:pathLst>
                <a:path w="6053657" h="2701297">
                  <a:moveTo>
                    <a:pt x="0" y="0"/>
                  </a:moveTo>
                  <a:lnTo>
                    <a:pt x="6053657" y="0"/>
                  </a:lnTo>
                  <a:lnTo>
                    <a:pt x="6053657" y="2701297"/>
                  </a:lnTo>
                  <a:lnTo>
                    <a:pt x="0" y="2701297"/>
                  </a:lnTo>
                  <a:close/>
                </a:path>
              </a:pathLst>
            </a:custGeom>
            <a:solidFill>
              <a:srgbClr val="E8F5E9"/>
            </a:solidFill>
          </p:spPr>
        </p:sp>
        <p:sp>
          <p:nvSpPr>
            <p:cNvPr id="76" name="Freeform 76"/>
            <p:cNvSpPr/>
            <p:nvPr/>
          </p:nvSpPr>
          <p:spPr>
            <a:xfrm>
              <a:off x="0" y="0"/>
              <a:ext cx="6089807" cy="2740280"/>
            </a:xfrm>
            <a:custGeom>
              <a:avLst/>
              <a:gdLst/>
              <a:ahLst/>
              <a:cxnLst/>
              <a:rect l="l" t="t" r="r" b="b"/>
              <a:pathLst>
                <a:path w="6089807" h="2740280">
                  <a:moveTo>
                    <a:pt x="18075" y="0"/>
                  </a:moveTo>
                  <a:lnTo>
                    <a:pt x="6071732" y="0"/>
                  </a:lnTo>
                  <a:cubicBezTo>
                    <a:pt x="6081789" y="0"/>
                    <a:pt x="6089807" y="8793"/>
                    <a:pt x="6089807" y="19492"/>
                  </a:cubicBezTo>
                  <a:lnTo>
                    <a:pt x="6089807" y="2720789"/>
                  </a:lnTo>
                  <a:cubicBezTo>
                    <a:pt x="6089807" y="2731634"/>
                    <a:pt x="6081654" y="2740280"/>
                    <a:pt x="6071732" y="2740280"/>
                  </a:cubicBezTo>
                  <a:lnTo>
                    <a:pt x="18075" y="2740280"/>
                  </a:lnTo>
                  <a:cubicBezTo>
                    <a:pt x="8018" y="2740280"/>
                    <a:pt x="0" y="2731487"/>
                    <a:pt x="0" y="2720789"/>
                  </a:cubicBezTo>
                  <a:lnTo>
                    <a:pt x="0" y="19492"/>
                  </a:lnTo>
                  <a:cubicBezTo>
                    <a:pt x="0" y="8793"/>
                    <a:pt x="8154" y="0"/>
                    <a:pt x="18075" y="0"/>
                  </a:cubicBezTo>
                  <a:moveTo>
                    <a:pt x="18075" y="39130"/>
                  </a:moveTo>
                  <a:lnTo>
                    <a:pt x="18075" y="19492"/>
                  </a:lnTo>
                  <a:lnTo>
                    <a:pt x="36286" y="19492"/>
                  </a:lnTo>
                  <a:lnTo>
                    <a:pt x="36286" y="2720789"/>
                  </a:lnTo>
                  <a:lnTo>
                    <a:pt x="18075" y="2720789"/>
                  </a:lnTo>
                  <a:lnTo>
                    <a:pt x="18075" y="2701297"/>
                  </a:lnTo>
                  <a:lnTo>
                    <a:pt x="6071732" y="2701297"/>
                  </a:lnTo>
                  <a:lnTo>
                    <a:pt x="6071732" y="2720789"/>
                  </a:lnTo>
                  <a:lnTo>
                    <a:pt x="6053658" y="2720789"/>
                  </a:lnTo>
                  <a:lnTo>
                    <a:pt x="6053658" y="19492"/>
                  </a:lnTo>
                  <a:lnTo>
                    <a:pt x="6071732" y="19492"/>
                  </a:lnTo>
                  <a:lnTo>
                    <a:pt x="6071732" y="39130"/>
                  </a:lnTo>
                  <a:lnTo>
                    <a:pt x="18075" y="39130"/>
                  </a:lnTo>
                  <a:close/>
                </a:path>
              </a:pathLst>
            </a:custGeom>
            <a:solidFill>
              <a:srgbClr val="D0D8EC"/>
            </a:solidFill>
          </p:spPr>
        </p:sp>
      </p:grpSp>
      <p:grpSp>
        <p:nvGrpSpPr>
          <p:cNvPr id="77" name="Group 77"/>
          <p:cNvGrpSpPr/>
          <p:nvPr/>
        </p:nvGrpSpPr>
        <p:grpSpPr>
          <a:xfrm>
            <a:off x="855657" y="7371963"/>
            <a:ext cx="4100860" cy="1832656"/>
            <a:chOff x="0" y="0"/>
            <a:chExt cx="5792724" cy="2588743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5792724" cy="2588743"/>
            </a:xfrm>
            <a:custGeom>
              <a:avLst/>
              <a:gdLst/>
              <a:ahLst/>
              <a:cxnLst/>
              <a:rect l="l" t="t" r="r" b="b"/>
              <a:pathLst>
                <a:path w="5792724" h="2588743">
                  <a:moveTo>
                    <a:pt x="0" y="0"/>
                  </a:moveTo>
                  <a:lnTo>
                    <a:pt x="5792724" y="0"/>
                  </a:lnTo>
                  <a:lnTo>
                    <a:pt x="5792724" y="2588743"/>
                  </a:lnTo>
                  <a:lnTo>
                    <a:pt x="0" y="2588743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  <p:sp>
          <p:nvSpPr>
            <p:cNvPr id="79" name="TextBox 79"/>
            <p:cNvSpPr txBox="1"/>
            <p:nvPr/>
          </p:nvSpPr>
          <p:spPr>
            <a:xfrm>
              <a:off x="0" y="-114300"/>
              <a:ext cx="5792724" cy="27030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just">
                <a:lnSpc>
                  <a:spcPts val="4553"/>
                </a:lnSpc>
              </a:pPr>
              <a:r>
                <a:rPr lang="en-US" sz="2900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Học sâu mạng tích chập (YOLO)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5091333" y="7318292"/>
            <a:ext cx="4028818" cy="1940008"/>
            <a:chOff x="0" y="0"/>
            <a:chExt cx="5690959" cy="2740383"/>
          </a:xfrm>
        </p:grpSpPr>
        <p:sp>
          <p:nvSpPr>
            <p:cNvPr id="81" name="Freeform 81"/>
            <p:cNvSpPr/>
            <p:nvPr/>
          </p:nvSpPr>
          <p:spPr>
            <a:xfrm>
              <a:off x="16891" y="19492"/>
              <a:ext cx="5657088" cy="2701297"/>
            </a:xfrm>
            <a:custGeom>
              <a:avLst/>
              <a:gdLst/>
              <a:ahLst/>
              <a:cxnLst/>
              <a:rect l="l" t="t" r="r" b="b"/>
              <a:pathLst>
                <a:path w="5657088" h="2701297">
                  <a:moveTo>
                    <a:pt x="0" y="0"/>
                  </a:moveTo>
                  <a:lnTo>
                    <a:pt x="5657088" y="0"/>
                  </a:lnTo>
                  <a:lnTo>
                    <a:pt x="5657088" y="2701297"/>
                  </a:lnTo>
                  <a:lnTo>
                    <a:pt x="0" y="2701297"/>
                  </a:lnTo>
                  <a:close/>
                </a:path>
              </a:pathLst>
            </a:custGeom>
            <a:solidFill>
              <a:srgbClr val="E8F5E9"/>
            </a:solidFill>
          </p:spPr>
        </p:sp>
        <p:sp>
          <p:nvSpPr>
            <p:cNvPr id="82" name="Freeform 82"/>
            <p:cNvSpPr/>
            <p:nvPr/>
          </p:nvSpPr>
          <p:spPr>
            <a:xfrm>
              <a:off x="0" y="0"/>
              <a:ext cx="5690870" cy="2740280"/>
            </a:xfrm>
            <a:custGeom>
              <a:avLst/>
              <a:gdLst/>
              <a:ahLst/>
              <a:cxnLst/>
              <a:rect l="l" t="t" r="r" b="b"/>
              <a:pathLst>
                <a:path w="5690870" h="2740280">
                  <a:moveTo>
                    <a:pt x="16891" y="0"/>
                  </a:moveTo>
                  <a:lnTo>
                    <a:pt x="5673979" y="0"/>
                  </a:lnTo>
                  <a:cubicBezTo>
                    <a:pt x="5683377" y="0"/>
                    <a:pt x="5690870" y="8793"/>
                    <a:pt x="5690870" y="19492"/>
                  </a:cubicBezTo>
                  <a:lnTo>
                    <a:pt x="5690870" y="2720789"/>
                  </a:lnTo>
                  <a:cubicBezTo>
                    <a:pt x="5690870" y="2731634"/>
                    <a:pt x="5683250" y="2740280"/>
                    <a:pt x="5673979" y="2740280"/>
                  </a:cubicBezTo>
                  <a:lnTo>
                    <a:pt x="16891" y="2740280"/>
                  </a:lnTo>
                  <a:cubicBezTo>
                    <a:pt x="7493" y="2740280"/>
                    <a:pt x="0" y="2731487"/>
                    <a:pt x="0" y="2720789"/>
                  </a:cubicBezTo>
                  <a:lnTo>
                    <a:pt x="0" y="19492"/>
                  </a:lnTo>
                  <a:cubicBezTo>
                    <a:pt x="0" y="8793"/>
                    <a:pt x="7620" y="0"/>
                    <a:pt x="16891" y="0"/>
                  </a:cubicBezTo>
                  <a:moveTo>
                    <a:pt x="16891" y="39130"/>
                  </a:moveTo>
                  <a:lnTo>
                    <a:pt x="16891" y="19492"/>
                  </a:lnTo>
                  <a:lnTo>
                    <a:pt x="33909" y="19492"/>
                  </a:lnTo>
                  <a:lnTo>
                    <a:pt x="33909" y="2720789"/>
                  </a:lnTo>
                  <a:lnTo>
                    <a:pt x="16891" y="2720789"/>
                  </a:lnTo>
                  <a:lnTo>
                    <a:pt x="16891" y="2701297"/>
                  </a:lnTo>
                  <a:lnTo>
                    <a:pt x="5673979" y="2701297"/>
                  </a:lnTo>
                  <a:lnTo>
                    <a:pt x="5673979" y="2720789"/>
                  </a:lnTo>
                  <a:lnTo>
                    <a:pt x="5657088" y="2720789"/>
                  </a:lnTo>
                  <a:lnTo>
                    <a:pt x="5657088" y="19492"/>
                  </a:lnTo>
                  <a:lnTo>
                    <a:pt x="5673979" y="19492"/>
                  </a:lnTo>
                  <a:lnTo>
                    <a:pt x="5673979" y="39130"/>
                  </a:lnTo>
                  <a:lnTo>
                    <a:pt x="16891" y="39130"/>
                  </a:lnTo>
                  <a:close/>
                </a:path>
              </a:pathLst>
            </a:custGeom>
            <a:solidFill>
              <a:srgbClr val="D0D8EC"/>
            </a:solidFill>
          </p:spPr>
        </p:sp>
      </p:grpSp>
      <p:grpSp>
        <p:nvGrpSpPr>
          <p:cNvPr id="83" name="Group 83"/>
          <p:cNvGrpSpPr/>
          <p:nvPr/>
        </p:nvGrpSpPr>
        <p:grpSpPr>
          <a:xfrm>
            <a:off x="5189628" y="7371963"/>
            <a:ext cx="3832217" cy="1832656"/>
            <a:chOff x="0" y="0"/>
            <a:chExt cx="5413248" cy="2588743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5413248" cy="2588743"/>
            </a:xfrm>
            <a:custGeom>
              <a:avLst/>
              <a:gdLst/>
              <a:ahLst/>
              <a:cxnLst/>
              <a:rect l="l" t="t" r="r" b="b"/>
              <a:pathLst>
                <a:path w="5413248" h="2588743">
                  <a:moveTo>
                    <a:pt x="0" y="0"/>
                  </a:moveTo>
                  <a:lnTo>
                    <a:pt x="5413248" y="0"/>
                  </a:lnTo>
                  <a:lnTo>
                    <a:pt x="5413248" y="2588743"/>
                  </a:lnTo>
                  <a:lnTo>
                    <a:pt x="0" y="2588743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  <p:sp>
          <p:nvSpPr>
            <p:cNvPr id="85" name="TextBox 85"/>
            <p:cNvSpPr txBox="1"/>
            <p:nvPr/>
          </p:nvSpPr>
          <p:spPr>
            <a:xfrm>
              <a:off x="0" y="-114300"/>
              <a:ext cx="5413248" cy="27030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just">
                <a:lnSpc>
                  <a:spcPts val="4553"/>
                </a:lnSpc>
              </a:pPr>
              <a:r>
                <a:rPr lang="en-US" sz="29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Cao, tự động trích xuất đặc trưng</a:t>
              </a:r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9147959" y="7318292"/>
            <a:ext cx="4028818" cy="1940008"/>
            <a:chOff x="0" y="0"/>
            <a:chExt cx="5690959" cy="2740383"/>
          </a:xfrm>
        </p:grpSpPr>
        <p:sp>
          <p:nvSpPr>
            <p:cNvPr id="87" name="Freeform 87"/>
            <p:cNvSpPr/>
            <p:nvPr/>
          </p:nvSpPr>
          <p:spPr>
            <a:xfrm>
              <a:off x="16891" y="19492"/>
              <a:ext cx="5657088" cy="2701297"/>
            </a:xfrm>
            <a:custGeom>
              <a:avLst/>
              <a:gdLst/>
              <a:ahLst/>
              <a:cxnLst/>
              <a:rect l="l" t="t" r="r" b="b"/>
              <a:pathLst>
                <a:path w="5657088" h="2701297">
                  <a:moveTo>
                    <a:pt x="0" y="0"/>
                  </a:moveTo>
                  <a:lnTo>
                    <a:pt x="5657088" y="0"/>
                  </a:lnTo>
                  <a:lnTo>
                    <a:pt x="5657088" y="2701297"/>
                  </a:lnTo>
                  <a:lnTo>
                    <a:pt x="0" y="2701297"/>
                  </a:lnTo>
                  <a:close/>
                </a:path>
              </a:pathLst>
            </a:custGeom>
            <a:solidFill>
              <a:srgbClr val="E8F5E9"/>
            </a:solidFill>
          </p:spPr>
        </p:sp>
        <p:sp>
          <p:nvSpPr>
            <p:cNvPr id="88" name="Freeform 88"/>
            <p:cNvSpPr/>
            <p:nvPr/>
          </p:nvSpPr>
          <p:spPr>
            <a:xfrm>
              <a:off x="0" y="0"/>
              <a:ext cx="5690870" cy="2740280"/>
            </a:xfrm>
            <a:custGeom>
              <a:avLst/>
              <a:gdLst/>
              <a:ahLst/>
              <a:cxnLst/>
              <a:rect l="l" t="t" r="r" b="b"/>
              <a:pathLst>
                <a:path w="5690870" h="2740280">
                  <a:moveTo>
                    <a:pt x="16891" y="0"/>
                  </a:moveTo>
                  <a:lnTo>
                    <a:pt x="5673979" y="0"/>
                  </a:lnTo>
                  <a:cubicBezTo>
                    <a:pt x="5683377" y="0"/>
                    <a:pt x="5690870" y="8793"/>
                    <a:pt x="5690870" y="19492"/>
                  </a:cubicBezTo>
                  <a:lnTo>
                    <a:pt x="5690870" y="2720789"/>
                  </a:lnTo>
                  <a:cubicBezTo>
                    <a:pt x="5690870" y="2731634"/>
                    <a:pt x="5683250" y="2740280"/>
                    <a:pt x="5673979" y="2740280"/>
                  </a:cubicBezTo>
                  <a:lnTo>
                    <a:pt x="16891" y="2740280"/>
                  </a:lnTo>
                  <a:cubicBezTo>
                    <a:pt x="7493" y="2740280"/>
                    <a:pt x="0" y="2731487"/>
                    <a:pt x="0" y="2720789"/>
                  </a:cubicBezTo>
                  <a:lnTo>
                    <a:pt x="0" y="19492"/>
                  </a:lnTo>
                  <a:cubicBezTo>
                    <a:pt x="0" y="8793"/>
                    <a:pt x="7620" y="0"/>
                    <a:pt x="16891" y="0"/>
                  </a:cubicBezTo>
                  <a:moveTo>
                    <a:pt x="16891" y="39130"/>
                  </a:moveTo>
                  <a:lnTo>
                    <a:pt x="16891" y="19492"/>
                  </a:lnTo>
                  <a:lnTo>
                    <a:pt x="33909" y="19492"/>
                  </a:lnTo>
                  <a:lnTo>
                    <a:pt x="33909" y="2720789"/>
                  </a:lnTo>
                  <a:lnTo>
                    <a:pt x="16891" y="2720789"/>
                  </a:lnTo>
                  <a:lnTo>
                    <a:pt x="16891" y="2701297"/>
                  </a:lnTo>
                  <a:lnTo>
                    <a:pt x="5673979" y="2701297"/>
                  </a:lnTo>
                  <a:lnTo>
                    <a:pt x="5673979" y="2720789"/>
                  </a:lnTo>
                  <a:lnTo>
                    <a:pt x="5657088" y="2720789"/>
                  </a:lnTo>
                  <a:lnTo>
                    <a:pt x="5657088" y="19492"/>
                  </a:lnTo>
                  <a:lnTo>
                    <a:pt x="5673979" y="19492"/>
                  </a:lnTo>
                  <a:lnTo>
                    <a:pt x="5673979" y="39130"/>
                  </a:lnTo>
                  <a:lnTo>
                    <a:pt x="16891" y="39130"/>
                  </a:lnTo>
                  <a:close/>
                </a:path>
              </a:pathLst>
            </a:custGeom>
            <a:solidFill>
              <a:srgbClr val="D0D8EC"/>
            </a:solidFill>
          </p:spPr>
        </p:sp>
      </p:grpSp>
      <p:grpSp>
        <p:nvGrpSpPr>
          <p:cNvPr id="89" name="Group 89"/>
          <p:cNvGrpSpPr/>
          <p:nvPr/>
        </p:nvGrpSpPr>
        <p:grpSpPr>
          <a:xfrm>
            <a:off x="9246254" y="7371963"/>
            <a:ext cx="3832217" cy="1832656"/>
            <a:chOff x="0" y="0"/>
            <a:chExt cx="5413248" cy="2588743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5413248" cy="2588743"/>
            </a:xfrm>
            <a:custGeom>
              <a:avLst/>
              <a:gdLst/>
              <a:ahLst/>
              <a:cxnLst/>
              <a:rect l="l" t="t" r="r" b="b"/>
              <a:pathLst>
                <a:path w="5413248" h="2588743">
                  <a:moveTo>
                    <a:pt x="0" y="0"/>
                  </a:moveTo>
                  <a:lnTo>
                    <a:pt x="5413248" y="0"/>
                  </a:lnTo>
                  <a:lnTo>
                    <a:pt x="5413248" y="2588743"/>
                  </a:lnTo>
                  <a:lnTo>
                    <a:pt x="0" y="2588743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  <p:sp>
          <p:nvSpPr>
            <p:cNvPr id="91" name="TextBox 91"/>
            <p:cNvSpPr txBox="1"/>
            <p:nvPr/>
          </p:nvSpPr>
          <p:spPr>
            <a:xfrm>
              <a:off x="0" y="-114300"/>
              <a:ext cx="5413248" cy="27030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just">
                <a:lnSpc>
                  <a:spcPts val="4553"/>
                </a:lnSpc>
              </a:pPr>
              <a:r>
                <a:rPr lang="en-US" sz="29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Cần có GPU huấn luyện, nhận diện bằng webcam thông thường</a:t>
              </a:r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13204585" y="7318292"/>
            <a:ext cx="4028818" cy="1940008"/>
            <a:chOff x="0" y="0"/>
            <a:chExt cx="5690959" cy="2740383"/>
          </a:xfrm>
        </p:grpSpPr>
        <p:sp>
          <p:nvSpPr>
            <p:cNvPr id="93" name="Freeform 93"/>
            <p:cNvSpPr/>
            <p:nvPr/>
          </p:nvSpPr>
          <p:spPr>
            <a:xfrm>
              <a:off x="16891" y="19492"/>
              <a:ext cx="5657088" cy="2701297"/>
            </a:xfrm>
            <a:custGeom>
              <a:avLst/>
              <a:gdLst/>
              <a:ahLst/>
              <a:cxnLst/>
              <a:rect l="l" t="t" r="r" b="b"/>
              <a:pathLst>
                <a:path w="5657088" h="2701297">
                  <a:moveTo>
                    <a:pt x="0" y="0"/>
                  </a:moveTo>
                  <a:lnTo>
                    <a:pt x="5657088" y="0"/>
                  </a:lnTo>
                  <a:lnTo>
                    <a:pt x="5657088" y="2701297"/>
                  </a:lnTo>
                  <a:lnTo>
                    <a:pt x="0" y="2701297"/>
                  </a:lnTo>
                  <a:close/>
                </a:path>
              </a:pathLst>
            </a:custGeom>
            <a:solidFill>
              <a:srgbClr val="E8F5E9"/>
            </a:solidFill>
          </p:spPr>
        </p:sp>
        <p:sp>
          <p:nvSpPr>
            <p:cNvPr id="94" name="Freeform 94"/>
            <p:cNvSpPr/>
            <p:nvPr/>
          </p:nvSpPr>
          <p:spPr>
            <a:xfrm>
              <a:off x="0" y="0"/>
              <a:ext cx="5690870" cy="2740280"/>
            </a:xfrm>
            <a:custGeom>
              <a:avLst/>
              <a:gdLst/>
              <a:ahLst/>
              <a:cxnLst/>
              <a:rect l="l" t="t" r="r" b="b"/>
              <a:pathLst>
                <a:path w="5690870" h="2740280">
                  <a:moveTo>
                    <a:pt x="16891" y="0"/>
                  </a:moveTo>
                  <a:lnTo>
                    <a:pt x="5673979" y="0"/>
                  </a:lnTo>
                  <a:cubicBezTo>
                    <a:pt x="5683377" y="0"/>
                    <a:pt x="5690870" y="8793"/>
                    <a:pt x="5690870" y="19492"/>
                  </a:cubicBezTo>
                  <a:lnTo>
                    <a:pt x="5690870" y="2720789"/>
                  </a:lnTo>
                  <a:cubicBezTo>
                    <a:pt x="5690870" y="2731634"/>
                    <a:pt x="5683250" y="2740280"/>
                    <a:pt x="5673979" y="2740280"/>
                  </a:cubicBezTo>
                  <a:lnTo>
                    <a:pt x="16891" y="2740280"/>
                  </a:lnTo>
                  <a:cubicBezTo>
                    <a:pt x="7493" y="2740280"/>
                    <a:pt x="0" y="2731487"/>
                    <a:pt x="0" y="2720789"/>
                  </a:cubicBezTo>
                  <a:lnTo>
                    <a:pt x="0" y="19492"/>
                  </a:lnTo>
                  <a:cubicBezTo>
                    <a:pt x="0" y="8793"/>
                    <a:pt x="7620" y="0"/>
                    <a:pt x="16891" y="0"/>
                  </a:cubicBezTo>
                  <a:moveTo>
                    <a:pt x="16891" y="39130"/>
                  </a:moveTo>
                  <a:lnTo>
                    <a:pt x="16891" y="19492"/>
                  </a:lnTo>
                  <a:lnTo>
                    <a:pt x="33909" y="19492"/>
                  </a:lnTo>
                  <a:lnTo>
                    <a:pt x="33909" y="2720789"/>
                  </a:lnTo>
                  <a:lnTo>
                    <a:pt x="16891" y="2720789"/>
                  </a:lnTo>
                  <a:lnTo>
                    <a:pt x="16891" y="2701297"/>
                  </a:lnTo>
                  <a:lnTo>
                    <a:pt x="5673979" y="2701297"/>
                  </a:lnTo>
                  <a:lnTo>
                    <a:pt x="5673979" y="2720789"/>
                  </a:lnTo>
                  <a:lnTo>
                    <a:pt x="5657088" y="2720789"/>
                  </a:lnTo>
                  <a:lnTo>
                    <a:pt x="5657088" y="19492"/>
                  </a:lnTo>
                  <a:lnTo>
                    <a:pt x="5673979" y="19492"/>
                  </a:lnTo>
                  <a:lnTo>
                    <a:pt x="5673979" y="39130"/>
                  </a:lnTo>
                  <a:lnTo>
                    <a:pt x="16891" y="39130"/>
                  </a:lnTo>
                  <a:close/>
                </a:path>
              </a:pathLst>
            </a:custGeom>
            <a:solidFill>
              <a:srgbClr val="D0D8EC"/>
            </a:solidFill>
          </p:spPr>
        </p:sp>
      </p:grpSp>
      <p:grpSp>
        <p:nvGrpSpPr>
          <p:cNvPr id="95" name="Group 95"/>
          <p:cNvGrpSpPr/>
          <p:nvPr/>
        </p:nvGrpSpPr>
        <p:grpSpPr>
          <a:xfrm>
            <a:off x="13302880" y="7371963"/>
            <a:ext cx="3832217" cy="1832656"/>
            <a:chOff x="0" y="0"/>
            <a:chExt cx="5413248" cy="2588743"/>
          </a:xfrm>
        </p:grpSpPr>
        <p:sp>
          <p:nvSpPr>
            <p:cNvPr id="96" name="Freeform 96"/>
            <p:cNvSpPr/>
            <p:nvPr/>
          </p:nvSpPr>
          <p:spPr>
            <a:xfrm>
              <a:off x="0" y="0"/>
              <a:ext cx="5413248" cy="2588743"/>
            </a:xfrm>
            <a:custGeom>
              <a:avLst/>
              <a:gdLst/>
              <a:ahLst/>
              <a:cxnLst/>
              <a:rect l="l" t="t" r="r" b="b"/>
              <a:pathLst>
                <a:path w="5413248" h="2588743">
                  <a:moveTo>
                    <a:pt x="0" y="0"/>
                  </a:moveTo>
                  <a:lnTo>
                    <a:pt x="5413248" y="0"/>
                  </a:lnTo>
                  <a:lnTo>
                    <a:pt x="5413248" y="2588743"/>
                  </a:lnTo>
                  <a:lnTo>
                    <a:pt x="0" y="2588743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  <p:sp>
          <p:nvSpPr>
            <p:cNvPr id="97" name="TextBox 97"/>
            <p:cNvSpPr txBox="1"/>
            <p:nvPr/>
          </p:nvSpPr>
          <p:spPr>
            <a:xfrm>
              <a:off x="0" y="-114300"/>
              <a:ext cx="5413248" cy="27030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just">
                <a:lnSpc>
                  <a:spcPts val="4553"/>
                </a:lnSpc>
              </a:pPr>
              <a:r>
                <a:rPr lang="en-US" sz="29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Ổn định trong hầu hết điều kiện</a:t>
              </a:r>
            </a:p>
          </p:txBody>
        </p:sp>
      </p:grpSp>
      <p:sp>
        <p:nvSpPr>
          <p:cNvPr id="98" name="TextBox 98"/>
          <p:cNvSpPr txBox="1"/>
          <p:nvPr/>
        </p:nvSpPr>
        <p:spPr>
          <a:xfrm>
            <a:off x="5129215" y="883765"/>
            <a:ext cx="10128823" cy="828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000"/>
              </a:lnSpc>
              <a:spcBef>
                <a:spcPct val="0"/>
              </a:spcBef>
            </a:pPr>
            <a:r>
              <a:rPr lang="en-US" sz="6000" b="1">
                <a:solidFill>
                  <a:srgbClr val="0C0E0B"/>
                </a:solidFill>
                <a:latin typeface="Arial Bold"/>
                <a:ea typeface="Arial Bold"/>
                <a:cs typeface="Arial Bold"/>
                <a:sym typeface="Arial Bold"/>
              </a:rPr>
              <a:t>Các hướng tiếp cận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503659" y="1028700"/>
            <a:ext cx="9755641" cy="2343347"/>
            <a:chOff x="0" y="0"/>
            <a:chExt cx="2569387" cy="61717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69387" cy="617178"/>
            </a:xfrm>
            <a:custGeom>
              <a:avLst/>
              <a:gdLst/>
              <a:ahLst/>
              <a:cxnLst/>
              <a:rect l="l" t="t" r="r" b="b"/>
              <a:pathLst>
                <a:path w="2569387" h="617178">
                  <a:moveTo>
                    <a:pt x="0" y="0"/>
                  </a:moveTo>
                  <a:lnTo>
                    <a:pt x="2569387" y="0"/>
                  </a:lnTo>
                  <a:lnTo>
                    <a:pt x="2569387" y="617178"/>
                  </a:lnTo>
                  <a:lnTo>
                    <a:pt x="0" y="617178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FACB5F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569387" cy="6648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853374" y="1349415"/>
            <a:ext cx="2097220" cy="1763025"/>
            <a:chOff x="0" y="0"/>
            <a:chExt cx="562975" cy="47326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62975" cy="473264"/>
            </a:xfrm>
            <a:custGeom>
              <a:avLst/>
              <a:gdLst/>
              <a:ahLst/>
              <a:cxnLst/>
              <a:rect l="l" t="t" r="r" b="b"/>
              <a:pathLst>
                <a:path w="562975" h="473264">
                  <a:moveTo>
                    <a:pt x="0" y="0"/>
                  </a:moveTo>
                  <a:lnTo>
                    <a:pt x="562975" y="0"/>
                  </a:lnTo>
                  <a:lnTo>
                    <a:pt x="562975" y="473264"/>
                  </a:lnTo>
                  <a:lnTo>
                    <a:pt x="0" y="473264"/>
                  </a:lnTo>
                  <a:close/>
                </a:path>
              </a:pathLst>
            </a:custGeom>
            <a:blipFill>
              <a:blip r:embed="rId2"/>
              <a:stretch>
                <a:fillRect l="-13587" r="-13587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7503659" y="3895922"/>
            <a:ext cx="9755641" cy="2343347"/>
            <a:chOff x="0" y="0"/>
            <a:chExt cx="2569387" cy="61717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569387" cy="617178"/>
            </a:xfrm>
            <a:custGeom>
              <a:avLst/>
              <a:gdLst/>
              <a:ahLst/>
              <a:cxnLst/>
              <a:rect l="l" t="t" r="r" b="b"/>
              <a:pathLst>
                <a:path w="2569387" h="617178">
                  <a:moveTo>
                    <a:pt x="0" y="0"/>
                  </a:moveTo>
                  <a:lnTo>
                    <a:pt x="2569387" y="0"/>
                  </a:lnTo>
                  <a:lnTo>
                    <a:pt x="2569387" y="617178"/>
                  </a:lnTo>
                  <a:lnTo>
                    <a:pt x="0" y="617178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FACB5F"/>
              </a:solidFill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2569387" cy="6648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853374" y="4216637"/>
            <a:ext cx="2097220" cy="1763025"/>
            <a:chOff x="0" y="0"/>
            <a:chExt cx="562975" cy="47326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62975" cy="473264"/>
            </a:xfrm>
            <a:custGeom>
              <a:avLst/>
              <a:gdLst/>
              <a:ahLst/>
              <a:cxnLst/>
              <a:rect l="l" t="t" r="r" b="b"/>
              <a:pathLst>
                <a:path w="562975" h="473264">
                  <a:moveTo>
                    <a:pt x="0" y="0"/>
                  </a:moveTo>
                  <a:lnTo>
                    <a:pt x="562975" y="0"/>
                  </a:lnTo>
                  <a:lnTo>
                    <a:pt x="562975" y="473264"/>
                  </a:lnTo>
                  <a:lnTo>
                    <a:pt x="0" y="473264"/>
                  </a:lnTo>
                  <a:close/>
                </a:path>
              </a:pathLst>
            </a:custGeom>
            <a:blipFill>
              <a:blip r:embed="rId3"/>
              <a:stretch>
                <a:fillRect l="-34064" r="-34064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7503659" y="6763144"/>
            <a:ext cx="9755641" cy="2343347"/>
            <a:chOff x="0" y="0"/>
            <a:chExt cx="2569387" cy="61717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569387" cy="617178"/>
            </a:xfrm>
            <a:custGeom>
              <a:avLst/>
              <a:gdLst/>
              <a:ahLst/>
              <a:cxnLst/>
              <a:rect l="l" t="t" r="r" b="b"/>
              <a:pathLst>
                <a:path w="2569387" h="617178">
                  <a:moveTo>
                    <a:pt x="0" y="0"/>
                  </a:moveTo>
                  <a:lnTo>
                    <a:pt x="2569387" y="0"/>
                  </a:lnTo>
                  <a:lnTo>
                    <a:pt x="2569387" y="617178"/>
                  </a:lnTo>
                  <a:lnTo>
                    <a:pt x="0" y="617178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FACB5F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2569387" cy="6648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853374" y="7083859"/>
            <a:ext cx="2097220" cy="1763025"/>
            <a:chOff x="0" y="0"/>
            <a:chExt cx="562975" cy="47326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62975" cy="473264"/>
            </a:xfrm>
            <a:custGeom>
              <a:avLst/>
              <a:gdLst/>
              <a:ahLst/>
              <a:cxnLst/>
              <a:rect l="l" t="t" r="r" b="b"/>
              <a:pathLst>
                <a:path w="562975" h="473264">
                  <a:moveTo>
                    <a:pt x="0" y="0"/>
                  </a:moveTo>
                  <a:lnTo>
                    <a:pt x="562975" y="0"/>
                  </a:lnTo>
                  <a:lnTo>
                    <a:pt x="562975" y="473264"/>
                  </a:lnTo>
                  <a:lnTo>
                    <a:pt x="0" y="473264"/>
                  </a:lnTo>
                  <a:close/>
                </a:path>
              </a:pathLst>
            </a:custGeom>
            <a:blipFill>
              <a:blip r:embed="rId4"/>
              <a:stretch>
                <a:fillRect t="-9477" b="-9477"/>
              </a:stretch>
            </a:blipFill>
          </p:spPr>
        </p:sp>
      </p:grpSp>
      <p:sp>
        <p:nvSpPr>
          <p:cNvPr id="17" name="TextBox 17"/>
          <p:cNvSpPr txBox="1"/>
          <p:nvPr/>
        </p:nvSpPr>
        <p:spPr>
          <a:xfrm>
            <a:off x="10647762" y="1282740"/>
            <a:ext cx="5223636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Môi trường phức tạp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647762" y="1942323"/>
            <a:ext cx="6248785" cy="1021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Ánh sáng thay đổi liên tục và bối cảnh nền chứa nhiều vật thể gây nhiễu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647762" y="4149962"/>
            <a:ext cx="5223636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Đối tượng đa dạng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647762" y="4809545"/>
            <a:ext cx="6248785" cy="1021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Sự biến thiên về kích thước, màu da, góc nghiêng của bàn tay thực tế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647762" y="7017184"/>
            <a:ext cx="5223636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Yêu cầu hiệu năng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647762" y="7676767"/>
            <a:ext cx="5766908" cy="1021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Độ trễ phải &lt; 100ms, đạt tối thiểu 25 - 30 FPS 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1181" y="4088130"/>
            <a:ext cx="6127153" cy="2015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80"/>
              </a:lnSpc>
            </a:pPr>
            <a:r>
              <a:rPr lang="en-US" sz="6000" b="1" spc="120">
                <a:solidFill>
                  <a:srgbClr val="0C0E0B"/>
                </a:solidFill>
                <a:latin typeface="Arial Bold"/>
                <a:ea typeface="Arial Bold"/>
                <a:cs typeface="Arial Bold"/>
                <a:sym typeface="Arial Bold"/>
              </a:rPr>
              <a:t>Thách thức      </a:t>
            </a:r>
          </a:p>
          <a:p>
            <a:pPr marL="0" lvl="0" indent="0" algn="l">
              <a:lnSpc>
                <a:spcPts val="7980"/>
              </a:lnSpc>
            </a:pPr>
            <a:r>
              <a:rPr lang="en-US" sz="6000" b="1" spc="120">
                <a:solidFill>
                  <a:srgbClr val="0C0E0B"/>
                </a:solidFill>
                <a:latin typeface="Arial Bold"/>
                <a:ea typeface="Arial Bold"/>
                <a:cs typeface="Arial Bold"/>
                <a:sym typeface="Arial Bold"/>
              </a:rPr>
              <a:t>thời gian thực</a:t>
            </a:r>
          </a:p>
        </p:txBody>
      </p:sp>
      <p:grpSp>
        <p:nvGrpSpPr>
          <p:cNvPr id="24" name="Group 24"/>
          <p:cNvGrpSpPr/>
          <p:nvPr/>
        </p:nvGrpSpPr>
        <p:grpSpPr>
          <a:xfrm rot="-5400000">
            <a:off x="1997095" y="8138097"/>
            <a:ext cx="3499668" cy="5436459"/>
            <a:chOff x="0" y="0"/>
            <a:chExt cx="212191" cy="329621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12191" cy="329621"/>
            </a:xfrm>
            <a:custGeom>
              <a:avLst/>
              <a:gdLst/>
              <a:ahLst/>
              <a:cxnLst/>
              <a:rect l="l" t="t" r="r" b="b"/>
              <a:pathLst>
                <a:path w="212191" h="329621">
                  <a:moveTo>
                    <a:pt x="106095" y="0"/>
                  </a:moveTo>
                  <a:cubicBezTo>
                    <a:pt x="47500" y="0"/>
                    <a:pt x="0" y="73788"/>
                    <a:pt x="0" y="164811"/>
                  </a:cubicBezTo>
                  <a:cubicBezTo>
                    <a:pt x="0" y="255833"/>
                    <a:pt x="47500" y="329621"/>
                    <a:pt x="106095" y="329621"/>
                  </a:cubicBezTo>
                  <a:cubicBezTo>
                    <a:pt x="164690" y="329621"/>
                    <a:pt x="212191" y="255833"/>
                    <a:pt x="212191" y="164811"/>
                  </a:cubicBezTo>
                  <a:cubicBezTo>
                    <a:pt x="212191" y="73788"/>
                    <a:pt x="164690" y="0"/>
                    <a:pt x="106095" y="0"/>
                  </a:cubicBezTo>
                  <a:close/>
                </a:path>
              </a:pathLst>
            </a:custGeom>
            <a:ln w="19050" cap="sq">
              <a:solidFill>
                <a:srgbClr val="FFDC5D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9893" y="2327"/>
              <a:ext cx="172405" cy="2963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67141">
            <a:off x="5687817" y="3225482"/>
            <a:ext cx="6223648" cy="6223648"/>
          </a:xfrm>
          <a:custGeom>
            <a:avLst/>
            <a:gdLst/>
            <a:ahLst/>
            <a:cxnLst/>
            <a:rect l="l" t="t" r="r" b="b"/>
            <a:pathLst>
              <a:path w="6223648" h="6223648">
                <a:moveTo>
                  <a:pt x="0" y="0"/>
                </a:moveTo>
                <a:lnTo>
                  <a:pt x="6223648" y="0"/>
                </a:lnTo>
                <a:lnTo>
                  <a:pt x="6223648" y="6223648"/>
                </a:lnTo>
                <a:lnTo>
                  <a:pt x="0" y="62236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73872" y="4057584"/>
            <a:ext cx="5248550" cy="1374166"/>
          </a:xfrm>
          <a:custGeom>
            <a:avLst/>
            <a:gdLst/>
            <a:ahLst/>
            <a:cxnLst/>
            <a:rect l="l" t="t" r="r" b="b"/>
            <a:pathLst>
              <a:path w="5248550" h="1374166">
                <a:moveTo>
                  <a:pt x="0" y="0"/>
                </a:moveTo>
                <a:lnTo>
                  <a:pt x="5248550" y="0"/>
                </a:lnTo>
                <a:lnTo>
                  <a:pt x="5248550" y="1374165"/>
                </a:lnTo>
                <a:lnTo>
                  <a:pt x="0" y="13741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4000"/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340169" y="3863421"/>
            <a:ext cx="379791" cy="1095155"/>
            <a:chOff x="0" y="0"/>
            <a:chExt cx="100027" cy="28843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0027" cy="288436"/>
            </a:xfrm>
            <a:custGeom>
              <a:avLst/>
              <a:gdLst/>
              <a:ahLst/>
              <a:cxnLst/>
              <a:rect l="l" t="t" r="r" b="b"/>
              <a:pathLst>
                <a:path w="100027" h="288436">
                  <a:moveTo>
                    <a:pt x="50014" y="0"/>
                  </a:moveTo>
                  <a:lnTo>
                    <a:pt x="50014" y="0"/>
                  </a:lnTo>
                  <a:cubicBezTo>
                    <a:pt x="77635" y="0"/>
                    <a:pt x="100027" y="22392"/>
                    <a:pt x="100027" y="50014"/>
                  </a:cubicBezTo>
                  <a:lnTo>
                    <a:pt x="100027" y="238422"/>
                  </a:lnTo>
                  <a:cubicBezTo>
                    <a:pt x="100027" y="266044"/>
                    <a:pt x="77635" y="288436"/>
                    <a:pt x="50014" y="288436"/>
                  </a:cubicBezTo>
                  <a:lnTo>
                    <a:pt x="50014" y="288436"/>
                  </a:lnTo>
                  <a:cubicBezTo>
                    <a:pt x="22392" y="288436"/>
                    <a:pt x="0" y="266044"/>
                    <a:pt x="0" y="238422"/>
                  </a:cubicBezTo>
                  <a:lnTo>
                    <a:pt x="0" y="50014"/>
                  </a:lnTo>
                  <a:cubicBezTo>
                    <a:pt x="0" y="22392"/>
                    <a:pt x="22392" y="0"/>
                    <a:pt x="50014" y="0"/>
                  </a:cubicBezTo>
                  <a:close/>
                </a:path>
              </a:pathLst>
            </a:custGeom>
            <a:solidFill>
              <a:srgbClr val="F6B112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100027" cy="3360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892838" y="2993302"/>
            <a:ext cx="5953559" cy="2743458"/>
            <a:chOff x="0" y="0"/>
            <a:chExt cx="1568016" cy="72255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568016" cy="722557"/>
            </a:xfrm>
            <a:custGeom>
              <a:avLst/>
              <a:gdLst/>
              <a:ahLst/>
              <a:cxnLst/>
              <a:rect l="l" t="t" r="r" b="b"/>
              <a:pathLst>
                <a:path w="1568016" h="722557">
                  <a:moveTo>
                    <a:pt x="28608" y="0"/>
                  </a:moveTo>
                  <a:lnTo>
                    <a:pt x="1539407" y="0"/>
                  </a:lnTo>
                  <a:cubicBezTo>
                    <a:pt x="1555207" y="0"/>
                    <a:pt x="1568016" y="12808"/>
                    <a:pt x="1568016" y="28608"/>
                  </a:cubicBezTo>
                  <a:lnTo>
                    <a:pt x="1568016" y="693948"/>
                  </a:lnTo>
                  <a:cubicBezTo>
                    <a:pt x="1568016" y="701536"/>
                    <a:pt x="1565002" y="708812"/>
                    <a:pt x="1559636" y="714177"/>
                  </a:cubicBezTo>
                  <a:cubicBezTo>
                    <a:pt x="1554271" y="719543"/>
                    <a:pt x="1546995" y="722557"/>
                    <a:pt x="1539407" y="722557"/>
                  </a:cubicBezTo>
                  <a:lnTo>
                    <a:pt x="28608" y="722557"/>
                  </a:lnTo>
                  <a:cubicBezTo>
                    <a:pt x="12808" y="722557"/>
                    <a:pt x="0" y="709748"/>
                    <a:pt x="0" y="693948"/>
                  </a:cubicBezTo>
                  <a:lnTo>
                    <a:pt x="0" y="28608"/>
                  </a:lnTo>
                  <a:cubicBezTo>
                    <a:pt x="0" y="21021"/>
                    <a:pt x="3014" y="13744"/>
                    <a:pt x="8379" y="8379"/>
                  </a:cubicBezTo>
                  <a:cubicBezTo>
                    <a:pt x="13744" y="3014"/>
                    <a:pt x="21021" y="0"/>
                    <a:pt x="28608" y="0"/>
                  </a:cubicBezTo>
                  <a:close/>
                </a:path>
              </a:pathLst>
            </a:custGeom>
            <a:solidFill>
              <a:srgbClr val="F9F9FA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1568016" cy="7701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 rot="-5400000">
            <a:off x="514452" y="3689138"/>
            <a:ext cx="945055" cy="1293620"/>
            <a:chOff x="0" y="0"/>
            <a:chExt cx="416123" cy="56960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16123" cy="569602"/>
            </a:xfrm>
            <a:custGeom>
              <a:avLst/>
              <a:gdLst/>
              <a:ahLst/>
              <a:cxnLst/>
              <a:rect l="l" t="t" r="r" b="b"/>
              <a:pathLst>
                <a:path w="416123" h="569602">
                  <a:moveTo>
                    <a:pt x="416123" y="48861"/>
                  </a:moveTo>
                  <a:lnTo>
                    <a:pt x="416123" y="400692"/>
                  </a:lnTo>
                  <a:lnTo>
                    <a:pt x="208062" y="569602"/>
                  </a:lnTo>
                  <a:lnTo>
                    <a:pt x="0" y="400692"/>
                  </a:lnTo>
                  <a:lnTo>
                    <a:pt x="0" y="48861"/>
                  </a:lnTo>
                  <a:cubicBezTo>
                    <a:pt x="0" y="22860"/>
                    <a:pt x="24967" y="0"/>
                    <a:pt x="54096" y="0"/>
                  </a:cubicBezTo>
                  <a:lnTo>
                    <a:pt x="362027" y="0"/>
                  </a:lnTo>
                  <a:cubicBezTo>
                    <a:pt x="391156" y="0"/>
                    <a:pt x="416123" y="22860"/>
                    <a:pt x="416123" y="48861"/>
                  </a:cubicBezTo>
                  <a:close/>
                </a:path>
              </a:pathLst>
            </a:custGeom>
            <a:solidFill>
              <a:srgbClr val="F6B112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416123" cy="4406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7800495" y="3863421"/>
            <a:ext cx="683455" cy="709245"/>
          </a:xfrm>
          <a:custGeom>
            <a:avLst/>
            <a:gdLst/>
            <a:ahLst/>
            <a:cxnLst/>
            <a:rect l="l" t="t" r="r" b="b"/>
            <a:pathLst>
              <a:path w="683455" h="709245">
                <a:moveTo>
                  <a:pt x="0" y="0"/>
                </a:moveTo>
                <a:lnTo>
                  <a:pt x="683454" y="0"/>
                </a:lnTo>
                <a:lnTo>
                  <a:pt x="683454" y="709245"/>
                </a:lnTo>
                <a:lnTo>
                  <a:pt x="0" y="70924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0343685" y="6878349"/>
            <a:ext cx="689451" cy="689451"/>
          </a:xfrm>
          <a:custGeom>
            <a:avLst/>
            <a:gdLst/>
            <a:ahLst/>
            <a:cxnLst/>
            <a:rect l="l" t="t" r="r" b="b"/>
            <a:pathLst>
              <a:path w="689451" h="689451">
                <a:moveTo>
                  <a:pt x="0" y="0"/>
                </a:moveTo>
                <a:lnTo>
                  <a:pt x="689451" y="0"/>
                </a:lnTo>
                <a:lnTo>
                  <a:pt x="689451" y="689451"/>
                </a:lnTo>
                <a:lnTo>
                  <a:pt x="0" y="68945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7493029" y="7877473"/>
            <a:ext cx="614932" cy="614932"/>
          </a:xfrm>
          <a:custGeom>
            <a:avLst/>
            <a:gdLst/>
            <a:ahLst/>
            <a:cxnLst/>
            <a:rect l="l" t="t" r="r" b="b"/>
            <a:pathLst>
              <a:path w="614932" h="614932">
                <a:moveTo>
                  <a:pt x="0" y="0"/>
                </a:moveTo>
                <a:lnTo>
                  <a:pt x="614931" y="0"/>
                </a:lnTo>
                <a:lnTo>
                  <a:pt x="614931" y="614932"/>
                </a:lnTo>
                <a:lnTo>
                  <a:pt x="0" y="61493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830122" y="3990909"/>
            <a:ext cx="4892300" cy="1426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79"/>
              </a:lnSpc>
            </a:pPr>
            <a:r>
              <a:rPr lang="en-US" sz="26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Chia nhỏ bản đồ đặc trưng, giảm chi phí tính toán self-attention khi xử lý nền phức tạp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73872" y="3019494"/>
            <a:ext cx="3778329" cy="915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Cơ chế chú ý vùng (Area Attention - A²)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78821" y="4065848"/>
            <a:ext cx="628033" cy="507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9"/>
              </a:lnSpc>
            </a:pPr>
            <a:r>
              <a:rPr lang="en-US" sz="28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01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187689" y="6548885"/>
            <a:ext cx="628033" cy="4318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03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869617" y="628133"/>
            <a:ext cx="11469697" cy="7105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100"/>
              </a:lnSpc>
              <a:spcBef>
                <a:spcPct val="0"/>
              </a:spcBef>
            </a:pPr>
            <a:r>
              <a:rPr lang="en-US" sz="5100" b="1">
                <a:solidFill>
                  <a:srgbClr val="0C0E0B"/>
                </a:solidFill>
                <a:latin typeface="Arial Bold"/>
                <a:ea typeface="Arial Bold"/>
                <a:cs typeface="Arial Bold"/>
                <a:sym typeface="Arial Bold"/>
              </a:rPr>
              <a:t>2.Tại sao lựa chọn YOLOv12m ?</a:t>
            </a:r>
          </a:p>
        </p:txBody>
      </p:sp>
      <p:sp>
        <p:nvSpPr>
          <p:cNvPr id="21" name="Freeform 21"/>
          <p:cNvSpPr/>
          <p:nvPr/>
        </p:nvSpPr>
        <p:spPr>
          <a:xfrm>
            <a:off x="11928495" y="6440720"/>
            <a:ext cx="5248550" cy="1374166"/>
          </a:xfrm>
          <a:custGeom>
            <a:avLst/>
            <a:gdLst/>
            <a:ahLst/>
            <a:cxnLst/>
            <a:rect l="l" t="t" r="r" b="b"/>
            <a:pathLst>
              <a:path w="5248550" h="1374166">
                <a:moveTo>
                  <a:pt x="0" y="0"/>
                </a:moveTo>
                <a:lnTo>
                  <a:pt x="5248550" y="0"/>
                </a:lnTo>
                <a:lnTo>
                  <a:pt x="5248550" y="1374165"/>
                </a:lnTo>
                <a:lnTo>
                  <a:pt x="0" y="13741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4000"/>
            </a:blip>
            <a:stretch>
              <a:fillRect/>
            </a:stretch>
          </a:blipFill>
        </p:spPr>
      </p:sp>
      <p:grpSp>
        <p:nvGrpSpPr>
          <p:cNvPr id="22" name="Group 22"/>
          <p:cNvGrpSpPr/>
          <p:nvPr/>
        </p:nvGrpSpPr>
        <p:grpSpPr>
          <a:xfrm>
            <a:off x="11347461" y="5376438"/>
            <a:ext cx="5953559" cy="2621193"/>
            <a:chOff x="0" y="0"/>
            <a:chExt cx="1568016" cy="690355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568016" cy="690355"/>
            </a:xfrm>
            <a:custGeom>
              <a:avLst/>
              <a:gdLst/>
              <a:ahLst/>
              <a:cxnLst/>
              <a:rect l="l" t="t" r="r" b="b"/>
              <a:pathLst>
                <a:path w="1568016" h="690355">
                  <a:moveTo>
                    <a:pt x="28608" y="0"/>
                  </a:moveTo>
                  <a:lnTo>
                    <a:pt x="1539407" y="0"/>
                  </a:lnTo>
                  <a:cubicBezTo>
                    <a:pt x="1555207" y="0"/>
                    <a:pt x="1568016" y="12808"/>
                    <a:pt x="1568016" y="28608"/>
                  </a:cubicBezTo>
                  <a:lnTo>
                    <a:pt x="1568016" y="661747"/>
                  </a:lnTo>
                  <a:cubicBezTo>
                    <a:pt x="1568016" y="669334"/>
                    <a:pt x="1565002" y="676611"/>
                    <a:pt x="1559636" y="681976"/>
                  </a:cubicBezTo>
                  <a:cubicBezTo>
                    <a:pt x="1554271" y="687341"/>
                    <a:pt x="1546995" y="690355"/>
                    <a:pt x="1539407" y="690355"/>
                  </a:cubicBezTo>
                  <a:lnTo>
                    <a:pt x="28608" y="690355"/>
                  </a:lnTo>
                  <a:cubicBezTo>
                    <a:pt x="21021" y="690355"/>
                    <a:pt x="13744" y="687341"/>
                    <a:pt x="8379" y="681976"/>
                  </a:cubicBezTo>
                  <a:cubicBezTo>
                    <a:pt x="3014" y="676611"/>
                    <a:pt x="0" y="669334"/>
                    <a:pt x="0" y="661747"/>
                  </a:cubicBezTo>
                  <a:lnTo>
                    <a:pt x="0" y="28608"/>
                  </a:lnTo>
                  <a:cubicBezTo>
                    <a:pt x="0" y="21021"/>
                    <a:pt x="3014" y="13744"/>
                    <a:pt x="8379" y="8379"/>
                  </a:cubicBezTo>
                  <a:cubicBezTo>
                    <a:pt x="13744" y="3014"/>
                    <a:pt x="21021" y="0"/>
                    <a:pt x="28608" y="0"/>
                  </a:cubicBezTo>
                  <a:close/>
                </a:path>
              </a:pathLst>
            </a:custGeom>
            <a:solidFill>
              <a:srgbClr val="F9F9FA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47625"/>
              <a:ext cx="1568016" cy="737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1684604" y="6250175"/>
            <a:ext cx="4725716" cy="1426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79"/>
              </a:lnSpc>
            </a:pPr>
            <a:r>
              <a:rPr lang="en-US" sz="26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Bổ sung kết nối dư vào cấu trúc tổng hợp đặc trưng, giảm tình trạng nghẽn đạo hàm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639126" y="5670084"/>
            <a:ext cx="4025715" cy="457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39"/>
              </a:lnSpc>
            </a:pPr>
            <a:r>
              <a:rPr lang="en-US" sz="25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Mạng tổng hợp R-ELAN</a:t>
            </a:r>
          </a:p>
        </p:txBody>
      </p:sp>
      <p:grpSp>
        <p:nvGrpSpPr>
          <p:cNvPr id="27" name="Group 27"/>
          <p:cNvGrpSpPr/>
          <p:nvPr/>
        </p:nvGrpSpPr>
        <p:grpSpPr>
          <a:xfrm rot="-10800000">
            <a:off x="17568040" y="6127920"/>
            <a:ext cx="379791" cy="1095155"/>
            <a:chOff x="0" y="0"/>
            <a:chExt cx="100027" cy="288436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00027" cy="288436"/>
            </a:xfrm>
            <a:custGeom>
              <a:avLst/>
              <a:gdLst/>
              <a:ahLst/>
              <a:cxnLst/>
              <a:rect l="l" t="t" r="r" b="b"/>
              <a:pathLst>
                <a:path w="100027" h="288436">
                  <a:moveTo>
                    <a:pt x="50014" y="0"/>
                  </a:moveTo>
                  <a:lnTo>
                    <a:pt x="50014" y="0"/>
                  </a:lnTo>
                  <a:cubicBezTo>
                    <a:pt x="77635" y="0"/>
                    <a:pt x="100027" y="22392"/>
                    <a:pt x="100027" y="50014"/>
                  </a:cubicBezTo>
                  <a:lnTo>
                    <a:pt x="100027" y="238422"/>
                  </a:lnTo>
                  <a:cubicBezTo>
                    <a:pt x="100027" y="266044"/>
                    <a:pt x="77635" y="288436"/>
                    <a:pt x="50014" y="288436"/>
                  </a:cubicBezTo>
                  <a:lnTo>
                    <a:pt x="50014" y="288436"/>
                  </a:lnTo>
                  <a:cubicBezTo>
                    <a:pt x="22392" y="288436"/>
                    <a:pt x="0" y="266044"/>
                    <a:pt x="0" y="238422"/>
                  </a:cubicBezTo>
                  <a:lnTo>
                    <a:pt x="0" y="50014"/>
                  </a:lnTo>
                  <a:cubicBezTo>
                    <a:pt x="0" y="22392"/>
                    <a:pt x="22392" y="0"/>
                    <a:pt x="50014" y="0"/>
                  </a:cubicBezTo>
                  <a:close/>
                </a:path>
              </a:pathLst>
            </a:custGeom>
            <a:solidFill>
              <a:srgbClr val="FDC704"/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0" y="-47625"/>
              <a:ext cx="100027" cy="3360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 rot="5400000">
            <a:off x="16828493" y="5961082"/>
            <a:ext cx="945055" cy="1293620"/>
            <a:chOff x="0" y="0"/>
            <a:chExt cx="416123" cy="569602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416123" cy="569602"/>
            </a:xfrm>
            <a:custGeom>
              <a:avLst/>
              <a:gdLst/>
              <a:ahLst/>
              <a:cxnLst/>
              <a:rect l="l" t="t" r="r" b="b"/>
              <a:pathLst>
                <a:path w="416123" h="569602">
                  <a:moveTo>
                    <a:pt x="416123" y="48861"/>
                  </a:moveTo>
                  <a:lnTo>
                    <a:pt x="416123" y="400692"/>
                  </a:lnTo>
                  <a:lnTo>
                    <a:pt x="208062" y="569602"/>
                  </a:lnTo>
                  <a:lnTo>
                    <a:pt x="0" y="400692"/>
                  </a:lnTo>
                  <a:lnTo>
                    <a:pt x="0" y="48861"/>
                  </a:lnTo>
                  <a:cubicBezTo>
                    <a:pt x="0" y="22860"/>
                    <a:pt x="24967" y="0"/>
                    <a:pt x="54096" y="0"/>
                  </a:cubicBezTo>
                  <a:lnTo>
                    <a:pt x="362027" y="0"/>
                  </a:lnTo>
                  <a:cubicBezTo>
                    <a:pt x="391156" y="0"/>
                    <a:pt x="416123" y="22860"/>
                    <a:pt x="416123" y="48861"/>
                  </a:cubicBezTo>
                  <a:close/>
                </a:path>
              </a:pathLst>
            </a:custGeom>
            <a:solidFill>
              <a:srgbClr val="FACB5F"/>
            </a:solidFill>
          </p:spPr>
        </p:sp>
        <p:sp>
          <p:nvSpPr>
            <p:cNvPr id="32" name="TextBox 32"/>
            <p:cNvSpPr txBox="1"/>
            <p:nvPr/>
          </p:nvSpPr>
          <p:spPr>
            <a:xfrm>
              <a:off x="0" y="-47625"/>
              <a:ext cx="416123" cy="4406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7061788" y="6363434"/>
            <a:ext cx="628033" cy="4318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02</a:t>
            </a:r>
          </a:p>
        </p:txBody>
      </p:sp>
      <p:sp>
        <p:nvSpPr>
          <p:cNvPr id="34" name="Freeform 34"/>
          <p:cNvSpPr/>
          <p:nvPr/>
        </p:nvSpPr>
        <p:spPr>
          <a:xfrm>
            <a:off x="1830122" y="8310430"/>
            <a:ext cx="5248550" cy="1374166"/>
          </a:xfrm>
          <a:custGeom>
            <a:avLst/>
            <a:gdLst/>
            <a:ahLst/>
            <a:cxnLst/>
            <a:rect l="l" t="t" r="r" b="b"/>
            <a:pathLst>
              <a:path w="5248550" h="1374166">
                <a:moveTo>
                  <a:pt x="0" y="0"/>
                </a:moveTo>
                <a:lnTo>
                  <a:pt x="5248550" y="0"/>
                </a:lnTo>
                <a:lnTo>
                  <a:pt x="5248550" y="1374166"/>
                </a:lnTo>
                <a:lnTo>
                  <a:pt x="0" y="13741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4000"/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249088" y="7246149"/>
            <a:ext cx="5953559" cy="2593488"/>
            <a:chOff x="0" y="0"/>
            <a:chExt cx="1568016" cy="683059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568016" cy="683059"/>
            </a:xfrm>
            <a:custGeom>
              <a:avLst/>
              <a:gdLst/>
              <a:ahLst/>
              <a:cxnLst/>
              <a:rect l="l" t="t" r="r" b="b"/>
              <a:pathLst>
                <a:path w="1568016" h="683059">
                  <a:moveTo>
                    <a:pt x="28608" y="0"/>
                  </a:moveTo>
                  <a:lnTo>
                    <a:pt x="1539407" y="0"/>
                  </a:lnTo>
                  <a:cubicBezTo>
                    <a:pt x="1555207" y="0"/>
                    <a:pt x="1568016" y="12808"/>
                    <a:pt x="1568016" y="28608"/>
                  </a:cubicBezTo>
                  <a:lnTo>
                    <a:pt x="1568016" y="654450"/>
                  </a:lnTo>
                  <a:cubicBezTo>
                    <a:pt x="1568016" y="662038"/>
                    <a:pt x="1565002" y="669314"/>
                    <a:pt x="1559636" y="674679"/>
                  </a:cubicBezTo>
                  <a:cubicBezTo>
                    <a:pt x="1554271" y="680044"/>
                    <a:pt x="1546995" y="683059"/>
                    <a:pt x="1539407" y="683059"/>
                  </a:cubicBezTo>
                  <a:lnTo>
                    <a:pt x="28608" y="683059"/>
                  </a:lnTo>
                  <a:cubicBezTo>
                    <a:pt x="21021" y="683059"/>
                    <a:pt x="13744" y="680044"/>
                    <a:pt x="8379" y="674679"/>
                  </a:cubicBezTo>
                  <a:cubicBezTo>
                    <a:pt x="3014" y="669314"/>
                    <a:pt x="0" y="662038"/>
                    <a:pt x="0" y="654450"/>
                  </a:cubicBezTo>
                  <a:lnTo>
                    <a:pt x="0" y="28608"/>
                  </a:lnTo>
                  <a:cubicBezTo>
                    <a:pt x="0" y="21021"/>
                    <a:pt x="3014" y="13744"/>
                    <a:pt x="8379" y="8379"/>
                  </a:cubicBezTo>
                  <a:cubicBezTo>
                    <a:pt x="13744" y="3014"/>
                    <a:pt x="21021" y="0"/>
                    <a:pt x="28608" y="0"/>
                  </a:cubicBezTo>
                  <a:close/>
                </a:path>
              </a:pathLst>
            </a:custGeom>
            <a:solidFill>
              <a:srgbClr val="F9F9FA"/>
            </a:solidFill>
          </p:spPr>
        </p:sp>
        <p:sp>
          <p:nvSpPr>
            <p:cNvPr id="37" name="TextBox 37"/>
            <p:cNvSpPr txBox="1"/>
            <p:nvPr/>
          </p:nvSpPr>
          <p:spPr>
            <a:xfrm>
              <a:off x="0" y="-47625"/>
              <a:ext cx="1568016" cy="7306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1830122" y="8118264"/>
            <a:ext cx="5015084" cy="1426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79"/>
              </a:lnSpc>
            </a:pPr>
            <a:r>
              <a:rPr lang="en-US" sz="26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Tối ưu hóa truy xuất I/O trên GPU, triệt tiêu nút thắt truy cập dữ liệu, tăng tốc suy luận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540753" y="7539795"/>
            <a:ext cx="4025715" cy="457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39"/>
              </a:lnSpc>
            </a:pPr>
            <a:r>
              <a:rPr lang="en-US" sz="25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FlashAttention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340169" y="7997631"/>
            <a:ext cx="379791" cy="1095155"/>
            <a:chOff x="0" y="0"/>
            <a:chExt cx="100027" cy="288436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00027" cy="288436"/>
            </a:xfrm>
            <a:custGeom>
              <a:avLst/>
              <a:gdLst/>
              <a:ahLst/>
              <a:cxnLst/>
              <a:rect l="l" t="t" r="r" b="b"/>
              <a:pathLst>
                <a:path w="100027" h="288436">
                  <a:moveTo>
                    <a:pt x="50014" y="0"/>
                  </a:moveTo>
                  <a:lnTo>
                    <a:pt x="50014" y="0"/>
                  </a:lnTo>
                  <a:cubicBezTo>
                    <a:pt x="77635" y="0"/>
                    <a:pt x="100027" y="22392"/>
                    <a:pt x="100027" y="50014"/>
                  </a:cubicBezTo>
                  <a:lnTo>
                    <a:pt x="100027" y="238422"/>
                  </a:lnTo>
                  <a:cubicBezTo>
                    <a:pt x="100027" y="266044"/>
                    <a:pt x="77635" y="288436"/>
                    <a:pt x="50014" y="288436"/>
                  </a:cubicBezTo>
                  <a:lnTo>
                    <a:pt x="50014" y="288436"/>
                  </a:lnTo>
                  <a:cubicBezTo>
                    <a:pt x="22392" y="288436"/>
                    <a:pt x="0" y="266044"/>
                    <a:pt x="0" y="238422"/>
                  </a:cubicBezTo>
                  <a:lnTo>
                    <a:pt x="0" y="50014"/>
                  </a:lnTo>
                  <a:cubicBezTo>
                    <a:pt x="0" y="22392"/>
                    <a:pt x="22392" y="0"/>
                    <a:pt x="50014" y="0"/>
                  </a:cubicBezTo>
                  <a:close/>
                </a:path>
              </a:pathLst>
            </a:custGeom>
            <a:solidFill>
              <a:srgbClr val="0A2073"/>
            </a:solidFill>
          </p:spPr>
        </p:sp>
        <p:sp>
          <p:nvSpPr>
            <p:cNvPr id="42" name="TextBox 42"/>
            <p:cNvSpPr txBox="1"/>
            <p:nvPr/>
          </p:nvSpPr>
          <p:spPr>
            <a:xfrm>
              <a:off x="0" y="-47625"/>
              <a:ext cx="100027" cy="3360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grpSp>
        <p:nvGrpSpPr>
          <p:cNvPr id="43" name="Group 43"/>
          <p:cNvGrpSpPr/>
          <p:nvPr/>
        </p:nvGrpSpPr>
        <p:grpSpPr>
          <a:xfrm rot="-5400000">
            <a:off x="514452" y="7823348"/>
            <a:ext cx="945055" cy="1293620"/>
            <a:chOff x="0" y="0"/>
            <a:chExt cx="416123" cy="569602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416123" cy="569602"/>
            </a:xfrm>
            <a:custGeom>
              <a:avLst/>
              <a:gdLst/>
              <a:ahLst/>
              <a:cxnLst/>
              <a:rect l="l" t="t" r="r" b="b"/>
              <a:pathLst>
                <a:path w="416123" h="569602">
                  <a:moveTo>
                    <a:pt x="416123" y="48861"/>
                  </a:moveTo>
                  <a:lnTo>
                    <a:pt x="416123" y="400692"/>
                  </a:lnTo>
                  <a:lnTo>
                    <a:pt x="208062" y="569602"/>
                  </a:lnTo>
                  <a:lnTo>
                    <a:pt x="0" y="400692"/>
                  </a:lnTo>
                  <a:lnTo>
                    <a:pt x="0" y="48861"/>
                  </a:lnTo>
                  <a:cubicBezTo>
                    <a:pt x="0" y="22860"/>
                    <a:pt x="24967" y="0"/>
                    <a:pt x="54096" y="0"/>
                  </a:cubicBezTo>
                  <a:lnTo>
                    <a:pt x="362027" y="0"/>
                  </a:lnTo>
                  <a:cubicBezTo>
                    <a:pt x="391156" y="0"/>
                    <a:pt x="416123" y="22860"/>
                    <a:pt x="416123" y="48861"/>
                  </a:cubicBezTo>
                  <a:close/>
                </a:path>
              </a:pathLst>
            </a:custGeom>
            <a:solidFill>
              <a:srgbClr val="0A2073"/>
            </a:solidFill>
          </p:spPr>
        </p:sp>
        <p:sp>
          <p:nvSpPr>
            <p:cNvPr id="45" name="TextBox 45"/>
            <p:cNvSpPr txBox="1"/>
            <p:nvPr/>
          </p:nvSpPr>
          <p:spPr>
            <a:xfrm>
              <a:off x="0" y="-47625"/>
              <a:ext cx="416123" cy="4406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sp>
        <p:nvSpPr>
          <p:cNvPr id="46" name="TextBox 46"/>
          <p:cNvSpPr txBox="1"/>
          <p:nvPr/>
        </p:nvSpPr>
        <p:spPr>
          <a:xfrm>
            <a:off x="595611" y="8225700"/>
            <a:ext cx="628033" cy="4318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03</a:t>
            </a:r>
          </a:p>
        </p:txBody>
      </p:sp>
      <p:grpSp>
        <p:nvGrpSpPr>
          <p:cNvPr id="47" name="Group 47"/>
          <p:cNvGrpSpPr/>
          <p:nvPr/>
        </p:nvGrpSpPr>
        <p:grpSpPr>
          <a:xfrm>
            <a:off x="11469243" y="1643499"/>
            <a:ext cx="6478588" cy="1866850"/>
            <a:chOff x="0" y="0"/>
            <a:chExt cx="2038621" cy="587443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2038621" cy="587443"/>
            </a:xfrm>
            <a:custGeom>
              <a:avLst/>
              <a:gdLst/>
              <a:ahLst/>
              <a:cxnLst/>
              <a:rect l="l" t="t" r="r" b="b"/>
              <a:pathLst>
                <a:path w="2038621" h="587443">
                  <a:moveTo>
                    <a:pt x="17925" y="0"/>
                  </a:moveTo>
                  <a:lnTo>
                    <a:pt x="2020696" y="0"/>
                  </a:lnTo>
                  <a:cubicBezTo>
                    <a:pt x="2030596" y="0"/>
                    <a:pt x="2038621" y="8025"/>
                    <a:pt x="2038621" y="17925"/>
                  </a:cubicBezTo>
                  <a:lnTo>
                    <a:pt x="2038621" y="569518"/>
                  </a:lnTo>
                  <a:cubicBezTo>
                    <a:pt x="2038621" y="574272"/>
                    <a:pt x="2036733" y="578831"/>
                    <a:pt x="2033371" y="582193"/>
                  </a:cubicBezTo>
                  <a:cubicBezTo>
                    <a:pt x="2030010" y="585554"/>
                    <a:pt x="2025450" y="587443"/>
                    <a:pt x="2020696" y="587443"/>
                  </a:cubicBezTo>
                  <a:lnTo>
                    <a:pt x="17925" y="587443"/>
                  </a:lnTo>
                  <a:cubicBezTo>
                    <a:pt x="13171" y="587443"/>
                    <a:pt x="8612" y="585554"/>
                    <a:pt x="5250" y="582193"/>
                  </a:cubicBezTo>
                  <a:cubicBezTo>
                    <a:pt x="1889" y="578831"/>
                    <a:pt x="0" y="574272"/>
                    <a:pt x="0" y="569518"/>
                  </a:cubicBezTo>
                  <a:lnTo>
                    <a:pt x="0" y="17925"/>
                  </a:lnTo>
                  <a:cubicBezTo>
                    <a:pt x="0" y="13171"/>
                    <a:pt x="1889" y="8612"/>
                    <a:pt x="5250" y="5250"/>
                  </a:cubicBezTo>
                  <a:cubicBezTo>
                    <a:pt x="8612" y="1889"/>
                    <a:pt x="13171" y="0"/>
                    <a:pt x="17925" y="0"/>
                  </a:cubicBezTo>
                  <a:close/>
                </a:path>
              </a:pathLst>
            </a:custGeom>
            <a:solidFill>
              <a:srgbClr val="FACB5F"/>
            </a:solidFill>
            <a:ln cap="sq">
              <a:noFill/>
              <a:prstDash val="solid"/>
              <a:miter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0" y="-47625"/>
              <a:ext cx="2038621" cy="6350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0" name="TextBox 50"/>
          <p:cNvSpPr txBox="1"/>
          <p:nvPr/>
        </p:nvSpPr>
        <p:spPr>
          <a:xfrm>
            <a:off x="11820827" y="1775553"/>
            <a:ext cx="5868994" cy="15360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Cân bằng tối ưu giữa độ chính xác và tốc độ xử lý, phù hợp thời gian thực trên CPU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244054"/>
            <a:chOff x="0" y="0"/>
            <a:chExt cx="4816593" cy="32765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327652"/>
            </a:xfrm>
            <a:custGeom>
              <a:avLst/>
              <a:gdLst/>
              <a:ahLst/>
              <a:cxnLst/>
              <a:rect l="l" t="t" r="r" b="b"/>
              <a:pathLst>
                <a:path w="4816592" h="327652">
                  <a:moveTo>
                    <a:pt x="0" y="0"/>
                  </a:moveTo>
                  <a:lnTo>
                    <a:pt x="4816592" y="0"/>
                  </a:lnTo>
                  <a:lnTo>
                    <a:pt x="4816592" y="327652"/>
                  </a:lnTo>
                  <a:lnTo>
                    <a:pt x="0" y="327652"/>
                  </a:lnTo>
                  <a:close/>
                </a:path>
              </a:pathLst>
            </a:custGeom>
            <a:solidFill>
              <a:srgbClr val="0A2073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3657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2200856" y="3596870"/>
            <a:ext cx="14280027" cy="6156440"/>
          </a:xfrm>
          <a:custGeom>
            <a:avLst/>
            <a:gdLst/>
            <a:ahLst/>
            <a:cxnLst/>
            <a:rect l="l" t="t" r="r" b="b"/>
            <a:pathLst>
              <a:path w="14280027" h="6156440">
                <a:moveTo>
                  <a:pt x="0" y="0"/>
                </a:moveTo>
                <a:lnTo>
                  <a:pt x="14280027" y="0"/>
                </a:lnTo>
                <a:lnTo>
                  <a:pt x="14280027" y="6156440"/>
                </a:lnTo>
                <a:lnTo>
                  <a:pt x="0" y="61564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7665740" y="1976081"/>
            <a:ext cx="2898830" cy="1640547"/>
          </a:xfrm>
          <a:custGeom>
            <a:avLst/>
            <a:gdLst/>
            <a:ahLst/>
            <a:cxnLst/>
            <a:rect l="l" t="t" r="r" b="b"/>
            <a:pathLst>
              <a:path w="2898830" h="1640547">
                <a:moveTo>
                  <a:pt x="0" y="0"/>
                </a:moveTo>
                <a:lnTo>
                  <a:pt x="2898830" y="0"/>
                </a:lnTo>
                <a:lnTo>
                  <a:pt x="2898830" y="1640546"/>
                </a:lnTo>
                <a:lnTo>
                  <a:pt x="0" y="16405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3002970" y="1976081"/>
            <a:ext cx="2548422" cy="1640547"/>
          </a:xfrm>
          <a:custGeom>
            <a:avLst/>
            <a:gdLst/>
            <a:ahLst/>
            <a:cxnLst/>
            <a:rect l="l" t="t" r="r" b="b"/>
            <a:pathLst>
              <a:path w="2548422" h="1640547">
                <a:moveTo>
                  <a:pt x="0" y="0"/>
                </a:moveTo>
                <a:lnTo>
                  <a:pt x="2548422" y="0"/>
                </a:lnTo>
                <a:lnTo>
                  <a:pt x="2548422" y="1640546"/>
                </a:lnTo>
                <a:lnTo>
                  <a:pt x="0" y="16405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2762659" y="1976081"/>
            <a:ext cx="2461156" cy="1640547"/>
          </a:xfrm>
          <a:custGeom>
            <a:avLst/>
            <a:gdLst/>
            <a:ahLst/>
            <a:cxnLst/>
            <a:rect l="l" t="t" r="r" b="b"/>
            <a:pathLst>
              <a:path w="2461156" h="1640547">
                <a:moveTo>
                  <a:pt x="0" y="0"/>
                </a:moveTo>
                <a:lnTo>
                  <a:pt x="2461156" y="0"/>
                </a:lnTo>
                <a:lnTo>
                  <a:pt x="2461156" y="1640546"/>
                </a:lnTo>
                <a:lnTo>
                  <a:pt x="0" y="164054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204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566147" y="221615"/>
            <a:ext cx="1151943" cy="807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39"/>
              </a:lnSpc>
            </a:pPr>
            <a:r>
              <a:rPr lang="en-US" sz="4599" b="1" spc="142">
                <a:solidFill>
                  <a:srgbClr val="FACB5F"/>
                </a:solidFill>
                <a:latin typeface="Arial Bold"/>
                <a:ea typeface="Arial Bold"/>
                <a:cs typeface="Arial Bold"/>
                <a:sym typeface="Arial Bold"/>
              </a:rPr>
              <a:t>03</a:t>
            </a:r>
          </a:p>
        </p:txBody>
      </p:sp>
      <p:sp>
        <p:nvSpPr>
          <p:cNvPr id="10" name="AutoShape 10"/>
          <p:cNvSpPr/>
          <p:nvPr/>
        </p:nvSpPr>
        <p:spPr>
          <a:xfrm flipV="1">
            <a:off x="1737140" y="173262"/>
            <a:ext cx="0" cy="897531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TextBox 11"/>
          <p:cNvSpPr txBox="1"/>
          <p:nvPr/>
        </p:nvSpPr>
        <p:spPr>
          <a:xfrm>
            <a:off x="2189625" y="198821"/>
            <a:ext cx="13816706" cy="807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439"/>
              </a:lnSpc>
              <a:spcBef>
                <a:spcPct val="0"/>
              </a:spcBef>
            </a:pPr>
            <a:r>
              <a:rPr lang="en-US" sz="4599" b="1">
                <a:solidFill>
                  <a:srgbClr val="FACB5F"/>
                </a:solidFill>
                <a:latin typeface="Arial Bold"/>
                <a:ea typeface="Arial Bold"/>
                <a:cs typeface="Arial Bold"/>
                <a:sym typeface="Arial Bold"/>
              </a:rPr>
              <a:t>PHÂN TÍCH, THIẾT KẾ VÀ XÂY DỰNG MÔ HÌNH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41737" y="3914605"/>
            <a:ext cx="9993519" cy="4837841"/>
          </a:xfrm>
          <a:custGeom>
            <a:avLst/>
            <a:gdLst/>
            <a:ahLst/>
            <a:cxnLst/>
            <a:rect l="l" t="t" r="r" b="b"/>
            <a:pathLst>
              <a:path w="9993519" h="4837841">
                <a:moveTo>
                  <a:pt x="0" y="0"/>
                </a:moveTo>
                <a:lnTo>
                  <a:pt x="9993519" y="0"/>
                </a:lnTo>
                <a:lnTo>
                  <a:pt x="9993519" y="4837840"/>
                </a:lnTo>
                <a:lnTo>
                  <a:pt x="0" y="48378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38" b="-264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1226778" y="2401971"/>
            <a:ext cx="6265083" cy="4034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375"/>
              </a:lnSpc>
            </a:pPr>
            <a:r>
              <a:rPr lang="en-US" sz="3199" b="1" spc="198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Nguồn dữ liệu: </a:t>
            </a:r>
            <a:r>
              <a:rPr lang="en-US" sz="3199" spc="19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HaGRID (554.800 ảnh FullHD (1920×1080) với 18 lớp cử chỉ, đa dạng cao về chủng tộc, độ tuổi, ánh sáng và khoảng cách (0,5 - 4m)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226778" y="6747240"/>
            <a:ext cx="6265083" cy="20052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375"/>
              </a:lnSpc>
            </a:pPr>
            <a:r>
              <a:rPr lang="en-US" sz="3199" b="1" spc="198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Gán nhãn: </a:t>
            </a:r>
            <a:r>
              <a:rPr lang="en-US" sz="3199" spc="19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Sử dụng LabelImg xuất ra định dạng YOLO chuẩn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761474" y="1612895"/>
            <a:ext cx="8592901" cy="785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7"/>
              </a:lnSpc>
            </a:pPr>
            <a:r>
              <a:rPr lang="en-US" sz="57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1. Dữ liệu huấn luyện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6520" y="1156336"/>
            <a:ext cx="9986720" cy="8012644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821951" y="1176335"/>
            <a:ext cx="8776796" cy="7658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824"/>
              </a:lnSpc>
            </a:pPr>
            <a:r>
              <a:rPr lang="en-US" sz="3499" b="1" spc="9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Quy trình gán nhãn dữ liệu</a:t>
            </a:r>
          </a:p>
          <a:p>
            <a:pPr marL="755639" lvl="1" indent="-377820" algn="l">
              <a:lnSpc>
                <a:spcPts val="6824"/>
              </a:lnSpc>
              <a:buAutoNum type="arabicPeriod"/>
            </a:pPr>
            <a:r>
              <a:rPr lang="en-US" sz="3499" spc="9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Trích xuất ảnh đa dạng </a:t>
            </a:r>
          </a:p>
          <a:p>
            <a:pPr marL="755639" lvl="1" indent="-377820" algn="l">
              <a:lnSpc>
                <a:spcPts val="6824"/>
              </a:lnSpc>
              <a:buAutoNum type="arabicPeriod"/>
            </a:pPr>
            <a:r>
              <a:rPr lang="en-US" sz="3499" b="1" spc="9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Gán nhãn YOLO</a:t>
            </a:r>
            <a:r>
              <a:rPr lang="en-US" sz="3499" spc="9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Chuẩn hóa tọa độ class_id center_x center_y width height qua LabelImg</a:t>
            </a:r>
          </a:p>
          <a:p>
            <a:pPr marL="755639" lvl="1" indent="-377820" algn="l">
              <a:lnSpc>
                <a:spcPts val="6824"/>
              </a:lnSpc>
              <a:buAutoNum type="arabicPeriod"/>
            </a:pPr>
            <a:r>
              <a:rPr lang="en-US" sz="3499" b="1" spc="9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Tiền xử lý &amp; Tăng cường</a:t>
            </a:r>
            <a:r>
              <a:rPr lang="en-US" sz="3499" spc="9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Đệm viền về 640x640 pixel, lật ngang (50%), thay đổi độ sáng, ghép 4 ảnh thành 1.</a:t>
            </a:r>
          </a:p>
          <a:p>
            <a:pPr marL="755639" lvl="1" indent="-377820" algn="l">
              <a:lnSpc>
                <a:spcPts val="6824"/>
              </a:lnSpc>
              <a:buAutoNum type="arabicPeriod"/>
            </a:pPr>
            <a:r>
              <a:rPr lang="en-US" sz="3499" spc="9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Phân chia ngẫu nhiên theo tỷ lệ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/>
        </p:nvGraphicFramePr>
        <p:xfrm>
          <a:off x="1811159" y="2615053"/>
          <a:ext cx="14747707" cy="8289137"/>
        </p:xfrm>
        <a:graphic>
          <a:graphicData uri="http://schemas.openxmlformats.org/drawingml/2006/table">
            <a:tbl>
              <a:tblPr/>
              <a:tblGrid>
                <a:gridCol w="2539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633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446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22120">
                <a:tc>
                  <a:txBody>
                    <a:bodyPr/>
                    <a:lstStyle/>
                    <a:p>
                      <a:pPr algn="ctr">
                        <a:lnSpc>
                          <a:spcPts val="1681"/>
                        </a:lnSpc>
                        <a:defRPr/>
                      </a:pPr>
                      <a:r>
                        <a:rPr lang="en-US" sz="2899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Giai đoạn 1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059"/>
                        </a:lnSpc>
                        <a:defRPr/>
                      </a:pPr>
                      <a:r>
                        <a:rPr lang="en-US" sz="2899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Giai đoạn 2 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B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81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7471">
                <a:tc>
                  <a:txBody>
                    <a:bodyPr/>
                    <a:lstStyle/>
                    <a:p>
                      <a:pPr algn="ctr">
                        <a:lnSpc>
                          <a:spcPts val="1681"/>
                        </a:lnSpc>
                        <a:defRPr/>
                      </a:pPr>
                      <a:r>
                        <a:rPr lang="en-US" sz="2899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Khởi</a:t>
                      </a:r>
                      <a:r>
                        <a:rPr lang="en-US" sz="2899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2899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tạo</a:t>
                      </a:r>
                      <a:r>
                        <a:rPr lang="en-US" sz="2899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&amp; Học </a:t>
                      </a:r>
                      <a:r>
                        <a:rPr lang="en-US" sz="2899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đặc</a:t>
                      </a:r>
                      <a:r>
                        <a:rPr lang="en-US" sz="2899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2899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trưng</a:t>
                      </a:r>
                      <a:endParaRPr lang="en-US" sz="11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059"/>
                        </a:lnSpc>
                        <a:defRPr/>
                      </a:pPr>
                      <a:r>
                        <a:rPr lang="en-US" sz="2899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Tinh chỉnh và xóa nhầm lẫn 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81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5901">
                <a:tc>
                  <a:txBody>
                    <a:bodyPr/>
                    <a:lstStyle/>
                    <a:p>
                      <a:pPr algn="ctr">
                        <a:lnSpc>
                          <a:spcPts val="1681"/>
                        </a:lnSpc>
                        <a:defRPr/>
                      </a:pPr>
                      <a:r>
                        <a:rPr lang="en-US" sz="28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4.800 ảnh (800 ảnh/lớp)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059"/>
                        </a:lnSpc>
                        <a:defRPr/>
                      </a:pPr>
                      <a:r>
                        <a:rPr lang="en-US" sz="28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Mở rộng 6.000 ảnh (1.000 ảnh/lớp)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81"/>
                        </a:lnSpc>
                        <a:defRPr/>
                      </a:pPr>
                      <a:r>
                        <a:rPr lang="en-US" sz="2899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Quy mô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99296">
                <a:tc>
                  <a:txBody>
                    <a:bodyPr/>
                    <a:lstStyle/>
                    <a:p>
                      <a:pPr algn="ctr">
                        <a:lnSpc>
                          <a:spcPts val="1681"/>
                        </a:lnSpc>
                        <a:defRPr/>
                      </a:pPr>
                      <a:r>
                        <a:rPr lang="en-US" sz="28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yolov12m.pt (pretrained COCO)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059"/>
                        </a:lnSpc>
                        <a:defRPr/>
                      </a:pPr>
                      <a:r>
                        <a:rPr lang="en-US" sz="28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best.pt (Từ lần huấn luyện 1)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81"/>
                        </a:lnSpc>
                        <a:defRPr/>
                      </a:pPr>
                      <a:r>
                        <a:rPr lang="en-US" sz="2899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Trọng số nền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26504">
                <a:tc>
                  <a:txBody>
                    <a:bodyPr/>
                    <a:lstStyle/>
                    <a:p>
                      <a:pPr algn="ctr">
                        <a:lnSpc>
                          <a:spcPts val="1681"/>
                        </a:lnSpc>
                        <a:defRPr/>
                      </a:pPr>
                      <a:r>
                        <a:rPr lang="en-US" sz="28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 epochs, Batch size 16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059"/>
                        </a:lnSpc>
                        <a:defRPr/>
                      </a:pPr>
                      <a:r>
                        <a:rPr lang="en-US" sz="28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40 epochs, Batch size 16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81"/>
                        </a:lnSpc>
                        <a:defRPr/>
                      </a:pPr>
                      <a:r>
                        <a:rPr lang="en-US" sz="2899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Cấu hình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31955">
                <a:tc>
                  <a:txBody>
                    <a:bodyPr/>
                    <a:lstStyle/>
                    <a:p>
                      <a:pPr marL="626107" lvl="1" indent="-313054" algn="l">
                        <a:lnSpc>
                          <a:spcPts val="405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8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Trích xuất đặc trưng cơ bản</a:t>
                      </a:r>
                      <a:endParaRPr lang="en-US" sz="1100"/>
                    </a:p>
                    <a:p>
                      <a:pPr marL="626107" lvl="1" indent="-313054" algn="l">
                        <a:lnSpc>
                          <a:spcPts val="4059"/>
                        </a:lnSpc>
                        <a:buFont typeface="Arial"/>
                        <a:buChar char="•"/>
                      </a:pPr>
                      <a:r>
                        <a:rPr lang="en-US" sz="28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Xuất file best.pt lần 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059"/>
                        </a:lnSpc>
                        <a:defRPr/>
                      </a:pPr>
                      <a:r>
                        <a:rPr lang="en-US" sz="28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Khắc phục điểm mù, tăng độ chính xác cho hộp giới hạn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81"/>
                        </a:lnSpc>
                        <a:defRPr/>
                      </a:pPr>
                      <a:r>
                        <a:rPr lang="en-US" sz="2899" b="1" dirty="0" err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Kết</a:t>
                      </a:r>
                      <a:r>
                        <a:rPr lang="en-US" sz="2899" b="1" dirty="0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 </a:t>
                      </a:r>
                      <a:r>
                        <a:rPr lang="en-US" sz="2899" b="1" dirty="0" err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quả</a:t>
                      </a:r>
                      <a:endParaRPr lang="en-US" sz="11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TextBox 3"/>
          <p:cNvSpPr txBox="1"/>
          <p:nvPr/>
        </p:nvSpPr>
        <p:spPr>
          <a:xfrm>
            <a:off x="4509149" y="912864"/>
            <a:ext cx="8474962" cy="1289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49"/>
              </a:lnSpc>
            </a:pPr>
            <a:r>
              <a:rPr lang="en-US" sz="49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Quá trình huấn luyện cho hai giai đoạn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244054"/>
            <a:chOff x="0" y="0"/>
            <a:chExt cx="4816593" cy="32765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327652"/>
            </a:xfrm>
            <a:custGeom>
              <a:avLst/>
              <a:gdLst/>
              <a:ahLst/>
              <a:cxnLst/>
              <a:rect l="l" t="t" r="r" b="b"/>
              <a:pathLst>
                <a:path w="4816592" h="327652">
                  <a:moveTo>
                    <a:pt x="0" y="0"/>
                  </a:moveTo>
                  <a:lnTo>
                    <a:pt x="4816592" y="0"/>
                  </a:lnTo>
                  <a:lnTo>
                    <a:pt x="4816592" y="327652"/>
                  </a:lnTo>
                  <a:lnTo>
                    <a:pt x="0" y="327652"/>
                  </a:lnTo>
                  <a:close/>
                </a:path>
              </a:pathLst>
            </a:custGeom>
            <a:solidFill>
              <a:srgbClr val="0A2073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3657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567283" y="2406652"/>
            <a:ext cx="7299888" cy="3676476"/>
          </a:xfrm>
          <a:custGeom>
            <a:avLst/>
            <a:gdLst/>
            <a:ahLst/>
            <a:cxnLst/>
            <a:rect l="l" t="t" r="r" b="b"/>
            <a:pathLst>
              <a:path w="7299888" h="3676476">
                <a:moveTo>
                  <a:pt x="0" y="0"/>
                </a:moveTo>
                <a:lnTo>
                  <a:pt x="7299887" y="0"/>
                </a:lnTo>
                <a:lnTo>
                  <a:pt x="7299887" y="3676476"/>
                </a:lnTo>
                <a:lnTo>
                  <a:pt x="0" y="36764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71" r="-971" b="-953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155082" y="6552394"/>
            <a:ext cx="4551234" cy="3210834"/>
          </a:xfrm>
          <a:custGeom>
            <a:avLst/>
            <a:gdLst/>
            <a:ahLst/>
            <a:cxnLst/>
            <a:rect l="l" t="t" r="r" b="b"/>
            <a:pathLst>
              <a:path w="4551234" h="3210834">
                <a:moveTo>
                  <a:pt x="0" y="0"/>
                </a:moveTo>
                <a:lnTo>
                  <a:pt x="4551234" y="0"/>
                </a:lnTo>
                <a:lnTo>
                  <a:pt x="4551234" y="3210834"/>
                </a:lnTo>
                <a:lnTo>
                  <a:pt x="0" y="32108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1742" r="-16237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5878720" y="6552394"/>
            <a:ext cx="4551234" cy="3210834"/>
          </a:xfrm>
          <a:custGeom>
            <a:avLst/>
            <a:gdLst/>
            <a:ahLst/>
            <a:cxnLst/>
            <a:rect l="l" t="t" r="r" b="b"/>
            <a:pathLst>
              <a:path w="4551234" h="3210834">
                <a:moveTo>
                  <a:pt x="0" y="0"/>
                </a:moveTo>
                <a:lnTo>
                  <a:pt x="4551234" y="0"/>
                </a:lnTo>
                <a:lnTo>
                  <a:pt x="4551234" y="3210834"/>
                </a:lnTo>
                <a:lnTo>
                  <a:pt x="0" y="32108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1742" r="-16237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532107" y="161334"/>
            <a:ext cx="11599414" cy="807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439"/>
              </a:lnSpc>
              <a:spcBef>
                <a:spcPct val="0"/>
              </a:spcBef>
            </a:pPr>
            <a:r>
              <a:rPr lang="en-US" sz="4599" b="1">
                <a:solidFill>
                  <a:srgbClr val="FACB5F"/>
                </a:solidFill>
                <a:latin typeface="Arial Bold"/>
                <a:ea typeface="Arial Bold"/>
                <a:cs typeface="Arial Bold"/>
                <a:sym typeface="Arial Bold"/>
              </a:rPr>
              <a:t>THỰC NGHIỆM VÀ ĐÁNH GIÁ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012559" y="2349502"/>
            <a:ext cx="6572688" cy="5125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4"/>
              </a:lnSpc>
            </a:pPr>
            <a:r>
              <a:rPr lang="en-US" sz="3010" b="1" spc="75">
                <a:solidFill>
                  <a:srgbClr val="191919"/>
                </a:solidFill>
                <a:latin typeface="Arial Bold"/>
                <a:ea typeface="Arial Bold"/>
                <a:cs typeface="Arial Bold"/>
                <a:sym typeface="Arial Bold"/>
              </a:rPr>
              <a:t>Biểu đồ quá trình huấn luyện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012559" y="3061613"/>
            <a:ext cx="7028244" cy="27684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90921" lvl="1" indent="-295460" algn="just">
              <a:lnSpc>
                <a:spcPts val="3694"/>
              </a:lnSpc>
              <a:buFont typeface="Arial"/>
              <a:buChar char="•"/>
            </a:pPr>
            <a:r>
              <a:rPr lang="en-US" sz="2737" spc="68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loss (box, cls, dfl) giảm đều, ổn định qua 50 epochs</a:t>
            </a:r>
          </a:p>
          <a:p>
            <a:pPr marL="590921" lvl="1" indent="-295460" algn="just">
              <a:lnSpc>
                <a:spcPts val="3694"/>
              </a:lnSpc>
              <a:buFont typeface="Arial"/>
              <a:buChar char="•"/>
            </a:pPr>
            <a:r>
              <a:rPr lang="en-US" sz="2737" spc="68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Precision, Recall, mAP liên tục tăng, hội tụ ở mức cao</a:t>
            </a:r>
          </a:p>
          <a:p>
            <a:pPr algn="just">
              <a:lnSpc>
                <a:spcPts val="3694"/>
              </a:lnSpc>
            </a:pPr>
            <a:r>
              <a:rPr lang="en-US" sz="2737" spc="68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Mô hình học tốt, không có hiện tượng overfitting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003741" y="6495244"/>
            <a:ext cx="5850086" cy="5125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4"/>
              </a:lnSpc>
            </a:pPr>
            <a:r>
              <a:rPr lang="en-US" sz="3010" b="1" spc="75">
                <a:solidFill>
                  <a:srgbClr val="191919"/>
                </a:solidFill>
                <a:latin typeface="Arial Bold"/>
                <a:ea typeface="Arial Bold"/>
                <a:cs typeface="Arial Bold"/>
                <a:sym typeface="Arial Bold"/>
              </a:rPr>
              <a:t>Ma trận nhầm lẫn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003741" y="7207356"/>
            <a:ext cx="6255559" cy="1847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90921" lvl="1" indent="-295460" algn="l">
              <a:lnSpc>
                <a:spcPts val="3694"/>
              </a:lnSpc>
              <a:buFont typeface="Arial"/>
              <a:buChar char="•"/>
            </a:pPr>
            <a:r>
              <a:rPr lang="en-US" sz="2737" spc="68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call, fist, peace, stop gần như không sai</a:t>
            </a:r>
          </a:p>
          <a:p>
            <a:pPr marL="590921" lvl="1" indent="-295460" algn="l">
              <a:lnSpc>
                <a:spcPts val="3694"/>
              </a:lnSpc>
              <a:buFont typeface="Arial"/>
              <a:buChar char="•"/>
            </a:pPr>
            <a:r>
              <a:rPr lang="en-US" sz="2737" spc="68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palm - like nhầm lẫn ở một số gốc nghiêng → cần cải thiện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1660525"/>
            <a:ext cx="13100434" cy="488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00"/>
              </a:lnSpc>
              <a:spcBef>
                <a:spcPct val="0"/>
              </a:spcBef>
            </a:pPr>
            <a:r>
              <a:rPr lang="en-US" sz="3500" b="1">
                <a:solidFill>
                  <a:srgbClr val="0C0E0B"/>
                </a:solidFill>
                <a:latin typeface="Arial Bold"/>
                <a:ea typeface="Arial Bold"/>
                <a:cs typeface="Arial Bold"/>
                <a:sym typeface="Arial Bold"/>
              </a:rPr>
              <a:t>1. Kết quả lần huấn luyện 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66147" y="221615"/>
            <a:ext cx="1151943" cy="807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39"/>
              </a:lnSpc>
            </a:pPr>
            <a:r>
              <a:rPr lang="en-US" sz="4599" b="1" spc="142">
                <a:solidFill>
                  <a:srgbClr val="FACB5F"/>
                </a:solidFill>
                <a:latin typeface="Arial Bold"/>
                <a:ea typeface="Arial Bold"/>
                <a:cs typeface="Arial Bold"/>
                <a:sym typeface="Arial Bold"/>
              </a:rPr>
              <a:t>04</a:t>
            </a:r>
          </a:p>
        </p:txBody>
      </p:sp>
      <p:sp>
        <p:nvSpPr>
          <p:cNvPr id="15" name="AutoShape 15"/>
          <p:cNvSpPr/>
          <p:nvPr/>
        </p:nvSpPr>
        <p:spPr>
          <a:xfrm flipV="1">
            <a:off x="1737140" y="173262"/>
            <a:ext cx="0" cy="897531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60308" y="2073481"/>
            <a:ext cx="8123335" cy="3908925"/>
          </a:xfrm>
          <a:custGeom>
            <a:avLst/>
            <a:gdLst/>
            <a:ahLst/>
            <a:cxnLst/>
            <a:rect l="l" t="t" r="r" b="b"/>
            <a:pathLst>
              <a:path w="8123335" h="3908925">
                <a:moveTo>
                  <a:pt x="0" y="0"/>
                </a:moveTo>
                <a:lnTo>
                  <a:pt x="8123335" y="0"/>
                </a:lnTo>
                <a:lnTo>
                  <a:pt x="8123335" y="3908925"/>
                </a:lnTo>
                <a:lnTo>
                  <a:pt x="0" y="39089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953" b="-1953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209931" y="6466533"/>
            <a:ext cx="7204143" cy="575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54"/>
              </a:lnSpc>
            </a:pPr>
            <a:r>
              <a:rPr lang="en-US" sz="3299" b="1" spc="82">
                <a:solidFill>
                  <a:srgbClr val="191919"/>
                </a:solidFill>
                <a:latin typeface="Arial Bold"/>
                <a:ea typeface="Arial Bold"/>
                <a:cs typeface="Arial Bold"/>
                <a:sym typeface="Arial Bold"/>
              </a:rPr>
              <a:t>Biểu đồ quá trình huấn luyện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09931" y="7164704"/>
            <a:ext cx="7392129" cy="20935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9281" lvl="1" indent="-334641" algn="l">
              <a:lnSpc>
                <a:spcPts val="4184"/>
              </a:lnSpc>
              <a:buFont typeface="Arial"/>
              <a:buChar char="•"/>
            </a:pPr>
            <a:r>
              <a:rPr lang="en-US" sz="3099" spc="77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Mô hình hội tụ nhanh hơn chỉ sau  10 epochs đầu</a:t>
            </a:r>
          </a:p>
          <a:p>
            <a:pPr marL="669281" lvl="1" indent="-334641" algn="l">
              <a:lnSpc>
                <a:spcPts val="4184"/>
              </a:lnSpc>
              <a:buFont typeface="Arial"/>
              <a:buChar char="•"/>
            </a:pPr>
            <a:r>
              <a:rPr lang="en-US" sz="3099" spc="77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Loss thấp hơn và ổn định hơn</a:t>
            </a:r>
          </a:p>
          <a:p>
            <a:pPr marL="669281" lvl="1" indent="-334641" algn="l">
              <a:lnSpc>
                <a:spcPts val="4184"/>
              </a:lnSpc>
              <a:buFont typeface="Arial"/>
              <a:buChar char="•"/>
            </a:pPr>
            <a:r>
              <a:rPr lang="en-US" sz="3099" spc="77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mAP@50 tăng lên 0,995</a:t>
            </a:r>
          </a:p>
        </p:txBody>
      </p:sp>
      <p:sp>
        <p:nvSpPr>
          <p:cNvPr id="5" name="Freeform 5"/>
          <p:cNvSpPr/>
          <p:nvPr/>
        </p:nvSpPr>
        <p:spPr>
          <a:xfrm>
            <a:off x="9338306" y="2073481"/>
            <a:ext cx="4468321" cy="3908925"/>
          </a:xfrm>
          <a:custGeom>
            <a:avLst/>
            <a:gdLst/>
            <a:ahLst/>
            <a:cxnLst/>
            <a:rect l="l" t="t" r="r" b="b"/>
            <a:pathLst>
              <a:path w="4468321" h="3908925">
                <a:moveTo>
                  <a:pt x="0" y="0"/>
                </a:moveTo>
                <a:lnTo>
                  <a:pt x="4468321" y="0"/>
                </a:lnTo>
                <a:lnTo>
                  <a:pt x="4468321" y="3908925"/>
                </a:lnTo>
                <a:lnTo>
                  <a:pt x="0" y="39089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1876" r="-4824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3400840" y="1969593"/>
            <a:ext cx="4427887" cy="4104951"/>
          </a:xfrm>
          <a:custGeom>
            <a:avLst/>
            <a:gdLst/>
            <a:ahLst/>
            <a:cxnLst/>
            <a:rect l="l" t="t" r="r" b="b"/>
            <a:pathLst>
              <a:path w="4427887" h="4104951">
                <a:moveTo>
                  <a:pt x="0" y="0"/>
                </a:moveTo>
                <a:lnTo>
                  <a:pt x="4427887" y="0"/>
                </a:lnTo>
                <a:lnTo>
                  <a:pt x="4427887" y="4104951"/>
                </a:lnTo>
                <a:lnTo>
                  <a:pt x="0" y="410495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000" r="-14825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0663389" y="6466533"/>
            <a:ext cx="6763759" cy="575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54"/>
              </a:lnSpc>
            </a:pPr>
            <a:r>
              <a:rPr lang="en-US" sz="3299" b="1" spc="82">
                <a:solidFill>
                  <a:srgbClr val="191919"/>
                </a:solidFill>
                <a:latin typeface="Arial Bold"/>
                <a:ea typeface="Arial Bold"/>
                <a:cs typeface="Arial Bold"/>
                <a:sym typeface="Arial Bold"/>
              </a:rPr>
              <a:t>Ma trận nhầm lẫn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68955" y="7164704"/>
            <a:ext cx="7559772" cy="1009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2" lvl="1" indent="-323846" algn="l">
              <a:lnSpc>
                <a:spcPts val="4049"/>
              </a:lnSpc>
              <a:buFont typeface="Arial"/>
              <a:buChar char="•"/>
            </a:pPr>
            <a:r>
              <a:rPr lang="en-US" sz="2999" spc="74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6 lớp đạt tỷ lệ chính xác 0,99</a:t>
            </a:r>
          </a:p>
          <a:p>
            <a:pPr marL="647692" lvl="1" indent="-323846" algn="l">
              <a:lnSpc>
                <a:spcPts val="4049"/>
              </a:lnSpc>
              <a:buFont typeface="Arial"/>
              <a:buChar char="•"/>
            </a:pPr>
            <a:r>
              <a:rPr lang="en-US" sz="2999" spc="74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Lỗi palm và like đã được khắc phục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918667"/>
            <a:ext cx="13100434" cy="607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00"/>
              </a:lnSpc>
              <a:spcBef>
                <a:spcPct val="0"/>
              </a:spcBef>
            </a:pPr>
            <a:r>
              <a:rPr lang="en-US" sz="4400" b="1">
                <a:solidFill>
                  <a:srgbClr val="0C0E0B"/>
                </a:solidFill>
                <a:latin typeface="Arial Bold"/>
                <a:ea typeface="Arial Bold"/>
                <a:cs typeface="Arial Bold"/>
                <a:sym typeface="Arial Bold"/>
              </a:rPr>
              <a:t>2. Kết quả lần huấn luyện 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32382" y="1829208"/>
            <a:ext cx="3751519" cy="2743899"/>
            <a:chOff x="0" y="0"/>
            <a:chExt cx="5447119" cy="3984079"/>
          </a:xfrm>
        </p:grpSpPr>
        <p:sp>
          <p:nvSpPr>
            <p:cNvPr id="3" name="Freeform 3"/>
            <p:cNvSpPr/>
            <p:nvPr/>
          </p:nvSpPr>
          <p:spPr>
            <a:xfrm>
              <a:off x="16891" y="16891"/>
              <a:ext cx="5413248" cy="3950208"/>
            </a:xfrm>
            <a:custGeom>
              <a:avLst/>
              <a:gdLst/>
              <a:ahLst/>
              <a:cxnLst/>
              <a:rect l="l" t="t" r="r" b="b"/>
              <a:pathLst>
                <a:path w="5413248" h="3950208">
                  <a:moveTo>
                    <a:pt x="0" y="0"/>
                  </a:moveTo>
                  <a:lnTo>
                    <a:pt x="5413248" y="0"/>
                  </a:lnTo>
                  <a:lnTo>
                    <a:pt x="5413248" y="3950208"/>
                  </a:lnTo>
                  <a:lnTo>
                    <a:pt x="0" y="3950208"/>
                  </a:lnTo>
                  <a:close/>
                </a:path>
              </a:pathLst>
            </a:custGeom>
            <a:solidFill>
              <a:srgbClr val="0A2073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5447030" cy="3983990"/>
            </a:xfrm>
            <a:custGeom>
              <a:avLst/>
              <a:gdLst/>
              <a:ahLst/>
              <a:cxnLst/>
              <a:rect l="l" t="t" r="r" b="b"/>
              <a:pathLst>
                <a:path w="5447030" h="3983990">
                  <a:moveTo>
                    <a:pt x="16891" y="0"/>
                  </a:moveTo>
                  <a:lnTo>
                    <a:pt x="5430139" y="0"/>
                  </a:lnTo>
                  <a:cubicBezTo>
                    <a:pt x="5439537" y="0"/>
                    <a:pt x="5447030" y="7620"/>
                    <a:pt x="5447030" y="16891"/>
                  </a:cubicBezTo>
                  <a:lnTo>
                    <a:pt x="5447030" y="3967099"/>
                  </a:lnTo>
                  <a:cubicBezTo>
                    <a:pt x="5447030" y="3976497"/>
                    <a:pt x="5439410" y="3983990"/>
                    <a:pt x="5430139" y="3983990"/>
                  </a:cubicBezTo>
                  <a:lnTo>
                    <a:pt x="16891" y="3983990"/>
                  </a:lnTo>
                  <a:cubicBezTo>
                    <a:pt x="7493" y="3983990"/>
                    <a:pt x="0" y="3976370"/>
                    <a:pt x="0" y="39670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967099"/>
                  </a:lnTo>
                  <a:lnTo>
                    <a:pt x="16891" y="3967099"/>
                  </a:lnTo>
                  <a:lnTo>
                    <a:pt x="16891" y="3950208"/>
                  </a:lnTo>
                  <a:lnTo>
                    <a:pt x="5430139" y="3950208"/>
                  </a:lnTo>
                  <a:lnTo>
                    <a:pt x="5430139" y="3967099"/>
                  </a:lnTo>
                  <a:lnTo>
                    <a:pt x="5413248" y="3967099"/>
                  </a:lnTo>
                  <a:lnTo>
                    <a:pt x="5413248" y="16891"/>
                  </a:lnTo>
                  <a:lnTo>
                    <a:pt x="5430139" y="16891"/>
                  </a:lnTo>
                  <a:lnTo>
                    <a:pt x="54301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1344041" y="1958423"/>
            <a:ext cx="3728191" cy="1477842"/>
            <a:chOff x="0" y="0"/>
            <a:chExt cx="5413248" cy="214579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413248" cy="2145792"/>
            </a:xfrm>
            <a:custGeom>
              <a:avLst/>
              <a:gdLst/>
              <a:ahLst/>
              <a:cxnLst/>
              <a:rect l="l" t="t" r="r" b="b"/>
              <a:pathLst>
                <a:path w="5413248" h="2145792">
                  <a:moveTo>
                    <a:pt x="0" y="0"/>
                  </a:moveTo>
                  <a:lnTo>
                    <a:pt x="5413248" y="0"/>
                  </a:lnTo>
                  <a:lnTo>
                    <a:pt x="5413248" y="2145792"/>
                  </a:lnTo>
                  <a:lnTo>
                    <a:pt x="0" y="21457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859" r="-859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413248" cy="21838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8400"/>
                </a:lnSpc>
              </a:pPr>
              <a:r>
                <a:rPr lang="en-US" sz="70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99.5%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344041" y="3453058"/>
            <a:ext cx="3728191" cy="537397"/>
            <a:chOff x="0" y="0"/>
            <a:chExt cx="5413248" cy="78028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413248" cy="780288"/>
            </a:xfrm>
            <a:custGeom>
              <a:avLst/>
              <a:gdLst/>
              <a:ahLst/>
              <a:cxnLst/>
              <a:rect l="l" t="t" r="r" b="b"/>
              <a:pathLst>
                <a:path w="5413248" h="780288">
                  <a:moveTo>
                    <a:pt x="0" y="0"/>
                  </a:moveTo>
                  <a:lnTo>
                    <a:pt x="5413248" y="0"/>
                  </a:lnTo>
                  <a:lnTo>
                    <a:pt x="5413248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85177" b="-85177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5413248" cy="7993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19"/>
                </a:lnSpc>
              </a:pPr>
              <a:r>
                <a:rPr lang="en-US" sz="2599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mAP@50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344041" y="3990455"/>
            <a:ext cx="3728191" cy="470222"/>
            <a:chOff x="0" y="0"/>
            <a:chExt cx="5413248" cy="68275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413248" cy="682752"/>
            </a:xfrm>
            <a:custGeom>
              <a:avLst/>
              <a:gdLst/>
              <a:ahLst/>
              <a:cxnLst/>
              <a:rect l="l" t="t" r="r" b="b"/>
              <a:pathLst>
                <a:path w="5413248" h="682752">
                  <a:moveTo>
                    <a:pt x="0" y="0"/>
                  </a:moveTo>
                  <a:lnTo>
                    <a:pt x="5413248" y="0"/>
                  </a:lnTo>
                  <a:lnTo>
                    <a:pt x="541324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4488" b="-104488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0"/>
              <a:ext cx="5413248" cy="6827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99"/>
                </a:lnSpc>
              </a:pPr>
              <a:r>
                <a:rPr lang="en-US" sz="1999" i="1">
                  <a:solidFill>
                    <a:srgbClr val="FFFFFF"/>
                  </a:solidFill>
                  <a:latin typeface="Arial Italics"/>
                  <a:ea typeface="Arial Italics"/>
                  <a:cs typeface="Arial Italics"/>
                  <a:sym typeface="Arial Italics"/>
                </a:rPr>
                <a:t>Ngưỡng IoU = 0.5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278891" y="1829208"/>
            <a:ext cx="3751519" cy="2743899"/>
            <a:chOff x="0" y="0"/>
            <a:chExt cx="5447119" cy="3984079"/>
          </a:xfrm>
        </p:grpSpPr>
        <p:sp>
          <p:nvSpPr>
            <p:cNvPr id="15" name="Freeform 15"/>
            <p:cNvSpPr/>
            <p:nvPr/>
          </p:nvSpPr>
          <p:spPr>
            <a:xfrm>
              <a:off x="16891" y="16891"/>
              <a:ext cx="5413248" cy="3950208"/>
            </a:xfrm>
            <a:custGeom>
              <a:avLst/>
              <a:gdLst/>
              <a:ahLst/>
              <a:cxnLst/>
              <a:rect l="l" t="t" r="r" b="b"/>
              <a:pathLst>
                <a:path w="5413248" h="3950208">
                  <a:moveTo>
                    <a:pt x="0" y="0"/>
                  </a:moveTo>
                  <a:lnTo>
                    <a:pt x="5413248" y="0"/>
                  </a:lnTo>
                  <a:lnTo>
                    <a:pt x="5413248" y="3950208"/>
                  </a:lnTo>
                  <a:lnTo>
                    <a:pt x="0" y="3950208"/>
                  </a:lnTo>
                  <a:close/>
                </a:path>
              </a:pathLst>
            </a:custGeom>
            <a:solidFill>
              <a:srgbClr val="F46E16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0" y="0"/>
              <a:ext cx="5447030" cy="3983990"/>
            </a:xfrm>
            <a:custGeom>
              <a:avLst/>
              <a:gdLst/>
              <a:ahLst/>
              <a:cxnLst/>
              <a:rect l="l" t="t" r="r" b="b"/>
              <a:pathLst>
                <a:path w="5447030" h="3983990">
                  <a:moveTo>
                    <a:pt x="16891" y="0"/>
                  </a:moveTo>
                  <a:lnTo>
                    <a:pt x="5430139" y="0"/>
                  </a:lnTo>
                  <a:cubicBezTo>
                    <a:pt x="5439537" y="0"/>
                    <a:pt x="5447030" y="7620"/>
                    <a:pt x="5447030" y="16891"/>
                  </a:cubicBezTo>
                  <a:lnTo>
                    <a:pt x="5447030" y="3967099"/>
                  </a:lnTo>
                  <a:cubicBezTo>
                    <a:pt x="5447030" y="3976497"/>
                    <a:pt x="5439410" y="3983990"/>
                    <a:pt x="5430139" y="3983990"/>
                  </a:cubicBezTo>
                  <a:lnTo>
                    <a:pt x="16891" y="3983990"/>
                  </a:lnTo>
                  <a:cubicBezTo>
                    <a:pt x="7493" y="3983990"/>
                    <a:pt x="0" y="3976370"/>
                    <a:pt x="0" y="39670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967099"/>
                  </a:lnTo>
                  <a:lnTo>
                    <a:pt x="16891" y="3967099"/>
                  </a:lnTo>
                  <a:lnTo>
                    <a:pt x="16891" y="3950208"/>
                  </a:lnTo>
                  <a:lnTo>
                    <a:pt x="5430139" y="3950208"/>
                  </a:lnTo>
                  <a:lnTo>
                    <a:pt x="5430139" y="3967099"/>
                  </a:lnTo>
                  <a:lnTo>
                    <a:pt x="5413248" y="3967099"/>
                  </a:lnTo>
                  <a:lnTo>
                    <a:pt x="5413248" y="16891"/>
                  </a:lnTo>
                  <a:lnTo>
                    <a:pt x="5430139" y="16891"/>
                  </a:lnTo>
                  <a:lnTo>
                    <a:pt x="54301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6E16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5290550" y="1958423"/>
            <a:ext cx="3728191" cy="1477842"/>
            <a:chOff x="0" y="0"/>
            <a:chExt cx="5413248" cy="214579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5413248" cy="2145792"/>
            </a:xfrm>
            <a:custGeom>
              <a:avLst/>
              <a:gdLst/>
              <a:ahLst/>
              <a:cxnLst/>
              <a:rect l="l" t="t" r="r" b="b"/>
              <a:pathLst>
                <a:path w="5413248" h="2145792">
                  <a:moveTo>
                    <a:pt x="0" y="0"/>
                  </a:moveTo>
                  <a:lnTo>
                    <a:pt x="5413248" y="0"/>
                  </a:lnTo>
                  <a:lnTo>
                    <a:pt x="5413248" y="2145792"/>
                  </a:lnTo>
                  <a:lnTo>
                    <a:pt x="0" y="21457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859" r="-859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5413248" cy="21838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8400"/>
                </a:lnSpc>
              </a:pPr>
              <a:r>
                <a:rPr lang="en-US" sz="70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84.0%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290550" y="3453058"/>
            <a:ext cx="3728191" cy="537397"/>
            <a:chOff x="0" y="0"/>
            <a:chExt cx="5413248" cy="78028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5413248" cy="780288"/>
            </a:xfrm>
            <a:custGeom>
              <a:avLst/>
              <a:gdLst/>
              <a:ahLst/>
              <a:cxnLst/>
              <a:rect l="l" t="t" r="r" b="b"/>
              <a:pathLst>
                <a:path w="5413248" h="780288">
                  <a:moveTo>
                    <a:pt x="0" y="0"/>
                  </a:moveTo>
                  <a:lnTo>
                    <a:pt x="5413248" y="0"/>
                  </a:lnTo>
                  <a:lnTo>
                    <a:pt x="5413248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85177" b="-85177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19050"/>
              <a:ext cx="5413248" cy="7993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19"/>
                </a:lnSpc>
              </a:pPr>
              <a:r>
                <a:rPr lang="en-US" sz="2599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mAP@50-95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290550" y="3990455"/>
            <a:ext cx="3728191" cy="470222"/>
            <a:chOff x="0" y="0"/>
            <a:chExt cx="5413248" cy="682752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5413248" cy="682752"/>
            </a:xfrm>
            <a:custGeom>
              <a:avLst/>
              <a:gdLst/>
              <a:ahLst/>
              <a:cxnLst/>
              <a:rect l="l" t="t" r="r" b="b"/>
              <a:pathLst>
                <a:path w="5413248" h="682752">
                  <a:moveTo>
                    <a:pt x="0" y="0"/>
                  </a:moveTo>
                  <a:lnTo>
                    <a:pt x="5413248" y="0"/>
                  </a:lnTo>
                  <a:lnTo>
                    <a:pt x="541324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4488" b="-104488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0"/>
              <a:ext cx="5413248" cy="6827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99"/>
                </a:lnSpc>
              </a:pPr>
              <a:r>
                <a:rPr lang="en-US" sz="1999" i="1">
                  <a:solidFill>
                    <a:srgbClr val="FFFFFF"/>
                  </a:solidFill>
                  <a:latin typeface="Arial Italics"/>
                  <a:ea typeface="Arial Italics"/>
                  <a:cs typeface="Arial Italics"/>
                  <a:sym typeface="Arial Italics"/>
                </a:rPr>
                <a:t>Định vị chặt chẽ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225399" y="1829208"/>
            <a:ext cx="3751519" cy="2743899"/>
            <a:chOff x="0" y="0"/>
            <a:chExt cx="5447119" cy="3984079"/>
          </a:xfrm>
        </p:grpSpPr>
        <p:sp>
          <p:nvSpPr>
            <p:cNvPr id="27" name="Freeform 27"/>
            <p:cNvSpPr/>
            <p:nvPr/>
          </p:nvSpPr>
          <p:spPr>
            <a:xfrm>
              <a:off x="16891" y="16891"/>
              <a:ext cx="5413248" cy="3950208"/>
            </a:xfrm>
            <a:custGeom>
              <a:avLst/>
              <a:gdLst/>
              <a:ahLst/>
              <a:cxnLst/>
              <a:rect l="l" t="t" r="r" b="b"/>
              <a:pathLst>
                <a:path w="5413248" h="3950208">
                  <a:moveTo>
                    <a:pt x="0" y="0"/>
                  </a:moveTo>
                  <a:lnTo>
                    <a:pt x="5413248" y="0"/>
                  </a:lnTo>
                  <a:lnTo>
                    <a:pt x="5413248" y="3950208"/>
                  </a:lnTo>
                  <a:lnTo>
                    <a:pt x="0" y="3950208"/>
                  </a:lnTo>
                  <a:close/>
                </a:path>
              </a:pathLst>
            </a:custGeom>
            <a:solidFill>
              <a:srgbClr val="F0D835"/>
            </a:solidFill>
          </p:spPr>
        </p:sp>
        <p:sp>
          <p:nvSpPr>
            <p:cNvPr id="28" name="Freeform 28"/>
            <p:cNvSpPr/>
            <p:nvPr/>
          </p:nvSpPr>
          <p:spPr>
            <a:xfrm>
              <a:off x="0" y="0"/>
              <a:ext cx="5447030" cy="3983990"/>
            </a:xfrm>
            <a:custGeom>
              <a:avLst/>
              <a:gdLst/>
              <a:ahLst/>
              <a:cxnLst/>
              <a:rect l="l" t="t" r="r" b="b"/>
              <a:pathLst>
                <a:path w="5447030" h="3983990">
                  <a:moveTo>
                    <a:pt x="16891" y="0"/>
                  </a:moveTo>
                  <a:lnTo>
                    <a:pt x="5430139" y="0"/>
                  </a:lnTo>
                  <a:cubicBezTo>
                    <a:pt x="5439537" y="0"/>
                    <a:pt x="5447030" y="7620"/>
                    <a:pt x="5447030" y="16891"/>
                  </a:cubicBezTo>
                  <a:lnTo>
                    <a:pt x="5447030" y="3967099"/>
                  </a:lnTo>
                  <a:cubicBezTo>
                    <a:pt x="5447030" y="3976497"/>
                    <a:pt x="5439410" y="3983990"/>
                    <a:pt x="5430139" y="3983990"/>
                  </a:cubicBezTo>
                  <a:lnTo>
                    <a:pt x="16891" y="3983990"/>
                  </a:lnTo>
                  <a:cubicBezTo>
                    <a:pt x="7493" y="3983990"/>
                    <a:pt x="0" y="3976370"/>
                    <a:pt x="0" y="39670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967099"/>
                  </a:lnTo>
                  <a:lnTo>
                    <a:pt x="16891" y="3967099"/>
                  </a:lnTo>
                  <a:lnTo>
                    <a:pt x="16891" y="3950208"/>
                  </a:lnTo>
                  <a:lnTo>
                    <a:pt x="5430139" y="3950208"/>
                  </a:lnTo>
                  <a:lnTo>
                    <a:pt x="5430139" y="3967099"/>
                  </a:lnTo>
                  <a:lnTo>
                    <a:pt x="5413248" y="3967099"/>
                  </a:lnTo>
                  <a:lnTo>
                    <a:pt x="5413248" y="16891"/>
                  </a:lnTo>
                  <a:lnTo>
                    <a:pt x="5430139" y="16891"/>
                  </a:lnTo>
                  <a:lnTo>
                    <a:pt x="54301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9" name="Group 29"/>
          <p:cNvGrpSpPr/>
          <p:nvPr/>
        </p:nvGrpSpPr>
        <p:grpSpPr>
          <a:xfrm>
            <a:off x="9237059" y="1958423"/>
            <a:ext cx="3728191" cy="1477842"/>
            <a:chOff x="0" y="0"/>
            <a:chExt cx="5413248" cy="2145792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5413248" cy="2145792"/>
            </a:xfrm>
            <a:custGeom>
              <a:avLst/>
              <a:gdLst/>
              <a:ahLst/>
              <a:cxnLst/>
              <a:rect l="l" t="t" r="r" b="b"/>
              <a:pathLst>
                <a:path w="5413248" h="2145792">
                  <a:moveTo>
                    <a:pt x="0" y="0"/>
                  </a:moveTo>
                  <a:lnTo>
                    <a:pt x="5413248" y="0"/>
                  </a:lnTo>
                  <a:lnTo>
                    <a:pt x="5413248" y="2145792"/>
                  </a:lnTo>
                  <a:lnTo>
                    <a:pt x="0" y="21457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859" r="-859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5413248" cy="21838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8400"/>
                </a:lnSpc>
              </a:pPr>
              <a:r>
                <a:rPr lang="en-US" sz="70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≈1.00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237059" y="3453058"/>
            <a:ext cx="3728191" cy="537397"/>
            <a:chOff x="0" y="0"/>
            <a:chExt cx="5413248" cy="780288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5413248" cy="780288"/>
            </a:xfrm>
            <a:custGeom>
              <a:avLst/>
              <a:gdLst/>
              <a:ahLst/>
              <a:cxnLst/>
              <a:rect l="l" t="t" r="r" b="b"/>
              <a:pathLst>
                <a:path w="5413248" h="780288">
                  <a:moveTo>
                    <a:pt x="0" y="0"/>
                  </a:moveTo>
                  <a:lnTo>
                    <a:pt x="5413248" y="0"/>
                  </a:lnTo>
                  <a:lnTo>
                    <a:pt x="5413248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85177" b="-85177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-19050"/>
              <a:ext cx="5413248" cy="7993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19"/>
                </a:lnSpc>
              </a:pPr>
              <a:r>
                <a:rPr lang="en-US" sz="2599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Precision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9237059" y="3990455"/>
            <a:ext cx="3728191" cy="470222"/>
            <a:chOff x="0" y="0"/>
            <a:chExt cx="5413248" cy="682752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5413248" cy="682752"/>
            </a:xfrm>
            <a:custGeom>
              <a:avLst/>
              <a:gdLst/>
              <a:ahLst/>
              <a:cxnLst/>
              <a:rect l="l" t="t" r="r" b="b"/>
              <a:pathLst>
                <a:path w="5413248" h="682752">
                  <a:moveTo>
                    <a:pt x="0" y="0"/>
                  </a:moveTo>
                  <a:lnTo>
                    <a:pt x="5413248" y="0"/>
                  </a:lnTo>
                  <a:lnTo>
                    <a:pt x="541324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4488" b="-104488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0"/>
              <a:ext cx="5413248" cy="6827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99"/>
                </a:lnSpc>
              </a:pPr>
              <a:r>
                <a:rPr lang="en-US" sz="1999" i="1">
                  <a:solidFill>
                    <a:srgbClr val="FFFFFF"/>
                  </a:solidFill>
                  <a:latin typeface="Arial Italics"/>
                  <a:ea typeface="Arial Italics"/>
                  <a:cs typeface="Arial Italics"/>
                  <a:sym typeface="Arial Italics"/>
                </a:rPr>
                <a:t>Ít dự đoán sai (FP)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3171908" y="1829208"/>
            <a:ext cx="3751519" cy="2743899"/>
            <a:chOff x="0" y="0"/>
            <a:chExt cx="5447119" cy="3984079"/>
          </a:xfrm>
        </p:grpSpPr>
        <p:sp>
          <p:nvSpPr>
            <p:cNvPr id="39" name="Freeform 39"/>
            <p:cNvSpPr/>
            <p:nvPr/>
          </p:nvSpPr>
          <p:spPr>
            <a:xfrm>
              <a:off x="16891" y="16891"/>
              <a:ext cx="5413248" cy="3950208"/>
            </a:xfrm>
            <a:custGeom>
              <a:avLst/>
              <a:gdLst/>
              <a:ahLst/>
              <a:cxnLst/>
              <a:rect l="l" t="t" r="r" b="b"/>
              <a:pathLst>
                <a:path w="5413248" h="3950208">
                  <a:moveTo>
                    <a:pt x="0" y="0"/>
                  </a:moveTo>
                  <a:lnTo>
                    <a:pt x="5413248" y="0"/>
                  </a:lnTo>
                  <a:lnTo>
                    <a:pt x="5413248" y="3950208"/>
                  </a:lnTo>
                  <a:lnTo>
                    <a:pt x="0" y="3950208"/>
                  </a:lnTo>
                  <a:close/>
                </a:path>
              </a:pathLst>
            </a:custGeom>
            <a:solidFill>
              <a:srgbClr val="F5A623"/>
            </a:solidFill>
          </p:spPr>
        </p:sp>
        <p:sp>
          <p:nvSpPr>
            <p:cNvPr id="40" name="Freeform 40"/>
            <p:cNvSpPr/>
            <p:nvPr/>
          </p:nvSpPr>
          <p:spPr>
            <a:xfrm>
              <a:off x="0" y="0"/>
              <a:ext cx="5447030" cy="3983990"/>
            </a:xfrm>
            <a:custGeom>
              <a:avLst/>
              <a:gdLst/>
              <a:ahLst/>
              <a:cxnLst/>
              <a:rect l="l" t="t" r="r" b="b"/>
              <a:pathLst>
                <a:path w="5447030" h="3983990">
                  <a:moveTo>
                    <a:pt x="16891" y="0"/>
                  </a:moveTo>
                  <a:lnTo>
                    <a:pt x="5430139" y="0"/>
                  </a:lnTo>
                  <a:cubicBezTo>
                    <a:pt x="5439537" y="0"/>
                    <a:pt x="5447030" y="7620"/>
                    <a:pt x="5447030" y="16891"/>
                  </a:cubicBezTo>
                  <a:lnTo>
                    <a:pt x="5447030" y="3967099"/>
                  </a:lnTo>
                  <a:cubicBezTo>
                    <a:pt x="5447030" y="3976497"/>
                    <a:pt x="5439410" y="3983990"/>
                    <a:pt x="5430139" y="3983990"/>
                  </a:cubicBezTo>
                  <a:lnTo>
                    <a:pt x="16891" y="3983990"/>
                  </a:lnTo>
                  <a:cubicBezTo>
                    <a:pt x="7493" y="3983990"/>
                    <a:pt x="0" y="3976370"/>
                    <a:pt x="0" y="39670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967099"/>
                  </a:lnTo>
                  <a:lnTo>
                    <a:pt x="16891" y="3967099"/>
                  </a:lnTo>
                  <a:lnTo>
                    <a:pt x="16891" y="3950208"/>
                  </a:lnTo>
                  <a:lnTo>
                    <a:pt x="5430139" y="3950208"/>
                  </a:lnTo>
                  <a:lnTo>
                    <a:pt x="5430139" y="3967099"/>
                  </a:lnTo>
                  <a:lnTo>
                    <a:pt x="5413248" y="3967099"/>
                  </a:lnTo>
                  <a:lnTo>
                    <a:pt x="5413248" y="16891"/>
                  </a:lnTo>
                  <a:lnTo>
                    <a:pt x="5430139" y="16891"/>
                  </a:lnTo>
                  <a:lnTo>
                    <a:pt x="54301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A623"/>
            </a:solidFill>
          </p:spPr>
        </p:sp>
      </p:grpSp>
      <p:grpSp>
        <p:nvGrpSpPr>
          <p:cNvPr id="41" name="Group 41"/>
          <p:cNvGrpSpPr/>
          <p:nvPr/>
        </p:nvGrpSpPr>
        <p:grpSpPr>
          <a:xfrm>
            <a:off x="13183568" y="1958423"/>
            <a:ext cx="3728191" cy="1477842"/>
            <a:chOff x="0" y="0"/>
            <a:chExt cx="5413248" cy="2145792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5413248" cy="2145792"/>
            </a:xfrm>
            <a:custGeom>
              <a:avLst/>
              <a:gdLst/>
              <a:ahLst/>
              <a:cxnLst/>
              <a:rect l="l" t="t" r="r" b="b"/>
              <a:pathLst>
                <a:path w="5413248" h="2145792">
                  <a:moveTo>
                    <a:pt x="0" y="0"/>
                  </a:moveTo>
                  <a:lnTo>
                    <a:pt x="5413248" y="0"/>
                  </a:lnTo>
                  <a:lnTo>
                    <a:pt x="5413248" y="2145792"/>
                  </a:lnTo>
                  <a:lnTo>
                    <a:pt x="0" y="21457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859" r="-859"/>
              </a:stretch>
            </a:blipFill>
          </p:spPr>
        </p:sp>
        <p:sp>
          <p:nvSpPr>
            <p:cNvPr id="43" name="TextBox 43"/>
            <p:cNvSpPr txBox="1"/>
            <p:nvPr/>
          </p:nvSpPr>
          <p:spPr>
            <a:xfrm>
              <a:off x="0" y="-38100"/>
              <a:ext cx="5413248" cy="21838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8400"/>
                </a:lnSpc>
              </a:pPr>
              <a:r>
                <a:rPr lang="en-US" sz="70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≈1.00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3183568" y="3453058"/>
            <a:ext cx="3728191" cy="537397"/>
            <a:chOff x="0" y="0"/>
            <a:chExt cx="5413248" cy="780288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5413248" cy="780288"/>
            </a:xfrm>
            <a:custGeom>
              <a:avLst/>
              <a:gdLst/>
              <a:ahLst/>
              <a:cxnLst/>
              <a:rect l="l" t="t" r="r" b="b"/>
              <a:pathLst>
                <a:path w="5413248" h="780288">
                  <a:moveTo>
                    <a:pt x="0" y="0"/>
                  </a:moveTo>
                  <a:lnTo>
                    <a:pt x="5413248" y="0"/>
                  </a:lnTo>
                  <a:lnTo>
                    <a:pt x="5413248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85177" b="-85177"/>
              </a:stretch>
            </a:blipFill>
          </p:spPr>
        </p:sp>
        <p:sp>
          <p:nvSpPr>
            <p:cNvPr id="46" name="TextBox 46"/>
            <p:cNvSpPr txBox="1"/>
            <p:nvPr/>
          </p:nvSpPr>
          <p:spPr>
            <a:xfrm>
              <a:off x="0" y="-19050"/>
              <a:ext cx="5413248" cy="7993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19"/>
                </a:lnSpc>
              </a:pPr>
              <a:r>
                <a:rPr lang="en-US" sz="2599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Recall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3183568" y="3990455"/>
            <a:ext cx="3728191" cy="470222"/>
            <a:chOff x="0" y="0"/>
            <a:chExt cx="5413248" cy="682752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5413248" cy="682752"/>
            </a:xfrm>
            <a:custGeom>
              <a:avLst/>
              <a:gdLst/>
              <a:ahLst/>
              <a:cxnLst/>
              <a:rect l="l" t="t" r="r" b="b"/>
              <a:pathLst>
                <a:path w="5413248" h="682752">
                  <a:moveTo>
                    <a:pt x="0" y="0"/>
                  </a:moveTo>
                  <a:lnTo>
                    <a:pt x="5413248" y="0"/>
                  </a:lnTo>
                  <a:lnTo>
                    <a:pt x="541324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4488" b="-104488"/>
              </a:stretch>
            </a:blipFill>
          </p:spPr>
        </p:sp>
        <p:sp>
          <p:nvSpPr>
            <p:cNvPr id="49" name="TextBox 49"/>
            <p:cNvSpPr txBox="1"/>
            <p:nvPr/>
          </p:nvSpPr>
          <p:spPr>
            <a:xfrm>
              <a:off x="0" y="0"/>
              <a:ext cx="5413248" cy="6827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99"/>
                </a:lnSpc>
              </a:pPr>
              <a:r>
                <a:rPr lang="en-US" sz="1999" i="1">
                  <a:solidFill>
                    <a:srgbClr val="FFFFFF"/>
                  </a:solidFill>
                  <a:latin typeface="Arial Italics"/>
                  <a:ea typeface="Arial Italics"/>
                  <a:cs typeface="Arial Italics"/>
                  <a:sym typeface="Arial Italics"/>
                </a:rPr>
                <a:t>Ít bỏ sót đối tượng (FN)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332382" y="5439607"/>
            <a:ext cx="3633963" cy="728661"/>
            <a:chOff x="0" y="0"/>
            <a:chExt cx="5276431" cy="1057999"/>
          </a:xfrm>
        </p:grpSpPr>
        <p:sp>
          <p:nvSpPr>
            <p:cNvPr id="51" name="Freeform 51"/>
            <p:cNvSpPr/>
            <p:nvPr/>
          </p:nvSpPr>
          <p:spPr>
            <a:xfrm>
              <a:off x="16891" y="16891"/>
              <a:ext cx="5242560" cy="1024128"/>
            </a:xfrm>
            <a:custGeom>
              <a:avLst/>
              <a:gdLst/>
              <a:ahLst/>
              <a:cxnLst/>
              <a:rect l="l" t="t" r="r" b="b"/>
              <a:pathLst>
                <a:path w="5242560" h="1024128">
                  <a:moveTo>
                    <a:pt x="0" y="0"/>
                  </a:moveTo>
                  <a:lnTo>
                    <a:pt x="5242560" y="0"/>
                  </a:lnTo>
                  <a:lnTo>
                    <a:pt x="524256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1A2E5A"/>
            </a:solidFill>
          </p:spPr>
        </p:sp>
        <p:sp>
          <p:nvSpPr>
            <p:cNvPr id="52" name="Freeform 52"/>
            <p:cNvSpPr/>
            <p:nvPr/>
          </p:nvSpPr>
          <p:spPr>
            <a:xfrm>
              <a:off x="0" y="0"/>
              <a:ext cx="5276342" cy="1057912"/>
            </a:xfrm>
            <a:custGeom>
              <a:avLst/>
              <a:gdLst/>
              <a:ahLst/>
              <a:cxnLst/>
              <a:rect l="l" t="t" r="r" b="b"/>
              <a:pathLst>
                <a:path w="5276342" h="1057912">
                  <a:moveTo>
                    <a:pt x="16891" y="0"/>
                  </a:moveTo>
                  <a:lnTo>
                    <a:pt x="5259451" y="0"/>
                  </a:lnTo>
                  <a:cubicBezTo>
                    <a:pt x="5268849" y="0"/>
                    <a:pt x="5276342" y="7620"/>
                    <a:pt x="5276342" y="16891"/>
                  </a:cubicBezTo>
                  <a:lnTo>
                    <a:pt x="5276342" y="1041019"/>
                  </a:lnTo>
                  <a:cubicBezTo>
                    <a:pt x="5276342" y="1050417"/>
                    <a:pt x="5268722" y="1057910"/>
                    <a:pt x="5259451" y="1057910"/>
                  </a:cubicBezTo>
                  <a:lnTo>
                    <a:pt x="16891" y="1057910"/>
                  </a:lnTo>
                  <a:cubicBezTo>
                    <a:pt x="7620" y="1058037"/>
                    <a:pt x="0" y="1050417"/>
                    <a:pt x="0" y="10410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41019"/>
                  </a:lnTo>
                  <a:lnTo>
                    <a:pt x="16891" y="1041019"/>
                  </a:lnTo>
                  <a:lnTo>
                    <a:pt x="16891" y="1024128"/>
                  </a:lnTo>
                  <a:lnTo>
                    <a:pt x="5259451" y="1024128"/>
                  </a:lnTo>
                  <a:lnTo>
                    <a:pt x="5259451" y="1041019"/>
                  </a:lnTo>
                  <a:lnTo>
                    <a:pt x="5242560" y="1041019"/>
                  </a:lnTo>
                  <a:lnTo>
                    <a:pt x="5242560" y="16891"/>
                  </a:lnTo>
                  <a:lnTo>
                    <a:pt x="5259451" y="16891"/>
                  </a:lnTo>
                  <a:lnTo>
                    <a:pt x="5259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2E5A"/>
            </a:solidFill>
          </p:spPr>
        </p:sp>
      </p:grpSp>
      <p:grpSp>
        <p:nvGrpSpPr>
          <p:cNvPr id="53" name="Group 53"/>
          <p:cNvGrpSpPr/>
          <p:nvPr/>
        </p:nvGrpSpPr>
        <p:grpSpPr>
          <a:xfrm>
            <a:off x="1344041" y="5451266"/>
            <a:ext cx="3610636" cy="705333"/>
            <a:chOff x="0" y="0"/>
            <a:chExt cx="5242560" cy="1024128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5242560" cy="1024128"/>
            </a:xfrm>
            <a:custGeom>
              <a:avLst/>
              <a:gdLst/>
              <a:ahLst/>
              <a:cxnLst/>
              <a:rect l="l" t="t" r="r" b="b"/>
              <a:pathLst>
                <a:path w="5242560" h="1024128">
                  <a:moveTo>
                    <a:pt x="0" y="0"/>
                  </a:moveTo>
                  <a:lnTo>
                    <a:pt x="5242560" y="0"/>
                  </a:lnTo>
                  <a:lnTo>
                    <a:pt x="524256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9744" b="-49744"/>
              </a:stretch>
            </a:blipFill>
          </p:spPr>
        </p:sp>
        <p:sp>
          <p:nvSpPr>
            <p:cNvPr id="55" name="TextBox 55"/>
            <p:cNvSpPr txBox="1"/>
            <p:nvPr/>
          </p:nvSpPr>
          <p:spPr>
            <a:xfrm>
              <a:off x="0" y="-9525"/>
              <a:ext cx="5242560" cy="10336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479"/>
                </a:lnSpc>
              </a:pPr>
              <a:r>
                <a:rPr lang="en-US" sz="2899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Tiêu chí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5026986" y="5439607"/>
            <a:ext cx="3633963" cy="728661"/>
            <a:chOff x="0" y="0"/>
            <a:chExt cx="5276431" cy="1057999"/>
          </a:xfrm>
        </p:grpSpPr>
        <p:sp>
          <p:nvSpPr>
            <p:cNvPr id="57" name="Freeform 57"/>
            <p:cNvSpPr/>
            <p:nvPr/>
          </p:nvSpPr>
          <p:spPr>
            <a:xfrm>
              <a:off x="16891" y="16891"/>
              <a:ext cx="5242560" cy="1024128"/>
            </a:xfrm>
            <a:custGeom>
              <a:avLst/>
              <a:gdLst/>
              <a:ahLst/>
              <a:cxnLst/>
              <a:rect l="l" t="t" r="r" b="b"/>
              <a:pathLst>
                <a:path w="5242560" h="1024128">
                  <a:moveTo>
                    <a:pt x="0" y="0"/>
                  </a:moveTo>
                  <a:lnTo>
                    <a:pt x="5242560" y="0"/>
                  </a:lnTo>
                  <a:lnTo>
                    <a:pt x="524256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1A2E5A"/>
            </a:solidFill>
          </p:spPr>
        </p:sp>
        <p:sp>
          <p:nvSpPr>
            <p:cNvPr id="58" name="Freeform 58"/>
            <p:cNvSpPr/>
            <p:nvPr/>
          </p:nvSpPr>
          <p:spPr>
            <a:xfrm>
              <a:off x="0" y="0"/>
              <a:ext cx="5276342" cy="1057912"/>
            </a:xfrm>
            <a:custGeom>
              <a:avLst/>
              <a:gdLst/>
              <a:ahLst/>
              <a:cxnLst/>
              <a:rect l="l" t="t" r="r" b="b"/>
              <a:pathLst>
                <a:path w="5276342" h="1057912">
                  <a:moveTo>
                    <a:pt x="16891" y="0"/>
                  </a:moveTo>
                  <a:lnTo>
                    <a:pt x="5259451" y="0"/>
                  </a:lnTo>
                  <a:cubicBezTo>
                    <a:pt x="5268849" y="0"/>
                    <a:pt x="5276342" y="7620"/>
                    <a:pt x="5276342" y="16891"/>
                  </a:cubicBezTo>
                  <a:lnTo>
                    <a:pt x="5276342" y="1041019"/>
                  </a:lnTo>
                  <a:cubicBezTo>
                    <a:pt x="5276342" y="1050417"/>
                    <a:pt x="5268722" y="1057910"/>
                    <a:pt x="5259451" y="1057910"/>
                  </a:cubicBezTo>
                  <a:lnTo>
                    <a:pt x="16891" y="1057910"/>
                  </a:lnTo>
                  <a:cubicBezTo>
                    <a:pt x="7620" y="1058037"/>
                    <a:pt x="0" y="1050417"/>
                    <a:pt x="0" y="10410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41019"/>
                  </a:lnTo>
                  <a:lnTo>
                    <a:pt x="16891" y="1041019"/>
                  </a:lnTo>
                  <a:lnTo>
                    <a:pt x="16891" y="1024128"/>
                  </a:lnTo>
                  <a:lnTo>
                    <a:pt x="5259451" y="1024128"/>
                  </a:lnTo>
                  <a:lnTo>
                    <a:pt x="5259451" y="1041019"/>
                  </a:lnTo>
                  <a:lnTo>
                    <a:pt x="5242560" y="1041019"/>
                  </a:lnTo>
                  <a:lnTo>
                    <a:pt x="5242560" y="16891"/>
                  </a:lnTo>
                  <a:lnTo>
                    <a:pt x="5259451" y="16891"/>
                  </a:lnTo>
                  <a:lnTo>
                    <a:pt x="5259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2E5A"/>
            </a:solidFill>
          </p:spPr>
        </p:sp>
      </p:grpSp>
      <p:grpSp>
        <p:nvGrpSpPr>
          <p:cNvPr id="59" name="Group 59"/>
          <p:cNvGrpSpPr/>
          <p:nvPr/>
        </p:nvGrpSpPr>
        <p:grpSpPr>
          <a:xfrm>
            <a:off x="5038645" y="5451266"/>
            <a:ext cx="3610636" cy="705333"/>
            <a:chOff x="0" y="0"/>
            <a:chExt cx="5242560" cy="1024128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5242560" cy="1024128"/>
            </a:xfrm>
            <a:custGeom>
              <a:avLst/>
              <a:gdLst/>
              <a:ahLst/>
              <a:cxnLst/>
              <a:rect l="l" t="t" r="r" b="b"/>
              <a:pathLst>
                <a:path w="5242560" h="1024128">
                  <a:moveTo>
                    <a:pt x="0" y="0"/>
                  </a:moveTo>
                  <a:lnTo>
                    <a:pt x="5242560" y="0"/>
                  </a:lnTo>
                  <a:lnTo>
                    <a:pt x="524256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9744" b="-49744"/>
              </a:stretch>
            </a:blipFill>
          </p:spPr>
        </p:sp>
        <p:sp>
          <p:nvSpPr>
            <p:cNvPr id="61" name="TextBox 61"/>
            <p:cNvSpPr txBox="1"/>
            <p:nvPr/>
          </p:nvSpPr>
          <p:spPr>
            <a:xfrm>
              <a:off x="0" y="-9525"/>
              <a:ext cx="5242560" cy="10336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479"/>
                </a:lnSpc>
              </a:pPr>
              <a:r>
                <a:rPr lang="en-US" sz="2899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Lần 1 (4.800 ảnh)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8721590" y="5439607"/>
            <a:ext cx="3633963" cy="728661"/>
            <a:chOff x="0" y="0"/>
            <a:chExt cx="5276431" cy="1057999"/>
          </a:xfrm>
        </p:grpSpPr>
        <p:sp>
          <p:nvSpPr>
            <p:cNvPr id="63" name="Freeform 63"/>
            <p:cNvSpPr/>
            <p:nvPr/>
          </p:nvSpPr>
          <p:spPr>
            <a:xfrm>
              <a:off x="16891" y="16891"/>
              <a:ext cx="5242560" cy="1024128"/>
            </a:xfrm>
            <a:custGeom>
              <a:avLst/>
              <a:gdLst/>
              <a:ahLst/>
              <a:cxnLst/>
              <a:rect l="l" t="t" r="r" b="b"/>
              <a:pathLst>
                <a:path w="5242560" h="1024128">
                  <a:moveTo>
                    <a:pt x="0" y="0"/>
                  </a:moveTo>
                  <a:lnTo>
                    <a:pt x="5242560" y="0"/>
                  </a:lnTo>
                  <a:lnTo>
                    <a:pt x="524256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1A2E5A"/>
            </a:solidFill>
          </p:spPr>
        </p:sp>
        <p:sp>
          <p:nvSpPr>
            <p:cNvPr id="64" name="Freeform 64"/>
            <p:cNvSpPr/>
            <p:nvPr/>
          </p:nvSpPr>
          <p:spPr>
            <a:xfrm>
              <a:off x="0" y="0"/>
              <a:ext cx="5276342" cy="1057912"/>
            </a:xfrm>
            <a:custGeom>
              <a:avLst/>
              <a:gdLst/>
              <a:ahLst/>
              <a:cxnLst/>
              <a:rect l="l" t="t" r="r" b="b"/>
              <a:pathLst>
                <a:path w="5276342" h="1057912">
                  <a:moveTo>
                    <a:pt x="16891" y="0"/>
                  </a:moveTo>
                  <a:lnTo>
                    <a:pt x="5259451" y="0"/>
                  </a:lnTo>
                  <a:cubicBezTo>
                    <a:pt x="5268849" y="0"/>
                    <a:pt x="5276342" y="7620"/>
                    <a:pt x="5276342" y="16891"/>
                  </a:cubicBezTo>
                  <a:lnTo>
                    <a:pt x="5276342" y="1041019"/>
                  </a:lnTo>
                  <a:cubicBezTo>
                    <a:pt x="5276342" y="1050417"/>
                    <a:pt x="5268722" y="1057910"/>
                    <a:pt x="5259451" y="1057910"/>
                  </a:cubicBezTo>
                  <a:lnTo>
                    <a:pt x="16891" y="1057910"/>
                  </a:lnTo>
                  <a:cubicBezTo>
                    <a:pt x="7620" y="1058037"/>
                    <a:pt x="0" y="1050417"/>
                    <a:pt x="0" y="10410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41019"/>
                  </a:lnTo>
                  <a:lnTo>
                    <a:pt x="16891" y="1041019"/>
                  </a:lnTo>
                  <a:lnTo>
                    <a:pt x="16891" y="1024128"/>
                  </a:lnTo>
                  <a:lnTo>
                    <a:pt x="5259451" y="1024128"/>
                  </a:lnTo>
                  <a:lnTo>
                    <a:pt x="5259451" y="1041019"/>
                  </a:lnTo>
                  <a:lnTo>
                    <a:pt x="5242560" y="1041019"/>
                  </a:lnTo>
                  <a:lnTo>
                    <a:pt x="5242560" y="16891"/>
                  </a:lnTo>
                  <a:lnTo>
                    <a:pt x="5259451" y="16891"/>
                  </a:lnTo>
                  <a:lnTo>
                    <a:pt x="5259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2E5A"/>
            </a:solidFill>
          </p:spPr>
        </p:sp>
      </p:grpSp>
      <p:grpSp>
        <p:nvGrpSpPr>
          <p:cNvPr id="65" name="Group 65"/>
          <p:cNvGrpSpPr/>
          <p:nvPr/>
        </p:nvGrpSpPr>
        <p:grpSpPr>
          <a:xfrm>
            <a:off x="8733249" y="5451266"/>
            <a:ext cx="3610636" cy="705333"/>
            <a:chOff x="0" y="0"/>
            <a:chExt cx="5242560" cy="1024128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5242560" cy="1024128"/>
            </a:xfrm>
            <a:custGeom>
              <a:avLst/>
              <a:gdLst/>
              <a:ahLst/>
              <a:cxnLst/>
              <a:rect l="l" t="t" r="r" b="b"/>
              <a:pathLst>
                <a:path w="5242560" h="1024128">
                  <a:moveTo>
                    <a:pt x="0" y="0"/>
                  </a:moveTo>
                  <a:lnTo>
                    <a:pt x="5242560" y="0"/>
                  </a:lnTo>
                  <a:lnTo>
                    <a:pt x="524256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9744" b="-49744"/>
              </a:stretch>
            </a:blipFill>
          </p:spPr>
        </p:sp>
        <p:sp>
          <p:nvSpPr>
            <p:cNvPr id="67" name="TextBox 67"/>
            <p:cNvSpPr txBox="1"/>
            <p:nvPr/>
          </p:nvSpPr>
          <p:spPr>
            <a:xfrm>
              <a:off x="0" y="-9525"/>
              <a:ext cx="5242560" cy="10336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479"/>
                </a:lnSpc>
              </a:pPr>
              <a:r>
                <a:rPr lang="en-US" sz="2899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Lần 2 (6.000 ảnh)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12416194" y="5439607"/>
            <a:ext cx="4473646" cy="728661"/>
            <a:chOff x="0" y="0"/>
            <a:chExt cx="6495631" cy="1057999"/>
          </a:xfrm>
        </p:grpSpPr>
        <p:sp>
          <p:nvSpPr>
            <p:cNvPr id="69" name="Freeform 69"/>
            <p:cNvSpPr/>
            <p:nvPr/>
          </p:nvSpPr>
          <p:spPr>
            <a:xfrm>
              <a:off x="16891" y="16891"/>
              <a:ext cx="6461760" cy="1024128"/>
            </a:xfrm>
            <a:custGeom>
              <a:avLst/>
              <a:gdLst/>
              <a:ahLst/>
              <a:cxnLst/>
              <a:rect l="l" t="t" r="r" b="b"/>
              <a:pathLst>
                <a:path w="6461760" h="1024128">
                  <a:moveTo>
                    <a:pt x="0" y="0"/>
                  </a:moveTo>
                  <a:lnTo>
                    <a:pt x="6461760" y="0"/>
                  </a:lnTo>
                  <a:lnTo>
                    <a:pt x="646176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1A2E5A"/>
            </a:solidFill>
          </p:spPr>
        </p:sp>
        <p:sp>
          <p:nvSpPr>
            <p:cNvPr id="70" name="Freeform 70"/>
            <p:cNvSpPr/>
            <p:nvPr/>
          </p:nvSpPr>
          <p:spPr>
            <a:xfrm>
              <a:off x="0" y="0"/>
              <a:ext cx="6495542" cy="1057912"/>
            </a:xfrm>
            <a:custGeom>
              <a:avLst/>
              <a:gdLst/>
              <a:ahLst/>
              <a:cxnLst/>
              <a:rect l="l" t="t" r="r" b="b"/>
              <a:pathLst>
                <a:path w="6495542" h="1057912">
                  <a:moveTo>
                    <a:pt x="16891" y="0"/>
                  </a:moveTo>
                  <a:lnTo>
                    <a:pt x="6478651" y="0"/>
                  </a:lnTo>
                  <a:cubicBezTo>
                    <a:pt x="6488049" y="0"/>
                    <a:pt x="6495542" y="7620"/>
                    <a:pt x="6495542" y="16891"/>
                  </a:cubicBezTo>
                  <a:lnTo>
                    <a:pt x="6495542" y="1041019"/>
                  </a:lnTo>
                  <a:cubicBezTo>
                    <a:pt x="6495542" y="1050417"/>
                    <a:pt x="6487922" y="1057910"/>
                    <a:pt x="6478651" y="1057910"/>
                  </a:cubicBezTo>
                  <a:lnTo>
                    <a:pt x="16891" y="1057910"/>
                  </a:lnTo>
                  <a:cubicBezTo>
                    <a:pt x="7620" y="1058037"/>
                    <a:pt x="0" y="1050417"/>
                    <a:pt x="0" y="10410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41019"/>
                  </a:lnTo>
                  <a:lnTo>
                    <a:pt x="16891" y="1041019"/>
                  </a:lnTo>
                  <a:lnTo>
                    <a:pt x="16891" y="1024128"/>
                  </a:lnTo>
                  <a:lnTo>
                    <a:pt x="6478651" y="1024128"/>
                  </a:lnTo>
                  <a:lnTo>
                    <a:pt x="6478651" y="1041019"/>
                  </a:lnTo>
                  <a:lnTo>
                    <a:pt x="6461760" y="1041019"/>
                  </a:lnTo>
                  <a:lnTo>
                    <a:pt x="6461760" y="16891"/>
                  </a:lnTo>
                  <a:lnTo>
                    <a:pt x="6478651" y="16891"/>
                  </a:lnTo>
                  <a:lnTo>
                    <a:pt x="64786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2E5A"/>
            </a:solidFill>
          </p:spPr>
        </p:sp>
      </p:grpSp>
      <p:grpSp>
        <p:nvGrpSpPr>
          <p:cNvPr id="71" name="Group 71"/>
          <p:cNvGrpSpPr/>
          <p:nvPr/>
        </p:nvGrpSpPr>
        <p:grpSpPr>
          <a:xfrm>
            <a:off x="12427853" y="5451266"/>
            <a:ext cx="4450318" cy="705333"/>
            <a:chOff x="0" y="0"/>
            <a:chExt cx="6461760" cy="1024128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6461760" cy="1024128"/>
            </a:xfrm>
            <a:custGeom>
              <a:avLst/>
              <a:gdLst/>
              <a:ahLst/>
              <a:cxnLst/>
              <a:rect l="l" t="t" r="r" b="b"/>
              <a:pathLst>
                <a:path w="6461760" h="1024128">
                  <a:moveTo>
                    <a:pt x="0" y="0"/>
                  </a:moveTo>
                  <a:lnTo>
                    <a:pt x="6461760" y="0"/>
                  </a:lnTo>
                  <a:lnTo>
                    <a:pt x="646176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72941" b="-72941"/>
              </a:stretch>
            </a:blipFill>
          </p:spPr>
        </p:sp>
        <p:sp>
          <p:nvSpPr>
            <p:cNvPr id="73" name="TextBox 73"/>
            <p:cNvSpPr txBox="1"/>
            <p:nvPr/>
          </p:nvSpPr>
          <p:spPr>
            <a:xfrm>
              <a:off x="0" y="-9525"/>
              <a:ext cx="6461760" cy="10336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479"/>
                </a:lnSpc>
              </a:pPr>
              <a:r>
                <a:rPr lang="en-US" sz="2899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Cải thiện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1332382" y="6178527"/>
            <a:ext cx="3633963" cy="762248"/>
            <a:chOff x="0" y="0"/>
            <a:chExt cx="5276431" cy="1106767"/>
          </a:xfrm>
        </p:grpSpPr>
        <p:sp>
          <p:nvSpPr>
            <p:cNvPr id="75" name="Freeform 75"/>
            <p:cNvSpPr/>
            <p:nvPr/>
          </p:nvSpPr>
          <p:spPr>
            <a:xfrm>
              <a:off x="16891" y="16891"/>
              <a:ext cx="5242560" cy="1072896"/>
            </a:xfrm>
            <a:custGeom>
              <a:avLst/>
              <a:gdLst/>
              <a:ahLst/>
              <a:cxnLst/>
              <a:rect l="l" t="t" r="r" b="b"/>
              <a:pathLst>
                <a:path w="5242560" h="1072896">
                  <a:moveTo>
                    <a:pt x="0" y="0"/>
                  </a:moveTo>
                  <a:lnTo>
                    <a:pt x="5242560" y="0"/>
                  </a:lnTo>
                  <a:lnTo>
                    <a:pt x="5242560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6" name="Freeform 76"/>
            <p:cNvSpPr/>
            <p:nvPr/>
          </p:nvSpPr>
          <p:spPr>
            <a:xfrm>
              <a:off x="0" y="0"/>
              <a:ext cx="5276342" cy="1106680"/>
            </a:xfrm>
            <a:custGeom>
              <a:avLst/>
              <a:gdLst/>
              <a:ahLst/>
              <a:cxnLst/>
              <a:rect l="l" t="t" r="r" b="b"/>
              <a:pathLst>
                <a:path w="5276342" h="1106680">
                  <a:moveTo>
                    <a:pt x="16891" y="0"/>
                  </a:moveTo>
                  <a:lnTo>
                    <a:pt x="5259451" y="0"/>
                  </a:lnTo>
                  <a:cubicBezTo>
                    <a:pt x="5268849" y="0"/>
                    <a:pt x="5276342" y="7620"/>
                    <a:pt x="5276342" y="16891"/>
                  </a:cubicBezTo>
                  <a:lnTo>
                    <a:pt x="5276342" y="1089787"/>
                  </a:lnTo>
                  <a:cubicBezTo>
                    <a:pt x="5276342" y="1099185"/>
                    <a:pt x="5268722" y="1106678"/>
                    <a:pt x="5259451" y="1106678"/>
                  </a:cubicBezTo>
                  <a:lnTo>
                    <a:pt x="16891" y="1106678"/>
                  </a:lnTo>
                  <a:cubicBezTo>
                    <a:pt x="7620" y="1106805"/>
                    <a:pt x="0" y="1099185"/>
                    <a:pt x="0" y="108978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89787"/>
                  </a:lnTo>
                  <a:lnTo>
                    <a:pt x="16891" y="1089787"/>
                  </a:lnTo>
                  <a:lnTo>
                    <a:pt x="16891" y="1072896"/>
                  </a:lnTo>
                  <a:lnTo>
                    <a:pt x="5259451" y="1072896"/>
                  </a:lnTo>
                  <a:lnTo>
                    <a:pt x="5259451" y="1089787"/>
                  </a:lnTo>
                  <a:lnTo>
                    <a:pt x="5242560" y="1089787"/>
                  </a:lnTo>
                  <a:lnTo>
                    <a:pt x="5242560" y="16891"/>
                  </a:lnTo>
                  <a:lnTo>
                    <a:pt x="5259451" y="16891"/>
                  </a:lnTo>
                  <a:lnTo>
                    <a:pt x="5259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8EC"/>
            </a:solidFill>
          </p:spPr>
        </p:sp>
      </p:grpSp>
      <p:grpSp>
        <p:nvGrpSpPr>
          <p:cNvPr id="77" name="Group 77"/>
          <p:cNvGrpSpPr/>
          <p:nvPr/>
        </p:nvGrpSpPr>
        <p:grpSpPr>
          <a:xfrm>
            <a:off x="1428009" y="6206980"/>
            <a:ext cx="3442699" cy="705333"/>
            <a:chOff x="0" y="0"/>
            <a:chExt cx="4998720" cy="1024128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4998720" cy="1024128"/>
            </a:xfrm>
            <a:custGeom>
              <a:avLst/>
              <a:gdLst/>
              <a:ahLst/>
              <a:cxnLst/>
              <a:rect l="l" t="t" r="r" b="b"/>
              <a:pathLst>
                <a:path w="4998720" h="1024128">
                  <a:moveTo>
                    <a:pt x="0" y="0"/>
                  </a:moveTo>
                  <a:lnTo>
                    <a:pt x="4998720" y="0"/>
                  </a:lnTo>
                  <a:lnTo>
                    <a:pt x="49987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5105" b="-45105"/>
              </a:stretch>
            </a:blipFill>
          </p:spPr>
        </p:sp>
        <p:sp>
          <p:nvSpPr>
            <p:cNvPr id="79" name="TextBox 79"/>
            <p:cNvSpPr txBox="1"/>
            <p:nvPr/>
          </p:nvSpPr>
          <p:spPr>
            <a:xfrm>
              <a:off x="0" y="-9525"/>
              <a:ext cx="4998720" cy="10336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479"/>
                </a:lnSpc>
              </a:pPr>
              <a:r>
                <a:rPr lang="en-US" sz="2899">
                  <a:solidFill>
                    <a:srgbClr val="1A2E5A"/>
                  </a:solidFill>
                  <a:latin typeface="Arial"/>
                  <a:ea typeface="Arial"/>
                  <a:cs typeface="Arial"/>
                  <a:sym typeface="Arial"/>
                </a:rPr>
                <a:t>mAP@50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5026986" y="6178527"/>
            <a:ext cx="3633963" cy="762248"/>
            <a:chOff x="0" y="0"/>
            <a:chExt cx="5276431" cy="1106767"/>
          </a:xfrm>
        </p:grpSpPr>
        <p:sp>
          <p:nvSpPr>
            <p:cNvPr id="81" name="Freeform 81"/>
            <p:cNvSpPr/>
            <p:nvPr/>
          </p:nvSpPr>
          <p:spPr>
            <a:xfrm>
              <a:off x="16891" y="16891"/>
              <a:ext cx="5242560" cy="1072896"/>
            </a:xfrm>
            <a:custGeom>
              <a:avLst/>
              <a:gdLst/>
              <a:ahLst/>
              <a:cxnLst/>
              <a:rect l="l" t="t" r="r" b="b"/>
              <a:pathLst>
                <a:path w="5242560" h="1072896">
                  <a:moveTo>
                    <a:pt x="0" y="0"/>
                  </a:moveTo>
                  <a:lnTo>
                    <a:pt x="5242560" y="0"/>
                  </a:lnTo>
                  <a:lnTo>
                    <a:pt x="5242560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2" name="Freeform 82"/>
            <p:cNvSpPr/>
            <p:nvPr/>
          </p:nvSpPr>
          <p:spPr>
            <a:xfrm>
              <a:off x="0" y="0"/>
              <a:ext cx="5276342" cy="1106680"/>
            </a:xfrm>
            <a:custGeom>
              <a:avLst/>
              <a:gdLst/>
              <a:ahLst/>
              <a:cxnLst/>
              <a:rect l="l" t="t" r="r" b="b"/>
              <a:pathLst>
                <a:path w="5276342" h="1106680">
                  <a:moveTo>
                    <a:pt x="16891" y="0"/>
                  </a:moveTo>
                  <a:lnTo>
                    <a:pt x="5259451" y="0"/>
                  </a:lnTo>
                  <a:cubicBezTo>
                    <a:pt x="5268849" y="0"/>
                    <a:pt x="5276342" y="7620"/>
                    <a:pt x="5276342" y="16891"/>
                  </a:cubicBezTo>
                  <a:lnTo>
                    <a:pt x="5276342" y="1089787"/>
                  </a:lnTo>
                  <a:cubicBezTo>
                    <a:pt x="5276342" y="1099185"/>
                    <a:pt x="5268722" y="1106678"/>
                    <a:pt x="5259451" y="1106678"/>
                  </a:cubicBezTo>
                  <a:lnTo>
                    <a:pt x="16891" y="1106678"/>
                  </a:lnTo>
                  <a:cubicBezTo>
                    <a:pt x="7620" y="1106805"/>
                    <a:pt x="0" y="1099185"/>
                    <a:pt x="0" y="108978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89787"/>
                  </a:lnTo>
                  <a:lnTo>
                    <a:pt x="16891" y="1089787"/>
                  </a:lnTo>
                  <a:lnTo>
                    <a:pt x="16891" y="1072896"/>
                  </a:lnTo>
                  <a:lnTo>
                    <a:pt x="5259451" y="1072896"/>
                  </a:lnTo>
                  <a:lnTo>
                    <a:pt x="5259451" y="1089787"/>
                  </a:lnTo>
                  <a:lnTo>
                    <a:pt x="5242560" y="1089787"/>
                  </a:lnTo>
                  <a:lnTo>
                    <a:pt x="5242560" y="16891"/>
                  </a:lnTo>
                  <a:lnTo>
                    <a:pt x="5259451" y="16891"/>
                  </a:lnTo>
                  <a:lnTo>
                    <a:pt x="5259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8EC"/>
            </a:solidFill>
          </p:spPr>
        </p:sp>
      </p:grpSp>
      <p:grpSp>
        <p:nvGrpSpPr>
          <p:cNvPr id="83" name="Group 83"/>
          <p:cNvGrpSpPr/>
          <p:nvPr/>
        </p:nvGrpSpPr>
        <p:grpSpPr>
          <a:xfrm>
            <a:off x="5122613" y="6206980"/>
            <a:ext cx="3442699" cy="705333"/>
            <a:chOff x="0" y="0"/>
            <a:chExt cx="4998720" cy="1024128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4998720" cy="1024128"/>
            </a:xfrm>
            <a:custGeom>
              <a:avLst/>
              <a:gdLst/>
              <a:ahLst/>
              <a:cxnLst/>
              <a:rect l="l" t="t" r="r" b="b"/>
              <a:pathLst>
                <a:path w="4998720" h="1024128">
                  <a:moveTo>
                    <a:pt x="0" y="0"/>
                  </a:moveTo>
                  <a:lnTo>
                    <a:pt x="4998720" y="0"/>
                  </a:lnTo>
                  <a:lnTo>
                    <a:pt x="49987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5105" b="-45105"/>
              </a:stretch>
            </a:blipFill>
          </p:spPr>
        </p:sp>
        <p:sp>
          <p:nvSpPr>
            <p:cNvPr id="85" name="TextBox 85"/>
            <p:cNvSpPr txBox="1"/>
            <p:nvPr/>
          </p:nvSpPr>
          <p:spPr>
            <a:xfrm>
              <a:off x="0" y="-9525"/>
              <a:ext cx="4998720" cy="10336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479"/>
                </a:lnSpc>
              </a:pPr>
              <a:r>
                <a:rPr lang="en-US" sz="2899">
                  <a:solidFill>
                    <a:srgbClr val="1A2E5A"/>
                  </a:solidFill>
                  <a:latin typeface="Arial"/>
                  <a:ea typeface="Arial"/>
                  <a:cs typeface="Arial"/>
                  <a:sym typeface="Arial"/>
                </a:rPr>
                <a:t>0.994</a:t>
              </a:r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8721590" y="6178527"/>
            <a:ext cx="3633963" cy="762248"/>
            <a:chOff x="0" y="0"/>
            <a:chExt cx="5276431" cy="1106767"/>
          </a:xfrm>
        </p:grpSpPr>
        <p:sp>
          <p:nvSpPr>
            <p:cNvPr id="87" name="Freeform 87"/>
            <p:cNvSpPr/>
            <p:nvPr/>
          </p:nvSpPr>
          <p:spPr>
            <a:xfrm>
              <a:off x="16891" y="16891"/>
              <a:ext cx="5242560" cy="1072896"/>
            </a:xfrm>
            <a:custGeom>
              <a:avLst/>
              <a:gdLst/>
              <a:ahLst/>
              <a:cxnLst/>
              <a:rect l="l" t="t" r="r" b="b"/>
              <a:pathLst>
                <a:path w="5242560" h="1072896">
                  <a:moveTo>
                    <a:pt x="0" y="0"/>
                  </a:moveTo>
                  <a:lnTo>
                    <a:pt x="5242560" y="0"/>
                  </a:lnTo>
                  <a:lnTo>
                    <a:pt x="5242560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8" name="Freeform 88"/>
            <p:cNvSpPr/>
            <p:nvPr/>
          </p:nvSpPr>
          <p:spPr>
            <a:xfrm>
              <a:off x="0" y="0"/>
              <a:ext cx="5276342" cy="1106680"/>
            </a:xfrm>
            <a:custGeom>
              <a:avLst/>
              <a:gdLst/>
              <a:ahLst/>
              <a:cxnLst/>
              <a:rect l="l" t="t" r="r" b="b"/>
              <a:pathLst>
                <a:path w="5276342" h="1106680">
                  <a:moveTo>
                    <a:pt x="16891" y="0"/>
                  </a:moveTo>
                  <a:lnTo>
                    <a:pt x="5259451" y="0"/>
                  </a:lnTo>
                  <a:cubicBezTo>
                    <a:pt x="5268849" y="0"/>
                    <a:pt x="5276342" y="7620"/>
                    <a:pt x="5276342" y="16891"/>
                  </a:cubicBezTo>
                  <a:lnTo>
                    <a:pt x="5276342" y="1089787"/>
                  </a:lnTo>
                  <a:cubicBezTo>
                    <a:pt x="5276342" y="1099185"/>
                    <a:pt x="5268722" y="1106678"/>
                    <a:pt x="5259451" y="1106678"/>
                  </a:cubicBezTo>
                  <a:lnTo>
                    <a:pt x="16891" y="1106678"/>
                  </a:lnTo>
                  <a:cubicBezTo>
                    <a:pt x="7620" y="1106805"/>
                    <a:pt x="0" y="1099185"/>
                    <a:pt x="0" y="108978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89787"/>
                  </a:lnTo>
                  <a:lnTo>
                    <a:pt x="16891" y="1089787"/>
                  </a:lnTo>
                  <a:lnTo>
                    <a:pt x="16891" y="1072896"/>
                  </a:lnTo>
                  <a:lnTo>
                    <a:pt x="5259451" y="1072896"/>
                  </a:lnTo>
                  <a:lnTo>
                    <a:pt x="5259451" y="1089787"/>
                  </a:lnTo>
                  <a:lnTo>
                    <a:pt x="5242560" y="1089787"/>
                  </a:lnTo>
                  <a:lnTo>
                    <a:pt x="5242560" y="16891"/>
                  </a:lnTo>
                  <a:lnTo>
                    <a:pt x="5259451" y="16891"/>
                  </a:lnTo>
                  <a:lnTo>
                    <a:pt x="5259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8EC"/>
            </a:solidFill>
          </p:spPr>
        </p:sp>
      </p:grpSp>
      <p:grpSp>
        <p:nvGrpSpPr>
          <p:cNvPr id="89" name="Group 89"/>
          <p:cNvGrpSpPr/>
          <p:nvPr/>
        </p:nvGrpSpPr>
        <p:grpSpPr>
          <a:xfrm>
            <a:off x="8817217" y="6206980"/>
            <a:ext cx="3442699" cy="705333"/>
            <a:chOff x="0" y="0"/>
            <a:chExt cx="4998720" cy="1024128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4998720" cy="1024128"/>
            </a:xfrm>
            <a:custGeom>
              <a:avLst/>
              <a:gdLst/>
              <a:ahLst/>
              <a:cxnLst/>
              <a:rect l="l" t="t" r="r" b="b"/>
              <a:pathLst>
                <a:path w="4998720" h="1024128">
                  <a:moveTo>
                    <a:pt x="0" y="0"/>
                  </a:moveTo>
                  <a:lnTo>
                    <a:pt x="4998720" y="0"/>
                  </a:lnTo>
                  <a:lnTo>
                    <a:pt x="49987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5105" b="-45105"/>
              </a:stretch>
            </a:blipFill>
          </p:spPr>
        </p:sp>
        <p:sp>
          <p:nvSpPr>
            <p:cNvPr id="91" name="TextBox 91"/>
            <p:cNvSpPr txBox="1"/>
            <p:nvPr/>
          </p:nvSpPr>
          <p:spPr>
            <a:xfrm>
              <a:off x="0" y="-9525"/>
              <a:ext cx="4998720" cy="10336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479"/>
                </a:lnSpc>
              </a:pPr>
              <a:r>
                <a:rPr lang="en-US" sz="2899">
                  <a:solidFill>
                    <a:srgbClr val="1A2E5A"/>
                  </a:solidFill>
                  <a:latin typeface="Arial"/>
                  <a:ea typeface="Arial"/>
                  <a:cs typeface="Arial"/>
                  <a:sym typeface="Arial"/>
                </a:rPr>
                <a:t>0.995</a:t>
              </a:r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12416194" y="6178527"/>
            <a:ext cx="4473646" cy="762248"/>
            <a:chOff x="0" y="0"/>
            <a:chExt cx="6495631" cy="1106767"/>
          </a:xfrm>
        </p:grpSpPr>
        <p:sp>
          <p:nvSpPr>
            <p:cNvPr id="93" name="Freeform 93"/>
            <p:cNvSpPr/>
            <p:nvPr/>
          </p:nvSpPr>
          <p:spPr>
            <a:xfrm>
              <a:off x="16891" y="16891"/>
              <a:ext cx="6461760" cy="1072896"/>
            </a:xfrm>
            <a:custGeom>
              <a:avLst/>
              <a:gdLst/>
              <a:ahLst/>
              <a:cxnLst/>
              <a:rect l="l" t="t" r="r" b="b"/>
              <a:pathLst>
                <a:path w="6461760" h="1072896">
                  <a:moveTo>
                    <a:pt x="0" y="0"/>
                  </a:moveTo>
                  <a:lnTo>
                    <a:pt x="6461760" y="0"/>
                  </a:lnTo>
                  <a:lnTo>
                    <a:pt x="6461760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94" name="Freeform 94"/>
            <p:cNvSpPr/>
            <p:nvPr/>
          </p:nvSpPr>
          <p:spPr>
            <a:xfrm>
              <a:off x="0" y="0"/>
              <a:ext cx="6495542" cy="1106680"/>
            </a:xfrm>
            <a:custGeom>
              <a:avLst/>
              <a:gdLst/>
              <a:ahLst/>
              <a:cxnLst/>
              <a:rect l="l" t="t" r="r" b="b"/>
              <a:pathLst>
                <a:path w="6495542" h="1106680">
                  <a:moveTo>
                    <a:pt x="16891" y="0"/>
                  </a:moveTo>
                  <a:lnTo>
                    <a:pt x="6478651" y="0"/>
                  </a:lnTo>
                  <a:cubicBezTo>
                    <a:pt x="6488049" y="0"/>
                    <a:pt x="6495542" y="7620"/>
                    <a:pt x="6495542" y="16891"/>
                  </a:cubicBezTo>
                  <a:lnTo>
                    <a:pt x="6495542" y="1089787"/>
                  </a:lnTo>
                  <a:cubicBezTo>
                    <a:pt x="6495542" y="1099185"/>
                    <a:pt x="6487922" y="1106678"/>
                    <a:pt x="6478651" y="1106678"/>
                  </a:cubicBezTo>
                  <a:lnTo>
                    <a:pt x="16891" y="1106678"/>
                  </a:lnTo>
                  <a:cubicBezTo>
                    <a:pt x="7620" y="1106805"/>
                    <a:pt x="0" y="1099185"/>
                    <a:pt x="0" y="108978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89787"/>
                  </a:lnTo>
                  <a:lnTo>
                    <a:pt x="16891" y="1089787"/>
                  </a:lnTo>
                  <a:lnTo>
                    <a:pt x="16891" y="1072896"/>
                  </a:lnTo>
                  <a:lnTo>
                    <a:pt x="6478651" y="1072896"/>
                  </a:lnTo>
                  <a:lnTo>
                    <a:pt x="6478651" y="1089787"/>
                  </a:lnTo>
                  <a:lnTo>
                    <a:pt x="6461760" y="1089787"/>
                  </a:lnTo>
                  <a:lnTo>
                    <a:pt x="6461760" y="16891"/>
                  </a:lnTo>
                  <a:lnTo>
                    <a:pt x="6478651" y="16891"/>
                  </a:lnTo>
                  <a:lnTo>
                    <a:pt x="64786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8EC"/>
            </a:solidFill>
          </p:spPr>
        </p:sp>
      </p:grpSp>
      <p:grpSp>
        <p:nvGrpSpPr>
          <p:cNvPr id="95" name="Group 95"/>
          <p:cNvGrpSpPr/>
          <p:nvPr/>
        </p:nvGrpSpPr>
        <p:grpSpPr>
          <a:xfrm>
            <a:off x="12511821" y="6206980"/>
            <a:ext cx="4282382" cy="705333"/>
            <a:chOff x="0" y="0"/>
            <a:chExt cx="6217920" cy="1024128"/>
          </a:xfrm>
        </p:grpSpPr>
        <p:sp>
          <p:nvSpPr>
            <p:cNvPr id="96" name="Freeform 96"/>
            <p:cNvSpPr/>
            <p:nvPr/>
          </p:nvSpPr>
          <p:spPr>
            <a:xfrm>
              <a:off x="0" y="0"/>
              <a:ext cx="6217920" cy="1024128"/>
            </a:xfrm>
            <a:custGeom>
              <a:avLst/>
              <a:gdLst/>
              <a:ahLst/>
              <a:cxnLst/>
              <a:rect l="l" t="t" r="r" b="b"/>
              <a:pathLst>
                <a:path w="6217920" h="1024128">
                  <a:moveTo>
                    <a:pt x="0" y="0"/>
                  </a:moveTo>
                  <a:lnTo>
                    <a:pt x="6217920" y="0"/>
                  </a:lnTo>
                  <a:lnTo>
                    <a:pt x="62179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68302" b="-68302"/>
              </a:stretch>
            </a:blipFill>
          </p:spPr>
        </p:sp>
        <p:sp>
          <p:nvSpPr>
            <p:cNvPr id="97" name="TextBox 97"/>
            <p:cNvSpPr txBox="1"/>
            <p:nvPr/>
          </p:nvSpPr>
          <p:spPr>
            <a:xfrm>
              <a:off x="0" y="-9525"/>
              <a:ext cx="6217920" cy="10336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479"/>
                </a:lnSpc>
              </a:pPr>
              <a:r>
                <a:rPr lang="en-US" sz="2899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↑ +0.001</a:t>
              </a:r>
            </a:p>
          </p:txBody>
        </p:sp>
      </p:grpSp>
      <p:grpSp>
        <p:nvGrpSpPr>
          <p:cNvPr id="98" name="Group 98"/>
          <p:cNvGrpSpPr/>
          <p:nvPr/>
        </p:nvGrpSpPr>
        <p:grpSpPr>
          <a:xfrm>
            <a:off x="1332382" y="6951036"/>
            <a:ext cx="3633963" cy="762248"/>
            <a:chOff x="0" y="0"/>
            <a:chExt cx="5276431" cy="1106767"/>
          </a:xfrm>
        </p:grpSpPr>
        <p:sp>
          <p:nvSpPr>
            <p:cNvPr id="99" name="Freeform 99"/>
            <p:cNvSpPr/>
            <p:nvPr/>
          </p:nvSpPr>
          <p:spPr>
            <a:xfrm>
              <a:off x="16891" y="16891"/>
              <a:ext cx="5242560" cy="1072896"/>
            </a:xfrm>
            <a:custGeom>
              <a:avLst/>
              <a:gdLst/>
              <a:ahLst/>
              <a:cxnLst/>
              <a:rect l="l" t="t" r="r" b="b"/>
              <a:pathLst>
                <a:path w="5242560" h="1072896">
                  <a:moveTo>
                    <a:pt x="0" y="0"/>
                  </a:moveTo>
                  <a:lnTo>
                    <a:pt x="5242560" y="0"/>
                  </a:lnTo>
                  <a:lnTo>
                    <a:pt x="5242560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F4F7FB"/>
            </a:solidFill>
          </p:spPr>
        </p:sp>
        <p:sp>
          <p:nvSpPr>
            <p:cNvPr id="100" name="Freeform 100"/>
            <p:cNvSpPr/>
            <p:nvPr/>
          </p:nvSpPr>
          <p:spPr>
            <a:xfrm>
              <a:off x="0" y="0"/>
              <a:ext cx="5276342" cy="1106680"/>
            </a:xfrm>
            <a:custGeom>
              <a:avLst/>
              <a:gdLst/>
              <a:ahLst/>
              <a:cxnLst/>
              <a:rect l="l" t="t" r="r" b="b"/>
              <a:pathLst>
                <a:path w="5276342" h="1106680">
                  <a:moveTo>
                    <a:pt x="16891" y="0"/>
                  </a:moveTo>
                  <a:lnTo>
                    <a:pt x="5259451" y="0"/>
                  </a:lnTo>
                  <a:cubicBezTo>
                    <a:pt x="5268849" y="0"/>
                    <a:pt x="5276342" y="7620"/>
                    <a:pt x="5276342" y="16891"/>
                  </a:cubicBezTo>
                  <a:lnTo>
                    <a:pt x="5276342" y="1089787"/>
                  </a:lnTo>
                  <a:cubicBezTo>
                    <a:pt x="5276342" y="1099185"/>
                    <a:pt x="5268722" y="1106678"/>
                    <a:pt x="5259451" y="1106678"/>
                  </a:cubicBezTo>
                  <a:lnTo>
                    <a:pt x="16891" y="1106678"/>
                  </a:lnTo>
                  <a:cubicBezTo>
                    <a:pt x="7620" y="1106805"/>
                    <a:pt x="0" y="1099185"/>
                    <a:pt x="0" y="108978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89787"/>
                  </a:lnTo>
                  <a:lnTo>
                    <a:pt x="16891" y="1089787"/>
                  </a:lnTo>
                  <a:lnTo>
                    <a:pt x="16891" y="1072896"/>
                  </a:lnTo>
                  <a:lnTo>
                    <a:pt x="5259451" y="1072896"/>
                  </a:lnTo>
                  <a:lnTo>
                    <a:pt x="5259451" y="1089787"/>
                  </a:lnTo>
                  <a:lnTo>
                    <a:pt x="5242560" y="1089787"/>
                  </a:lnTo>
                  <a:lnTo>
                    <a:pt x="5242560" y="16891"/>
                  </a:lnTo>
                  <a:lnTo>
                    <a:pt x="5259451" y="16891"/>
                  </a:lnTo>
                  <a:lnTo>
                    <a:pt x="5259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8EC"/>
            </a:solidFill>
          </p:spPr>
        </p:sp>
      </p:grpSp>
      <p:grpSp>
        <p:nvGrpSpPr>
          <p:cNvPr id="101" name="Group 101"/>
          <p:cNvGrpSpPr/>
          <p:nvPr/>
        </p:nvGrpSpPr>
        <p:grpSpPr>
          <a:xfrm>
            <a:off x="1428009" y="6979489"/>
            <a:ext cx="3442699" cy="705333"/>
            <a:chOff x="0" y="0"/>
            <a:chExt cx="4998720" cy="1024128"/>
          </a:xfrm>
        </p:grpSpPr>
        <p:sp>
          <p:nvSpPr>
            <p:cNvPr id="102" name="Freeform 102"/>
            <p:cNvSpPr/>
            <p:nvPr/>
          </p:nvSpPr>
          <p:spPr>
            <a:xfrm>
              <a:off x="0" y="0"/>
              <a:ext cx="4998720" cy="1024128"/>
            </a:xfrm>
            <a:custGeom>
              <a:avLst/>
              <a:gdLst/>
              <a:ahLst/>
              <a:cxnLst/>
              <a:rect l="l" t="t" r="r" b="b"/>
              <a:pathLst>
                <a:path w="4998720" h="1024128">
                  <a:moveTo>
                    <a:pt x="0" y="0"/>
                  </a:moveTo>
                  <a:lnTo>
                    <a:pt x="4998720" y="0"/>
                  </a:lnTo>
                  <a:lnTo>
                    <a:pt x="49987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5105" b="-45105"/>
              </a:stretch>
            </a:blipFill>
          </p:spPr>
        </p:sp>
        <p:sp>
          <p:nvSpPr>
            <p:cNvPr id="103" name="TextBox 103"/>
            <p:cNvSpPr txBox="1"/>
            <p:nvPr/>
          </p:nvSpPr>
          <p:spPr>
            <a:xfrm>
              <a:off x="0" y="-9525"/>
              <a:ext cx="4998720" cy="10336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479"/>
                </a:lnSpc>
              </a:pPr>
              <a:r>
                <a:rPr lang="en-US" sz="2899">
                  <a:solidFill>
                    <a:srgbClr val="1A2E5A"/>
                  </a:solidFill>
                  <a:latin typeface="Arial"/>
                  <a:ea typeface="Arial"/>
                  <a:cs typeface="Arial"/>
                  <a:sym typeface="Arial"/>
                </a:rPr>
                <a:t>mAP@50-95</a:t>
              </a:r>
            </a:p>
          </p:txBody>
        </p:sp>
      </p:grpSp>
      <p:grpSp>
        <p:nvGrpSpPr>
          <p:cNvPr id="104" name="Group 104"/>
          <p:cNvGrpSpPr/>
          <p:nvPr/>
        </p:nvGrpSpPr>
        <p:grpSpPr>
          <a:xfrm>
            <a:off x="5026986" y="6951036"/>
            <a:ext cx="3633963" cy="762248"/>
            <a:chOff x="0" y="0"/>
            <a:chExt cx="5276431" cy="1106767"/>
          </a:xfrm>
        </p:grpSpPr>
        <p:sp>
          <p:nvSpPr>
            <p:cNvPr id="105" name="Freeform 105"/>
            <p:cNvSpPr/>
            <p:nvPr/>
          </p:nvSpPr>
          <p:spPr>
            <a:xfrm>
              <a:off x="16891" y="16891"/>
              <a:ext cx="5242560" cy="1072896"/>
            </a:xfrm>
            <a:custGeom>
              <a:avLst/>
              <a:gdLst/>
              <a:ahLst/>
              <a:cxnLst/>
              <a:rect l="l" t="t" r="r" b="b"/>
              <a:pathLst>
                <a:path w="5242560" h="1072896">
                  <a:moveTo>
                    <a:pt x="0" y="0"/>
                  </a:moveTo>
                  <a:lnTo>
                    <a:pt x="5242560" y="0"/>
                  </a:lnTo>
                  <a:lnTo>
                    <a:pt x="5242560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F4F7FB"/>
            </a:solidFill>
          </p:spPr>
        </p:sp>
        <p:sp>
          <p:nvSpPr>
            <p:cNvPr id="106" name="Freeform 106"/>
            <p:cNvSpPr/>
            <p:nvPr/>
          </p:nvSpPr>
          <p:spPr>
            <a:xfrm>
              <a:off x="0" y="0"/>
              <a:ext cx="5276342" cy="1106680"/>
            </a:xfrm>
            <a:custGeom>
              <a:avLst/>
              <a:gdLst/>
              <a:ahLst/>
              <a:cxnLst/>
              <a:rect l="l" t="t" r="r" b="b"/>
              <a:pathLst>
                <a:path w="5276342" h="1106680">
                  <a:moveTo>
                    <a:pt x="16891" y="0"/>
                  </a:moveTo>
                  <a:lnTo>
                    <a:pt x="5259451" y="0"/>
                  </a:lnTo>
                  <a:cubicBezTo>
                    <a:pt x="5268849" y="0"/>
                    <a:pt x="5276342" y="7620"/>
                    <a:pt x="5276342" y="16891"/>
                  </a:cubicBezTo>
                  <a:lnTo>
                    <a:pt x="5276342" y="1089787"/>
                  </a:lnTo>
                  <a:cubicBezTo>
                    <a:pt x="5276342" y="1099185"/>
                    <a:pt x="5268722" y="1106678"/>
                    <a:pt x="5259451" y="1106678"/>
                  </a:cubicBezTo>
                  <a:lnTo>
                    <a:pt x="16891" y="1106678"/>
                  </a:lnTo>
                  <a:cubicBezTo>
                    <a:pt x="7620" y="1106805"/>
                    <a:pt x="0" y="1099185"/>
                    <a:pt x="0" y="108978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89787"/>
                  </a:lnTo>
                  <a:lnTo>
                    <a:pt x="16891" y="1089787"/>
                  </a:lnTo>
                  <a:lnTo>
                    <a:pt x="16891" y="1072896"/>
                  </a:lnTo>
                  <a:lnTo>
                    <a:pt x="5259451" y="1072896"/>
                  </a:lnTo>
                  <a:lnTo>
                    <a:pt x="5259451" y="1089787"/>
                  </a:lnTo>
                  <a:lnTo>
                    <a:pt x="5242560" y="1089787"/>
                  </a:lnTo>
                  <a:lnTo>
                    <a:pt x="5242560" y="16891"/>
                  </a:lnTo>
                  <a:lnTo>
                    <a:pt x="5259451" y="16891"/>
                  </a:lnTo>
                  <a:lnTo>
                    <a:pt x="5259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8EC"/>
            </a:solidFill>
          </p:spPr>
        </p:sp>
      </p:grpSp>
      <p:grpSp>
        <p:nvGrpSpPr>
          <p:cNvPr id="107" name="Group 107"/>
          <p:cNvGrpSpPr/>
          <p:nvPr/>
        </p:nvGrpSpPr>
        <p:grpSpPr>
          <a:xfrm>
            <a:off x="5122613" y="6979489"/>
            <a:ext cx="3442699" cy="705333"/>
            <a:chOff x="0" y="0"/>
            <a:chExt cx="4998720" cy="1024128"/>
          </a:xfrm>
        </p:grpSpPr>
        <p:sp>
          <p:nvSpPr>
            <p:cNvPr id="108" name="Freeform 108"/>
            <p:cNvSpPr/>
            <p:nvPr/>
          </p:nvSpPr>
          <p:spPr>
            <a:xfrm>
              <a:off x="0" y="0"/>
              <a:ext cx="4998720" cy="1024128"/>
            </a:xfrm>
            <a:custGeom>
              <a:avLst/>
              <a:gdLst/>
              <a:ahLst/>
              <a:cxnLst/>
              <a:rect l="l" t="t" r="r" b="b"/>
              <a:pathLst>
                <a:path w="4998720" h="1024128">
                  <a:moveTo>
                    <a:pt x="0" y="0"/>
                  </a:moveTo>
                  <a:lnTo>
                    <a:pt x="4998720" y="0"/>
                  </a:lnTo>
                  <a:lnTo>
                    <a:pt x="49987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5105" b="-45105"/>
              </a:stretch>
            </a:blipFill>
          </p:spPr>
        </p:sp>
        <p:sp>
          <p:nvSpPr>
            <p:cNvPr id="109" name="TextBox 109"/>
            <p:cNvSpPr txBox="1"/>
            <p:nvPr/>
          </p:nvSpPr>
          <p:spPr>
            <a:xfrm>
              <a:off x="0" y="-9525"/>
              <a:ext cx="4998720" cy="10336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479"/>
                </a:lnSpc>
              </a:pPr>
              <a:r>
                <a:rPr lang="en-US" sz="2899">
                  <a:solidFill>
                    <a:srgbClr val="1A2E5A"/>
                  </a:solidFill>
                  <a:latin typeface="Arial"/>
                  <a:ea typeface="Arial"/>
                  <a:cs typeface="Arial"/>
                  <a:sym typeface="Arial"/>
                </a:rPr>
                <a:t>~0.830</a:t>
              </a:r>
            </a:p>
          </p:txBody>
        </p:sp>
      </p:grpSp>
      <p:grpSp>
        <p:nvGrpSpPr>
          <p:cNvPr id="110" name="Group 110"/>
          <p:cNvGrpSpPr/>
          <p:nvPr/>
        </p:nvGrpSpPr>
        <p:grpSpPr>
          <a:xfrm>
            <a:off x="8721590" y="6951036"/>
            <a:ext cx="3633963" cy="762248"/>
            <a:chOff x="0" y="0"/>
            <a:chExt cx="5276431" cy="1106767"/>
          </a:xfrm>
        </p:grpSpPr>
        <p:sp>
          <p:nvSpPr>
            <p:cNvPr id="111" name="Freeform 111"/>
            <p:cNvSpPr/>
            <p:nvPr/>
          </p:nvSpPr>
          <p:spPr>
            <a:xfrm>
              <a:off x="16891" y="16891"/>
              <a:ext cx="5242560" cy="1072896"/>
            </a:xfrm>
            <a:custGeom>
              <a:avLst/>
              <a:gdLst/>
              <a:ahLst/>
              <a:cxnLst/>
              <a:rect l="l" t="t" r="r" b="b"/>
              <a:pathLst>
                <a:path w="5242560" h="1072896">
                  <a:moveTo>
                    <a:pt x="0" y="0"/>
                  </a:moveTo>
                  <a:lnTo>
                    <a:pt x="5242560" y="0"/>
                  </a:lnTo>
                  <a:lnTo>
                    <a:pt x="5242560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F4F7FB"/>
            </a:solidFill>
          </p:spPr>
        </p:sp>
        <p:sp>
          <p:nvSpPr>
            <p:cNvPr id="112" name="Freeform 112"/>
            <p:cNvSpPr/>
            <p:nvPr/>
          </p:nvSpPr>
          <p:spPr>
            <a:xfrm>
              <a:off x="0" y="0"/>
              <a:ext cx="5276342" cy="1106680"/>
            </a:xfrm>
            <a:custGeom>
              <a:avLst/>
              <a:gdLst/>
              <a:ahLst/>
              <a:cxnLst/>
              <a:rect l="l" t="t" r="r" b="b"/>
              <a:pathLst>
                <a:path w="5276342" h="1106680">
                  <a:moveTo>
                    <a:pt x="16891" y="0"/>
                  </a:moveTo>
                  <a:lnTo>
                    <a:pt x="5259451" y="0"/>
                  </a:lnTo>
                  <a:cubicBezTo>
                    <a:pt x="5268849" y="0"/>
                    <a:pt x="5276342" y="7620"/>
                    <a:pt x="5276342" y="16891"/>
                  </a:cubicBezTo>
                  <a:lnTo>
                    <a:pt x="5276342" y="1089787"/>
                  </a:lnTo>
                  <a:cubicBezTo>
                    <a:pt x="5276342" y="1099185"/>
                    <a:pt x="5268722" y="1106678"/>
                    <a:pt x="5259451" y="1106678"/>
                  </a:cubicBezTo>
                  <a:lnTo>
                    <a:pt x="16891" y="1106678"/>
                  </a:lnTo>
                  <a:cubicBezTo>
                    <a:pt x="7620" y="1106805"/>
                    <a:pt x="0" y="1099185"/>
                    <a:pt x="0" y="108978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89787"/>
                  </a:lnTo>
                  <a:lnTo>
                    <a:pt x="16891" y="1089787"/>
                  </a:lnTo>
                  <a:lnTo>
                    <a:pt x="16891" y="1072896"/>
                  </a:lnTo>
                  <a:lnTo>
                    <a:pt x="5259451" y="1072896"/>
                  </a:lnTo>
                  <a:lnTo>
                    <a:pt x="5259451" y="1089787"/>
                  </a:lnTo>
                  <a:lnTo>
                    <a:pt x="5242560" y="1089787"/>
                  </a:lnTo>
                  <a:lnTo>
                    <a:pt x="5242560" y="16891"/>
                  </a:lnTo>
                  <a:lnTo>
                    <a:pt x="5259451" y="16891"/>
                  </a:lnTo>
                  <a:lnTo>
                    <a:pt x="5259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8EC"/>
            </a:solidFill>
          </p:spPr>
        </p:sp>
      </p:grpSp>
      <p:grpSp>
        <p:nvGrpSpPr>
          <p:cNvPr id="113" name="Group 113"/>
          <p:cNvGrpSpPr/>
          <p:nvPr/>
        </p:nvGrpSpPr>
        <p:grpSpPr>
          <a:xfrm>
            <a:off x="8817217" y="6979489"/>
            <a:ext cx="3442699" cy="705333"/>
            <a:chOff x="0" y="0"/>
            <a:chExt cx="4998720" cy="1024128"/>
          </a:xfrm>
        </p:grpSpPr>
        <p:sp>
          <p:nvSpPr>
            <p:cNvPr id="114" name="Freeform 114"/>
            <p:cNvSpPr/>
            <p:nvPr/>
          </p:nvSpPr>
          <p:spPr>
            <a:xfrm>
              <a:off x="0" y="0"/>
              <a:ext cx="4998720" cy="1024128"/>
            </a:xfrm>
            <a:custGeom>
              <a:avLst/>
              <a:gdLst/>
              <a:ahLst/>
              <a:cxnLst/>
              <a:rect l="l" t="t" r="r" b="b"/>
              <a:pathLst>
                <a:path w="4998720" h="1024128">
                  <a:moveTo>
                    <a:pt x="0" y="0"/>
                  </a:moveTo>
                  <a:lnTo>
                    <a:pt x="4998720" y="0"/>
                  </a:lnTo>
                  <a:lnTo>
                    <a:pt x="49987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5105" b="-45105"/>
              </a:stretch>
            </a:blipFill>
          </p:spPr>
        </p:sp>
        <p:sp>
          <p:nvSpPr>
            <p:cNvPr id="115" name="TextBox 115"/>
            <p:cNvSpPr txBox="1"/>
            <p:nvPr/>
          </p:nvSpPr>
          <p:spPr>
            <a:xfrm>
              <a:off x="0" y="-9525"/>
              <a:ext cx="4998720" cy="10336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479"/>
                </a:lnSpc>
              </a:pPr>
              <a:r>
                <a:rPr lang="en-US" sz="2899">
                  <a:solidFill>
                    <a:srgbClr val="1A2E5A"/>
                  </a:solidFill>
                  <a:latin typeface="Arial"/>
                  <a:ea typeface="Arial"/>
                  <a:cs typeface="Arial"/>
                  <a:sym typeface="Arial"/>
                </a:rPr>
                <a:t>~0.840</a:t>
              </a:r>
            </a:p>
          </p:txBody>
        </p:sp>
      </p:grpSp>
      <p:grpSp>
        <p:nvGrpSpPr>
          <p:cNvPr id="116" name="Group 116"/>
          <p:cNvGrpSpPr/>
          <p:nvPr/>
        </p:nvGrpSpPr>
        <p:grpSpPr>
          <a:xfrm>
            <a:off x="12416194" y="6951036"/>
            <a:ext cx="4473646" cy="762248"/>
            <a:chOff x="0" y="0"/>
            <a:chExt cx="6495631" cy="1106767"/>
          </a:xfrm>
        </p:grpSpPr>
        <p:sp>
          <p:nvSpPr>
            <p:cNvPr id="117" name="Freeform 117"/>
            <p:cNvSpPr/>
            <p:nvPr/>
          </p:nvSpPr>
          <p:spPr>
            <a:xfrm>
              <a:off x="16891" y="16891"/>
              <a:ext cx="6461760" cy="1072896"/>
            </a:xfrm>
            <a:custGeom>
              <a:avLst/>
              <a:gdLst/>
              <a:ahLst/>
              <a:cxnLst/>
              <a:rect l="l" t="t" r="r" b="b"/>
              <a:pathLst>
                <a:path w="6461760" h="1072896">
                  <a:moveTo>
                    <a:pt x="0" y="0"/>
                  </a:moveTo>
                  <a:lnTo>
                    <a:pt x="6461760" y="0"/>
                  </a:lnTo>
                  <a:lnTo>
                    <a:pt x="6461760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F4F7FB"/>
            </a:solidFill>
          </p:spPr>
        </p:sp>
        <p:sp>
          <p:nvSpPr>
            <p:cNvPr id="118" name="Freeform 118"/>
            <p:cNvSpPr/>
            <p:nvPr/>
          </p:nvSpPr>
          <p:spPr>
            <a:xfrm>
              <a:off x="0" y="0"/>
              <a:ext cx="6495542" cy="1106680"/>
            </a:xfrm>
            <a:custGeom>
              <a:avLst/>
              <a:gdLst/>
              <a:ahLst/>
              <a:cxnLst/>
              <a:rect l="l" t="t" r="r" b="b"/>
              <a:pathLst>
                <a:path w="6495542" h="1106680">
                  <a:moveTo>
                    <a:pt x="16891" y="0"/>
                  </a:moveTo>
                  <a:lnTo>
                    <a:pt x="6478651" y="0"/>
                  </a:lnTo>
                  <a:cubicBezTo>
                    <a:pt x="6488049" y="0"/>
                    <a:pt x="6495542" y="7620"/>
                    <a:pt x="6495542" y="16891"/>
                  </a:cubicBezTo>
                  <a:lnTo>
                    <a:pt x="6495542" y="1089787"/>
                  </a:lnTo>
                  <a:cubicBezTo>
                    <a:pt x="6495542" y="1099185"/>
                    <a:pt x="6487922" y="1106678"/>
                    <a:pt x="6478651" y="1106678"/>
                  </a:cubicBezTo>
                  <a:lnTo>
                    <a:pt x="16891" y="1106678"/>
                  </a:lnTo>
                  <a:cubicBezTo>
                    <a:pt x="7620" y="1106805"/>
                    <a:pt x="0" y="1099185"/>
                    <a:pt x="0" y="108978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89787"/>
                  </a:lnTo>
                  <a:lnTo>
                    <a:pt x="16891" y="1089787"/>
                  </a:lnTo>
                  <a:lnTo>
                    <a:pt x="16891" y="1072896"/>
                  </a:lnTo>
                  <a:lnTo>
                    <a:pt x="6478651" y="1072896"/>
                  </a:lnTo>
                  <a:lnTo>
                    <a:pt x="6478651" y="1089787"/>
                  </a:lnTo>
                  <a:lnTo>
                    <a:pt x="6461760" y="1089787"/>
                  </a:lnTo>
                  <a:lnTo>
                    <a:pt x="6461760" y="16891"/>
                  </a:lnTo>
                  <a:lnTo>
                    <a:pt x="6478651" y="16891"/>
                  </a:lnTo>
                  <a:lnTo>
                    <a:pt x="64786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8EC"/>
            </a:solidFill>
          </p:spPr>
        </p:sp>
      </p:grpSp>
      <p:grpSp>
        <p:nvGrpSpPr>
          <p:cNvPr id="119" name="Group 119"/>
          <p:cNvGrpSpPr/>
          <p:nvPr/>
        </p:nvGrpSpPr>
        <p:grpSpPr>
          <a:xfrm>
            <a:off x="12511821" y="6979489"/>
            <a:ext cx="4282382" cy="705333"/>
            <a:chOff x="0" y="0"/>
            <a:chExt cx="6217920" cy="1024128"/>
          </a:xfrm>
        </p:grpSpPr>
        <p:sp>
          <p:nvSpPr>
            <p:cNvPr id="120" name="Freeform 120"/>
            <p:cNvSpPr/>
            <p:nvPr/>
          </p:nvSpPr>
          <p:spPr>
            <a:xfrm>
              <a:off x="0" y="0"/>
              <a:ext cx="6217920" cy="1024128"/>
            </a:xfrm>
            <a:custGeom>
              <a:avLst/>
              <a:gdLst/>
              <a:ahLst/>
              <a:cxnLst/>
              <a:rect l="l" t="t" r="r" b="b"/>
              <a:pathLst>
                <a:path w="6217920" h="1024128">
                  <a:moveTo>
                    <a:pt x="0" y="0"/>
                  </a:moveTo>
                  <a:lnTo>
                    <a:pt x="6217920" y="0"/>
                  </a:lnTo>
                  <a:lnTo>
                    <a:pt x="62179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68302" b="-68302"/>
              </a:stretch>
            </a:blipFill>
          </p:spPr>
        </p:sp>
        <p:sp>
          <p:nvSpPr>
            <p:cNvPr id="121" name="TextBox 121"/>
            <p:cNvSpPr txBox="1"/>
            <p:nvPr/>
          </p:nvSpPr>
          <p:spPr>
            <a:xfrm>
              <a:off x="0" y="-9525"/>
              <a:ext cx="6217920" cy="10336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479"/>
                </a:lnSpc>
              </a:pPr>
              <a:r>
                <a:rPr lang="en-US" sz="2899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↑ +1.2%</a:t>
              </a:r>
            </a:p>
          </p:txBody>
        </p:sp>
      </p:grpSp>
      <p:grpSp>
        <p:nvGrpSpPr>
          <p:cNvPr id="122" name="Group 122"/>
          <p:cNvGrpSpPr/>
          <p:nvPr/>
        </p:nvGrpSpPr>
        <p:grpSpPr>
          <a:xfrm>
            <a:off x="1332382" y="7723544"/>
            <a:ext cx="3633963" cy="762248"/>
            <a:chOff x="0" y="0"/>
            <a:chExt cx="5276431" cy="1106767"/>
          </a:xfrm>
        </p:grpSpPr>
        <p:sp>
          <p:nvSpPr>
            <p:cNvPr id="123" name="Freeform 123"/>
            <p:cNvSpPr/>
            <p:nvPr/>
          </p:nvSpPr>
          <p:spPr>
            <a:xfrm>
              <a:off x="16891" y="16891"/>
              <a:ext cx="5242560" cy="1072896"/>
            </a:xfrm>
            <a:custGeom>
              <a:avLst/>
              <a:gdLst/>
              <a:ahLst/>
              <a:cxnLst/>
              <a:rect l="l" t="t" r="r" b="b"/>
              <a:pathLst>
                <a:path w="5242560" h="1072896">
                  <a:moveTo>
                    <a:pt x="0" y="0"/>
                  </a:moveTo>
                  <a:lnTo>
                    <a:pt x="5242560" y="0"/>
                  </a:lnTo>
                  <a:lnTo>
                    <a:pt x="5242560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24" name="Freeform 124"/>
            <p:cNvSpPr/>
            <p:nvPr/>
          </p:nvSpPr>
          <p:spPr>
            <a:xfrm>
              <a:off x="0" y="0"/>
              <a:ext cx="5276342" cy="1106680"/>
            </a:xfrm>
            <a:custGeom>
              <a:avLst/>
              <a:gdLst/>
              <a:ahLst/>
              <a:cxnLst/>
              <a:rect l="l" t="t" r="r" b="b"/>
              <a:pathLst>
                <a:path w="5276342" h="1106680">
                  <a:moveTo>
                    <a:pt x="16891" y="0"/>
                  </a:moveTo>
                  <a:lnTo>
                    <a:pt x="5259451" y="0"/>
                  </a:lnTo>
                  <a:cubicBezTo>
                    <a:pt x="5268849" y="0"/>
                    <a:pt x="5276342" y="7620"/>
                    <a:pt x="5276342" y="16891"/>
                  </a:cubicBezTo>
                  <a:lnTo>
                    <a:pt x="5276342" y="1089787"/>
                  </a:lnTo>
                  <a:cubicBezTo>
                    <a:pt x="5276342" y="1099185"/>
                    <a:pt x="5268722" y="1106678"/>
                    <a:pt x="5259451" y="1106678"/>
                  </a:cubicBezTo>
                  <a:lnTo>
                    <a:pt x="16891" y="1106678"/>
                  </a:lnTo>
                  <a:cubicBezTo>
                    <a:pt x="7620" y="1106805"/>
                    <a:pt x="0" y="1099185"/>
                    <a:pt x="0" y="108978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89787"/>
                  </a:lnTo>
                  <a:lnTo>
                    <a:pt x="16891" y="1089787"/>
                  </a:lnTo>
                  <a:lnTo>
                    <a:pt x="16891" y="1072896"/>
                  </a:lnTo>
                  <a:lnTo>
                    <a:pt x="5259451" y="1072896"/>
                  </a:lnTo>
                  <a:lnTo>
                    <a:pt x="5259451" y="1089787"/>
                  </a:lnTo>
                  <a:lnTo>
                    <a:pt x="5242560" y="1089787"/>
                  </a:lnTo>
                  <a:lnTo>
                    <a:pt x="5242560" y="16891"/>
                  </a:lnTo>
                  <a:lnTo>
                    <a:pt x="5259451" y="16891"/>
                  </a:lnTo>
                  <a:lnTo>
                    <a:pt x="5259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8EC"/>
            </a:solidFill>
          </p:spPr>
        </p:sp>
      </p:grpSp>
      <p:grpSp>
        <p:nvGrpSpPr>
          <p:cNvPr id="125" name="Group 125"/>
          <p:cNvGrpSpPr/>
          <p:nvPr/>
        </p:nvGrpSpPr>
        <p:grpSpPr>
          <a:xfrm>
            <a:off x="1428009" y="7751997"/>
            <a:ext cx="3442699" cy="705333"/>
            <a:chOff x="0" y="0"/>
            <a:chExt cx="4998720" cy="1024128"/>
          </a:xfrm>
        </p:grpSpPr>
        <p:sp>
          <p:nvSpPr>
            <p:cNvPr id="126" name="Freeform 126"/>
            <p:cNvSpPr/>
            <p:nvPr/>
          </p:nvSpPr>
          <p:spPr>
            <a:xfrm>
              <a:off x="0" y="0"/>
              <a:ext cx="4998720" cy="1024128"/>
            </a:xfrm>
            <a:custGeom>
              <a:avLst/>
              <a:gdLst/>
              <a:ahLst/>
              <a:cxnLst/>
              <a:rect l="l" t="t" r="r" b="b"/>
              <a:pathLst>
                <a:path w="4998720" h="1024128">
                  <a:moveTo>
                    <a:pt x="0" y="0"/>
                  </a:moveTo>
                  <a:lnTo>
                    <a:pt x="4998720" y="0"/>
                  </a:lnTo>
                  <a:lnTo>
                    <a:pt x="49987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5105" b="-45105"/>
              </a:stretch>
            </a:blipFill>
          </p:spPr>
        </p:sp>
        <p:sp>
          <p:nvSpPr>
            <p:cNvPr id="127" name="TextBox 127"/>
            <p:cNvSpPr txBox="1"/>
            <p:nvPr/>
          </p:nvSpPr>
          <p:spPr>
            <a:xfrm>
              <a:off x="0" y="-9525"/>
              <a:ext cx="4998720" cy="10336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479"/>
                </a:lnSpc>
              </a:pPr>
              <a:r>
                <a:rPr lang="en-US" sz="2899">
                  <a:solidFill>
                    <a:srgbClr val="1A2E5A"/>
                  </a:solidFill>
                  <a:latin typeface="Arial"/>
                  <a:ea typeface="Arial"/>
                  <a:cs typeface="Arial"/>
                  <a:sym typeface="Arial"/>
                </a:rPr>
                <a:t>Recall ổn định</a:t>
              </a:r>
            </a:p>
          </p:txBody>
        </p:sp>
      </p:grpSp>
      <p:grpSp>
        <p:nvGrpSpPr>
          <p:cNvPr id="128" name="Group 128"/>
          <p:cNvGrpSpPr/>
          <p:nvPr/>
        </p:nvGrpSpPr>
        <p:grpSpPr>
          <a:xfrm>
            <a:off x="5026986" y="7723544"/>
            <a:ext cx="3633963" cy="762248"/>
            <a:chOff x="0" y="0"/>
            <a:chExt cx="5276431" cy="1106767"/>
          </a:xfrm>
        </p:grpSpPr>
        <p:sp>
          <p:nvSpPr>
            <p:cNvPr id="129" name="Freeform 129"/>
            <p:cNvSpPr/>
            <p:nvPr/>
          </p:nvSpPr>
          <p:spPr>
            <a:xfrm>
              <a:off x="16891" y="16891"/>
              <a:ext cx="5242560" cy="1072896"/>
            </a:xfrm>
            <a:custGeom>
              <a:avLst/>
              <a:gdLst/>
              <a:ahLst/>
              <a:cxnLst/>
              <a:rect l="l" t="t" r="r" b="b"/>
              <a:pathLst>
                <a:path w="5242560" h="1072896">
                  <a:moveTo>
                    <a:pt x="0" y="0"/>
                  </a:moveTo>
                  <a:lnTo>
                    <a:pt x="5242560" y="0"/>
                  </a:lnTo>
                  <a:lnTo>
                    <a:pt x="5242560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30" name="Freeform 130"/>
            <p:cNvSpPr/>
            <p:nvPr/>
          </p:nvSpPr>
          <p:spPr>
            <a:xfrm>
              <a:off x="0" y="0"/>
              <a:ext cx="5276342" cy="1106680"/>
            </a:xfrm>
            <a:custGeom>
              <a:avLst/>
              <a:gdLst/>
              <a:ahLst/>
              <a:cxnLst/>
              <a:rect l="l" t="t" r="r" b="b"/>
              <a:pathLst>
                <a:path w="5276342" h="1106680">
                  <a:moveTo>
                    <a:pt x="16891" y="0"/>
                  </a:moveTo>
                  <a:lnTo>
                    <a:pt x="5259451" y="0"/>
                  </a:lnTo>
                  <a:cubicBezTo>
                    <a:pt x="5268849" y="0"/>
                    <a:pt x="5276342" y="7620"/>
                    <a:pt x="5276342" y="16891"/>
                  </a:cubicBezTo>
                  <a:lnTo>
                    <a:pt x="5276342" y="1089787"/>
                  </a:lnTo>
                  <a:cubicBezTo>
                    <a:pt x="5276342" y="1099185"/>
                    <a:pt x="5268722" y="1106678"/>
                    <a:pt x="5259451" y="1106678"/>
                  </a:cubicBezTo>
                  <a:lnTo>
                    <a:pt x="16891" y="1106678"/>
                  </a:lnTo>
                  <a:cubicBezTo>
                    <a:pt x="7620" y="1106805"/>
                    <a:pt x="0" y="1099185"/>
                    <a:pt x="0" y="108978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89787"/>
                  </a:lnTo>
                  <a:lnTo>
                    <a:pt x="16891" y="1089787"/>
                  </a:lnTo>
                  <a:lnTo>
                    <a:pt x="16891" y="1072896"/>
                  </a:lnTo>
                  <a:lnTo>
                    <a:pt x="5259451" y="1072896"/>
                  </a:lnTo>
                  <a:lnTo>
                    <a:pt x="5259451" y="1089787"/>
                  </a:lnTo>
                  <a:lnTo>
                    <a:pt x="5242560" y="1089787"/>
                  </a:lnTo>
                  <a:lnTo>
                    <a:pt x="5242560" y="16891"/>
                  </a:lnTo>
                  <a:lnTo>
                    <a:pt x="5259451" y="16891"/>
                  </a:lnTo>
                  <a:lnTo>
                    <a:pt x="5259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8EC"/>
            </a:solidFill>
          </p:spPr>
        </p:sp>
      </p:grpSp>
      <p:grpSp>
        <p:nvGrpSpPr>
          <p:cNvPr id="131" name="Group 131"/>
          <p:cNvGrpSpPr/>
          <p:nvPr/>
        </p:nvGrpSpPr>
        <p:grpSpPr>
          <a:xfrm>
            <a:off x="5122613" y="7751997"/>
            <a:ext cx="3442699" cy="705333"/>
            <a:chOff x="0" y="0"/>
            <a:chExt cx="4998720" cy="1024128"/>
          </a:xfrm>
        </p:grpSpPr>
        <p:sp>
          <p:nvSpPr>
            <p:cNvPr id="132" name="Freeform 132"/>
            <p:cNvSpPr/>
            <p:nvPr/>
          </p:nvSpPr>
          <p:spPr>
            <a:xfrm>
              <a:off x="0" y="0"/>
              <a:ext cx="4998720" cy="1024128"/>
            </a:xfrm>
            <a:custGeom>
              <a:avLst/>
              <a:gdLst/>
              <a:ahLst/>
              <a:cxnLst/>
              <a:rect l="l" t="t" r="r" b="b"/>
              <a:pathLst>
                <a:path w="4998720" h="1024128">
                  <a:moveTo>
                    <a:pt x="0" y="0"/>
                  </a:moveTo>
                  <a:lnTo>
                    <a:pt x="4998720" y="0"/>
                  </a:lnTo>
                  <a:lnTo>
                    <a:pt x="49987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5105" b="-45105"/>
              </a:stretch>
            </a:blipFill>
          </p:spPr>
        </p:sp>
        <p:sp>
          <p:nvSpPr>
            <p:cNvPr id="133" name="TextBox 133"/>
            <p:cNvSpPr txBox="1"/>
            <p:nvPr/>
          </p:nvSpPr>
          <p:spPr>
            <a:xfrm>
              <a:off x="0" y="-9525"/>
              <a:ext cx="4998720" cy="10336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479"/>
                </a:lnSpc>
              </a:pPr>
              <a:r>
                <a:rPr lang="en-US" sz="2899">
                  <a:solidFill>
                    <a:srgbClr val="1A2E5A"/>
                  </a:solidFill>
                  <a:latin typeface="Arial"/>
                  <a:ea typeface="Arial"/>
                  <a:cs typeface="Arial"/>
                  <a:sym typeface="Arial"/>
                </a:rPr>
                <a:t>Giảm tại conf &gt; 0.8</a:t>
              </a:r>
            </a:p>
          </p:txBody>
        </p:sp>
      </p:grpSp>
      <p:grpSp>
        <p:nvGrpSpPr>
          <p:cNvPr id="134" name="Group 134"/>
          <p:cNvGrpSpPr/>
          <p:nvPr/>
        </p:nvGrpSpPr>
        <p:grpSpPr>
          <a:xfrm>
            <a:off x="8721590" y="7723544"/>
            <a:ext cx="3633963" cy="762248"/>
            <a:chOff x="0" y="0"/>
            <a:chExt cx="5276431" cy="1106767"/>
          </a:xfrm>
        </p:grpSpPr>
        <p:sp>
          <p:nvSpPr>
            <p:cNvPr id="135" name="Freeform 135"/>
            <p:cNvSpPr/>
            <p:nvPr/>
          </p:nvSpPr>
          <p:spPr>
            <a:xfrm>
              <a:off x="16891" y="16891"/>
              <a:ext cx="5242560" cy="1072896"/>
            </a:xfrm>
            <a:custGeom>
              <a:avLst/>
              <a:gdLst/>
              <a:ahLst/>
              <a:cxnLst/>
              <a:rect l="l" t="t" r="r" b="b"/>
              <a:pathLst>
                <a:path w="5242560" h="1072896">
                  <a:moveTo>
                    <a:pt x="0" y="0"/>
                  </a:moveTo>
                  <a:lnTo>
                    <a:pt x="5242560" y="0"/>
                  </a:lnTo>
                  <a:lnTo>
                    <a:pt x="5242560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36" name="Freeform 136"/>
            <p:cNvSpPr/>
            <p:nvPr/>
          </p:nvSpPr>
          <p:spPr>
            <a:xfrm>
              <a:off x="0" y="0"/>
              <a:ext cx="5276342" cy="1106680"/>
            </a:xfrm>
            <a:custGeom>
              <a:avLst/>
              <a:gdLst/>
              <a:ahLst/>
              <a:cxnLst/>
              <a:rect l="l" t="t" r="r" b="b"/>
              <a:pathLst>
                <a:path w="5276342" h="1106680">
                  <a:moveTo>
                    <a:pt x="16891" y="0"/>
                  </a:moveTo>
                  <a:lnTo>
                    <a:pt x="5259451" y="0"/>
                  </a:lnTo>
                  <a:cubicBezTo>
                    <a:pt x="5268849" y="0"/>
                    <a:pt x="5276342" y="7620"/>
                    <a:pt x="5276342" y="16891"/>
                  </a:cubicBezTo>
                  <a:lnTo>
                    <a:pt x="5276342" y="1089787"/>
                  </a:lnTo>
                  <a:cubicBezTo>
                    <a:pt x="5276342" y="1099185"/>
                    <a:pt x="5268722" y="1106678"/>
                    <a:pt x="5259451" y="1106678"/>
                  </a:cubicBezTo>
                  <a:lnTo>
                    <a:pt x="16891" y="1106678"/>
                  </a:lnTo>
                  <a:cubicBezTo>
                    <a:pt x="7620" y="1106805"/>
                    <a:pt x="0" y="1099185"/>
                    <a:pt x="0" y="108978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89787"/>
                  </a:lnTo>
                  <a:lnTo>
                    <a:pt x="16891" y="1089787"/>
                  </a:lnTo>
                  <a:lnTo>
                    <a:pt x="16891" y="1072896"/>
                  </a:lnTo>
                  <a:lnTo>
                    <a:pt x="5259451" y="1072896"/>
                  </a:lnTo>
                  <a:lnTo>
                    <a:pt x="5259451" y="1089787"/>
                  </a:lnTo>
                  <a:lnTo>
                    <a:pt x="5242560" y="1089787"/>
                  </a:lnTo>
                  <a:lnTo>
                    <a:pt x="5242560" y="16891"/>
                  </a:lnTo>
                  <a:lnTo>
                    <a:pt x="5259451" y="16891"/>
                  </a:lnTo>
                  <a:lnTo>
                    <a:pt x="5259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8EC"/>
            </a:solidFill>
          </p:spPr>
        </p:sp>
      </p:grpSp>
      <p:grpSp>
        <p:nvGrpSpPr>
          <p:cNvPr id="137" name="Group 137"/>
          <p:cNvGrpSpPr/>
          <p:nvPr/>
        </p:nvGrpSpPr>
        <p:grpSpPr>
          <a:xfrm>
            <a:off x="8817217" y="7751997"/>
            <a:ext cx="3442699" cy="705333"/>
            <a:chOff x="0" y="0"/>
            <a:chExt cx="4998720" cy="1024128"/>
          </a:xfrm>
        </p:grpSpPr>
        <p:sp>
          <p:nvSpPr>
            <p:cNvPr id="138" name="Freeform 138"/>
            <p:cNvSpPr/>
            <p:nvPr/>
          </p:nvSpPr>
          <p:spPr>
            <a:xfrm>
              <a:off x="0" y="0"/>
              <a:ext cx="4998720" cy="1024128"/>
            </a:xfrm>
            <a:custGeom>
              <a:avLst/>
              <a:gdLst/>
              <a:ahLst/>
              <a:cxnLst/>
              <a:rect l="l" t="t" r="r" b="b"/>
              <a:pathLst>
                <a:path w="4998720" h="1024128">
                  <a:moveTo>
                    <a:pt x="0" y="0"/>
                  </a:moveTo>
                  <a:lnTo>
                    <a:pt x="4998720" y="0"/>
                  </a:lnTo>
                  <a:lnTo>
                    <a:pt x="49987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5105" b="-45105"/>
              </a:stretch>
            </a:blipFill>
          </p:spPr>
        </p:sp>
        <p:sp>
          <p:nvSpPr>
            <p:cNvPr id="139" name="TextBox 139"/>
            <p:cNvSpPr txBox="1"/>
            <p:nvPr/>
          </p:nvSpPr>
          <p:spPr>
            <a:xfrm>
              <a:off x="0" y="-9525"/>
              <a:ext cx="4998720" cy="10336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479"/>
                </a:lnSpc>
              </a:pPr>
              <a:r>
                <a:rPr lang="en-US" sz="2899">
                  <a:solidFill>
                    <a:srgbClr val="1A2E5A"/>
                  </a:solidFill>
                  <a:latin typeface="Arial"/>
                  <a:ea typeface="Arial"/>
                  <a:cs typeface="Arial"/>
                  <a:sym typeface="Arial"/>
                </a:rPr>
                <a:t>Giữ vững &gt; 0.85</a:t>
              </a:r>
            </a:p>
          </p:txBody>
        </p:sp>
      </p:grpSp>
      <p:grpSp>
        <p:nvGrpSpPr>
          <p:cNvPr id="140" name="Group 140"/>
          <p:cNvGrpSpPr/>
          <p:nvPr/>
        </p:nvGrpSpPr>
        <p:grpSpPr>
          <a:xfrm>
            <a:off x="12416194" y="7723544"/>
            <a:ext cx="4473646" cy="762248"/>
            <a:chOff x="0" y="0"/>
            <a:chExt cx="6495631" cy="1106767"/>
          </a:xfrm>
        </p:grpSpPr>
        <p:sp>
          <p:nvSpPr>
            <p:cNvPr id="141" name="Freeform 141"/>
            <p:cNvSpPr/>
            <p:nvPr/>
          </p:nvSpPr>
          <p:spPr>
            <a:xfrm>
              <a:off x="16891" y="16891"/>
              <a:ext cx="6461760" cy="1072896"/>
            </a:xfrm>
            <a:custGeom>
              <a:avLst/>
              <a:gdLst/>
              <a:ahLst/>
              <a:cxnLst/>
              <a:rect l="l" t="t" r="r" b="b"/>
              <a:pathLst>
                <a:path w="6461760" h="1072896">
                  <a:moveTo>
                    <a:pt x="0" y="0"/>
                  </a:moveTo>
                  <a:lnTo>
                    <a:pt x="6461760" y="0"/>
                  </a:lnTo>
                  <a:lnTo>
                    <a:pt x="6461760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42" name="Freeform 142"/>
            <p:cNvSpPr/>
            <p:nvPr/>
          </p:nvSpPr>
          <p:spPr>
            <a:xfrm>
              <a:off x="0" y="0"/>
              <a:ext cx="6495542" cy="1106680"/>
            </a:xfrm>
            <a:custGeom>
              <a:avLst/>
              <a:gdLst/>
              <a:ahLst/>
              <a:cxnLst/>
              <a:rect l="l" t="t" r="r" b="b"/>
              <a:pathLst>
                <a:path w="6495542" h="1106680">
                  <a:moveTo>
                    <a:pt x="16891" y="0"/>
                  </a:moveTo>
                  <a:lnTo>
                    <a:pt x="6478651" y="0"/>
                  </a:lnTo>
                  <a:cubicBezTo>
                    <a:pt x="6488049" y="0"/>
                    <a:pt x="6495542" y="7620"/>
                    <a:pt x="6495542" y="16891"/>
                  </a:cubicBezTo>
                  <a:lnTo>
                    <a:pt x="6495542" y="1089787"/>
                  </a:lnTo>
                  <a:cubicBezTo>
                    <a:pt x="6495542" y="1099185"/>
                    <a:pt x="6487922" y="1106678"/>
                    <a:pt x="6478651" y="1106678"/>
                  </a:cubicBezTo>
                  <a:lnTo>
                    <a:pt x="16891" y="1106678"/>
                  </a:lnTo>
                  <a:cubicBezTo>
                    <a:pt x="7620" y="1106805"/>
                    <a:pt x="0" y="1099185"/>
                    <a:pt x="0" y="108978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89787"/>
                  </a:lnTo>
                  <a:lnTo>
                    <a:pt x="16891" y="1089787"/>
                  </a:lnTo>
                  <a:lnTo>
                    <a:pt x="16891" y="1072896"/>
                  </a:lnTo>
                  <a:lnTo>
                    <a:pt x="6478651" y="1072896"/>
                  </a:lnTo>
                  <a:lnTo>
                    <a:pt x="6478651" y="1089787"/>
                  </a:lnTo>
                  <a:lnTo>
                    <a:pt x="6461760" y="1089787"/>
                  </a:lnTo>
                  <a:lnTo>
                    <a:pt x="6461760" y="16891"/>
                  </a:lnTo>
                  <a:lnTo>
                    <a:pt x="6478651" y="16891"/>
                  </a:lnTo>
                  <a:lnTo>
                    <a:pt x="64786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8EC"/>
            </a:solidFill>
          </p:spPr>
        </p:sp>
      </p:grpSp>
      <p:grpSp>
        <p:nvGrpSpPr>
          <p:cNvPr id="143" name="Group 143"/>
          <p:cNvGrpSpPr/>
          <p:nvPr/>
        </p:nvGrpSpPr>
        <p:grpSpPr>
          <a:xfrm>
            <a:off x="12511821" y="7751997"/>
            <a:ext cx="4282382" cy="705333"/>
            <a:chOff x="0" y="0"/>
            <a:chExt cx="6217920" cy="1024128"/>
          </a:xfrm>
        </p:grpSpPr>
        <p:sp>
          <p:nvSpPr>
            <p:cNvPr id="144" name="Freeform 144"/>
            <p:cNvSpPr/>
            <p:nvPr/>
          </p:nvSpPr>
          <p:spPr>
            <a:xfrm>
              <a:off x="0" y="0"/>
              <a:ext cx="6217920" cy="1024128"/>
            </a:xfrm>
            <a:custGeom>
              <a:avLst/>
              <a:gdLst/>
              <a:ahLst/>
              <a:cxnLst/>
              <a:rect l="l" t="t" r="r" b="b"/>
              <a:pathLst>
                <a:path w="6217920" h="1024128">
                  <a:moveTo>
                    <a:pt x="0" y="0"/>
                  </a:moveTo>
                  <a:lnTo>
                    <a:pt x="6217920" y="0"/>
                  </a:lnTo>
                  <a:lnTo>
                    <a:pt x="62179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68302" b="-68302"/>
              </a:stretch>
            </a:blipFill>
          </p:spPr>
        </p:sp>
        <p:sp>
          <p:nvSpPr>
            <p:cNvPr id="145" name="TextBox 145"/>
            <p:cNvSpPr txBox="1"/>
            <p:nvPr/>
          </p:nvSpPr>
          <p:spPr>
            <a:xfrm>
              <a:off x="0" y="-9525"/>
              <a:ext cx="6217920" cy="10336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479"/>
                </a:lnSpc>
              </a:pPr>
              <a:r>
                <a:rPr lang="en-US" sz="2899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↑ Ổn định hơn</a:t>
              </a:r>
            </a:p>
          </p:txBody>
        </p:sp>
      </p:grpSp>
      <p:grpSp>
        <p:nvGrpSpPr>
          <p:cNvPr id="146" name="Group 146"/>
          <p:cNvGrpSpPr/>
          <p:nvPr/>
        </p:nvGrpSpPr>
        <p:grpSpPr>
          <a:xfrm>
            <a:off x="1332382" y="8496052"/>
            <a:ext cx="3633963" cy="762248"/>
            <a:chOff x="0" y="0"/>
            <a:chExt cx="5276431" cy="1106767"/>
          </a:xfrm>
        </p:grpSpPr>
        <p:sp>
          <p:nvSpPr>
            <p:cNvPr id="147" name="Freeform 147"/>
            <p:cNvSpPr/>
            <p:nvPr/>
          </p:nvSpPr>
          <p:spPr>
            <a:xfrm>
              <a:off x="16891" y="16891"/>
              <a:ext cx="5242560" cy="1072896"/>
            </a:xfrm>
            <a:custGeom>
              <a:avLst/>
              <a:gdLst/>
              <a:ahLst/>
              <a:cxnLst/>
              <a:rect l="l" t="t" r="r" b="b"/>
              <a:pathLst>
                <a:path w="5242560" h="1072896">
                  <a:moveTo>
                    <a:pt x="0" y="0"/>
                  </a:moveTo>
                  <a:lnTo>
                    <a:pt x="5242560" y="0"/>
                  </a:lnTo>
                  <a:lnTo>
                    <a:pt x="5242560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F4F7FB"/>
            </a:solidFill>
          </p:spPr>
        </p:sp>
        <p:sp>
          <p:nvSpPr>
            <p:cNvPr id="148" name="Freeform 148"/>
            <p:cNvSpPr/>
            <p:nvPr/>
          </p:nvSpPr>
          <p:spPr>
            <a:xfrm>
              <a:off x="0" y="0"/>
              <a:ext cx="5276342" cy="1106680"/>
            </a:xfrm>
            <a:custGeom>
              <a:avLst/>
              <a:gdLst/>
              <a:ahLst/>
              <a:cxnLst/>
              <a:rect l="l" t="t" r="r" b="b"/>
              <a:pathLst>
                <a:path w="5276342" h="1106680">
                  <a:moveTo>
                    <a:pt x="16891" y="0"/>
                  </a:moveTo>
                  <a:lnTo>
                    <a:pt x="5259451" y="0"/>
                  </a:lnTo>
                  <a:cubicBezTo>
                    <a:pt x="5268849" y="0"/>
                    <a:pt x="5276342" y="7620"/>
                    <a:pt x="5276342" y="16891"/>
                  </a:cubicBezTo>
                  <a:lnTo>
                    <a:pt x="5276342" y="1089787"/>
                  </a:lnTo>
                  <a:cubicBezTo>
                    <a:pt x="5276342" y="1099185"/>
                    <a:pt x="5268722" y="1106678"/>
                    <a:pt x="5259451" y="1106678"/>
                  </a:cubicBezTo>
                  <a:lnTo>
                    <a:pt x="16891" y="1106678"/>
                  </a:lnTo>
                  <a:cubicBezTo>
                    <a:pt x="7620" y="1106805"/>
                    <a:pt x="0" y="1099185"/>
                    <a:pt x="0" y="108978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89787"/>
                  </a:lnTo>
                  <a:lnTo>
                    <a:pt x="16891" y="1089787"/>
                  </a:lnTo>
                  <a:lnTo>
                    <a:pt x="16891" y="1072896"/>
                  </a:lnTo>
                  <a:lnTo>
                    <a:pt x="5259451" y="1072896"/>
                  </a:lnTo>
                  <a:lnTo>
                    <a:pt x="5259451" y="1089787"/>
                  </a:lnTo>
                  <a:lnTo>
                    <a:pt x="5242560" y="1089787"/>
                  </a:lnTo>
                  <a:lnTo>
                    <a:pt x="5242560" y="16891"/>
                  </a:lnTo>
                  <a:lnTo>
                    <a:pt x="5259451" y="16891"/>
                  </a:lnTo>
                  <a:lnTo>
                    <a:pt x="5259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8EC"/>
            </a:solidFill>
          </p:spPr>
        </p:sp>
      </p:grpSp>
      <p:grpSp>
        <p:nvGrpSpPr>
          <p:cNvPr id="149" name="Group 149"/>
          <p:cNvGrpSpPr/>
          <p:nvPr/>
        </p:nvGrpSpPr>
        <p:grpSpPr>
          <a:xfrm>
            <a:off x="1428009" y="8524505"/>
            <a:ext cx="3442699" cy="705333"/>
            <a:chOff x="0" y="0"/>
            <a:chExt cx="4998720" cy="1024128"/>
          </a:xfrm>
        </p:grpSpPr>
        <p:sp>
          <p:nvSpPr>
            <p:cNvPr id="150" name="Freeform 150"/>
            <p:cNvSpPr/>
            <p:nvPr/>
          </p:nvSpPr>
          <p:spPr>
            <a:xfrm>
              <a:off x="0" y="0"/>
              <a:ext cx="4998720" cy="1024128"/>
            </a:xfrm>
            <a:custGeom>
              <a:avLst/>
              <a:gdLst/>
              <a:ahLst/>
              <a:cxnLst/>
              <a:rect l="l" t="t" r="r" b="b"/>
              <a:pathLst>
                <a:path w="4998720" h="1024128">
                  <a:moveTo>
                    <a:pt x="0" y="0"/>
                  </a:moveTo>
                  <a:lnTo>
                    <a:pt x="4998720" y="0"/>
                  </a:lnTo>
                  <a:lnTo>
                    <a:pt x="49987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5105" b="-45105"/>
              </a:stretch>
            </a:blipFill>
          </p:spPr>
        </p:sp>
        <p:sp>
          <p:nvSpPr>
            <p:cNvPr id="151" name="TextBox 151"/>
            <p:cNvSpPr txBox="1"/>
            <p:nvPr/>
          </p:nvSpPr>
          <p:spPr>
            <a:xfrm>
              <a:off x="0" y="-9525"/>
              <a:ext cx="4998720" cy="10336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479"/>
                </a:lnSpc>
              </a:pPr>
              <a:r>
                <a:rPr lang="en-US" sz="2899">
                  <a:solidFill>
                    <a:srgbClr val="1A2E5A"/>
                  </a:solidFill>
                  <a:latin typeface="Arial"/>
                  <a:ea typeface="Arial"/>
                  <a:cs typeface="Arial"/>
                  <a:sym typeface="Arial"/>
                </a:rPr>
                <a:t>Lỗi nhầm lẫn</a:t>
              </a:r>
            </a:p>
          </p:txBody>
        </p:sp>
      </p:grpSp>
      <p:grpSp>
        <p:nvGrpSpPr>
          <p:cNvPr id="152" name="Group 152"/>
          <p:cNvGrpSpPr/>
          <p:nvPr/>
        </p:nvGrpSpPr>
        <p:grpSpPr>
          <a:xfrm>
            <a:off x="5026986" y="8496052"/>
            <a:ext cx="3633963" cy="762248"/>
            <a:chOff x="0" y="0"/>
            <a:chExt cx="5276431" cy="1106767"/>
          </a:xfrm>
        </p:grpSpPr>
        <p:sp>
          <p:nvSpPr>
            <p:cNvPr id="153" name="Freeform 153"/>
            <p:cNvSpPr/>
            <p:nvPr/>
          </p:nvSpPr>
          <p:spPr>
            <a:xfrm>
              <a:off x="16891" y="16891"/>
              <a:ext cx="5242560" cy="1072896"/>
            </a:xfrm>
            <a:custGeom>
              <a:avLst/>
              <a:gdLst/>
              <a:ahLst/>
              <a:cxnLst/>
              <a:rect l="l" t="t" r="r" b="b"/>
              <a:pathLst>
                <a:path w="5242560" h="1072896">
                  <a:moveTo>
                    <a:pt x="0" y="0"/>
                  </a:moveTo>
                  <a:lnTo>
                    <a:pt x="5242560" y="0"/>
                  </a:lnTo>
                  <a:lnTo>
                    <a:pt x="5242560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F4F7FB"/>
            </a:solidFill>
          </p:spPr>
        </p:sp>
        <p:sp>
          <p:nvSpPr>
            <p:cNvPr id="154" name="Freeform 154"/>
            <p:cNvSpPr/>
            <p:nvPr/>
          </p:nvSpPr>
          <p:spPr>
            <a:xfrm>
              <a:off x="0" y="0"/>
              <a:ext cx="5276342" cy="1106680"/>
            </a:xfrm>
            <a:custGeom>
              <a:avLst/>
              <a:gdLst/>
              <a:ahLst/>
              <a:cxnLst/>
              <a:rect l="l" t="t" r="r" b="b"/>
              <a:pathLst>
                <a:path w="5276342" h="1106680">
                  <a:moveTo>
                    <a:pt x="16891" y="0"/>
                  </a:moveTo>
                  <a:lnTo>
                    <a:pt x="5259451" y="0"/>
                  </a:lnTo>
                  <a:cubicBezTo>
                    <a:pt x="5268849" y="0"/>
                    <a:pt x="5276342" y="7620"/>
                    <a:pt x="5276342" y="16891"/>
                  </a:cubicBezTo>
                  <a:lnTo>
                    <a:pt x="5276342" y="1089787"/>
                  </a:lnTo>
                  <a:cubicBezTo>
                    <a:pt x="5276342" y="1099185"/>
                    <a:pt x="5268722" y="1106678"/>
                    <a:pt x="5259451" y="1106678"/>
                  </a:cubicBezTo>
                  <a:lnTo>
                    <a:pt x="16891" y="1106678"/>
                  </a:lnTo>
                  <a:cubicBezTo>
                    <a:pt x="7620" y="1106805"/>
                    <a:pt x="0" y="1099185"/>
                    <a:pt x="0" y="108978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89787"/>
                  </a:lnTo>
                  <a:lnTo>
                    <a:pt x="16891" y="1089787"/>
                  </a:lnTo>
                  <a:lnTo>
                    <a:pt x="16891" y="1072896"/>
                  </a:lnTo>
                  <a:lnTo>
                    <a:pt x="5259451" y="1072896"/>
                  </a:lnTo>
                  <a:lnTo>
                    <a:pt x="5259451" y="1089787"/>
                  </a:lnTo>
                  <a:lnTo>
                    <a:pt x="5242560" y="1089787"/>
                  </a:lnTo>
                  <a:lnTo>
                    <a:pt x="5242560" y="16891"/>
                  </a:lnTo>
                  <a:lnTo>
                    <a:pt x="5259451" y="16891"/>
                  </a:lnTo>
                  <a:lnTo>
                    <a:pt x="5259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8EC"/>
            </a:solidFill>
          </p:spPr>
        </p:sp>
      </p:grpSp>
      <p:grpSp>
        <p:nvGrpSpPr>
          <p:cNvPr id="155" name="Group 155"/>
          <p:cNvGrpSpPr/>
          <p:nvPr/>
        </p:nvGrpSpPr>
        <p:grpSpPr>
          <a:xfrm>
            <a:off x="5122613" y="8524505"/>
            <a:ext cx="3442699" cy="705333"/>
            <a:chOff x="0" y="0"/>
            <a:chExt cx="4998720" cy="1024128"/>
          </a:xfrm>
        </p:grpSpPr>
        <p:sp>
          <p:nvSpPr>
            <p:cNvPr id="156" name="Freeform 156"/>
            <p:cNvSpPr/>
            <p:nvPr/>
          </p:nvSpPr>
          <p:spPr>
            <a:xfrm>
              <a:off x="0" y="0"/>
              <a:ext cx="4998720" cy="1024128"/>
            </a:xfrm>
            <a:custGeom>
              <a:avLst/>
              <a:gdLst/>
              <a:ahLst/>
              <a:cxnLst/>
              <a:rect l="l" t="t" r="r" b="b"/>
              <a:pathLst>
                <a:path w="4998720" h="1024128">
                  <a:moveTo>
                    <a:pt x="0" y="0"/>
                  </a:moveTo>
                  <a:lnTo>
                    <a:pt x="4998720" y="0"/>
                  </a:lnTo>
                  <a:lnTo>
                    <a:pt x="49987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5105" b="-45105"/>
              </a:stretch>
            </a:blipFill>
          </p:spPr>
        </p:sp>
        <p:sp>
          <p:nvSpPr>
            <p:cNvPr id="157" name="TextBox 157"/>
            <p:cNvSpPr txBox="1"/>
            <p:nvPr/>
          </p:nvSpPr>
          <p:spPr>
            <a:xfrm>
              <a:off x="0" y="-9525"/>
              <a:ext cx="4998720" cy="10336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479"/>
                </a:lnSpc>
              </a:pPr>
              <a:r>
                <a:rPr lang="en-US" sz="2899">
                  <a:solidFill>
                    <a:srgbClr val="1A2E5A"/>
                  </a:solidFill>
                  <a:latin typeface="Arial"/>
                  <a:ea typeface="Arial"/>
                  <a:cs typeface="Arial"/>
                  <a:sym typeface="Arial"/>
                </a:rPr>
                <a:t>palm ↔ like</a:t>
              </a:r>
            </a:p>
          </p:txBody>
        </p:sp>
      </p:grpSp>
      <p:grpSp>
        <p:nvGrpSpPr>
          <p:cNvPr id="158" name="Group 158"/>
          <p:cNvGrpSpPr/>
          <p:nvPr/>
        </p:nvGrpSpPr>
        <p:grpSpPr>
          <a:xfrm>
            <a:off x="8721590" y="8496052"/>
            <a:ext cx="3633963" cy="762248"/>
            <a:chOff x="0" y="0"/>
            <a:chExt cx="5276431" cy="1106767"/>
          </a:xfrm>
        </p:grpSpPr>
        <p:sp>
          <p:nvSpPr>
            <p:cNvPr id="159" name="Freeform 159"/>
            <p:cNvSpPr/>
            <p:nvPr/>
          </p:nvSpPr>
          <p:spPr>
            <a:xfrm>
              <a:off x="16891" y="16891"/>
              <a:ext cx="5242560" cy="1072896"/>
            </a:xfrm>
            <a:custGeom>
              <a:avLst/>
              <a:gdLst/>
              <a:ahLst/>
              <a:cxnLst/>
              <a:rect l="l" t="t" r="r" b="b"/>
              <a:pathLst>
                <a:path w="5242560" h="1072896">
                  <a:moveTo>
                    <a:pt x="0" y="0"/>
                  </a:moveTo>
                  <a:lnTo>
                    <a:pt x="5242560" y="0"/>
                  </a:lnTo>
                  <a:lnTo>
                    <a:pt x="5242560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F4F7FB"/>
            </a:solidFill>
          </p:spPr>
        </p:sp>
        <p:sp>
          <p:nvSpPr>
            <p:cNvPr id="160" name="Freeform 160"/>
            <p:cNvSpPr/>
            <p:nvPr/>
          </p:nvSpPr>
          <p:spPr>
            <a:xfrm>
              <a:off x="0" y="0"/>
              <a:ext cx="5276342" cy="1106680"/>
            </a:xfrm>
            <a:custGeom>
              <a:avLst/>
              <a:gdLst/>
              <a:ahLst/>
              <a:cxnLst/>
              <a:rect l="l" t="t" r="r" b="b"/>
              <a:pathLst>
                <a:path w="5276342" h="1106680">
                  <a:moveTo>
                    <a:pt x="16891" y="0"/>
                  </a:moveTo>
                  <a:lnTo>
                    <a:pt x="5259451" y="0"/>
                  </a:lnTo>
                  <a:cubicBezTo>
                    <a:pt x="5268849" y="0"/>
                    <a:pt x="5276342" y="7620"/>
                    <a:pt x="5276342" y="16891"/>
                  </a:cubicBezTo>
                  <a:lnTo>
                    <a:pt x="5276342" y="1089787"/>
                  </a:lnTo>
                  <a:cubicBezTo>
                    <a:pt x="5276342" y="1099185"/>
                    <a:pt x="5268722" y="1106678"/>
                    <a:pt x="5259451" y="1106678"/>
                  </a:cubicBezTo>
                  <a:lnTo>
                    <a:pt x="16891" y="1106678"/>
                  </a:lnTo>
                  <a:cubicBezTo>
                    <a:pt x="7620" y="1106805"/>
                    <a:pt x="0" y="1099185"/>
                    <a:pt x="0" y="108978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89787"/>
                  </a:lnTo>
                  <a:lnTo>
                    <a:pt x="16891" y="1089787"/>
                  </a:lnTo>
                  <a:lnTo>
                    <a:pt x="16891" y="1072896"/>
                  </a:lnTo>
                  <a:lnTo>
                    <a:pt x="5259451" y="1072896"/>
                  </a:lnTo>
                  <a:lnTo>
                    <a:pt x="5259451" y="1089787"/>
                  </a:lnTo>
                  <a:lnTo>
                    <a:pt x="5242560" y="1089787"/>
                  </a:lnTo>
                  <a:lnTo>
                    <a:pt x="5242560" y="16891"/>
                  </a:lnTo>
                  <a:lnTo>
                    <a:pt x="5259451" y="16891"/>
                  </a:lnTo>
                  <a:lnTo>
                    <a:pt x="5259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8EC"/>
            </a:solidFill>
          </p:spPr>
        </p:sp>
      </p:grpSp>
      <p:grpSp>
        <p:nvGrpSpPr>
          <p:cNvPr id="161" name="Group 161"/>
          <p:cNvGrpSpPr/>
          <p:nvPr/>
        </p:nvGrpSpPr>
        <p:grpSpPr>
          <a:xfrm>
            <a:off x="8817217" y="8524505"/>
            <a:ext cx="3442699" cy="705333"/>
            <a:chOff x="0" y="0"/>
            <a:chExt cx="4998720" cy="1024128"/>
          </a:xfrm>
        </p:grpSpPr>
        <p:sp>
          <p:nvSpPr>
            <p:cNvPr id="162" name="Freeform 162"/>
            <p:cNvSpPr/>
            <p:nvPr/>
          </p:nvSpPr>
          <p:spPr>
            <a:xfrm>
              <a:off x="0" y="0"/>
              <a:ext cx="4998720" cy="1024128"/>
            </a:xfrm>
            <a:custGeom>
              <a:avLst/>
              <a:gdLst/>
              <a:ahLst/>
              <a:cxnLst/>
              <a:rect l="l" t="t" r="r" b="b"/>
              <a:pathLst>
                <a:path w="4998720" h="1024128">
                  <a:moveTo>
                    <a:pt x="0" y="0"/>
                  </a:moveTo>
                  <a:lnTo>
                    <a:pt x="4998720" y="0"/>
                  </a:lnTo>
                  <a:lnTo>
                    <a:pt x="49987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5105" b="-45105"/>
              </a:stretch>
            </a:blipFill>
          </p:spPr>
        </p:sp>
        <p:sp>
          <p:nvSpPr>
            <p:cNvPr id="163" name="TextBox 163"/>
            <p:cNvSpPr txBox="1"/>
            <p:nvPr/>
          </p:nvSpPr>
          <p:spPr>
            <a:xfrm>
              <a:off x="0" y="-9525"/>
              <a:ext cx="4998720" cy="10336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479"/>
                </a:lnSpc>
              </a:pPr>
              <a:r>
                <a:rPr lang="en-US" sz="2899">
                  <a:solidFill>
                    <a:srgbClr val="1A2E5A"/>
                  </a:solidFill>
                  <a:latin typeface="Arial"/>
                  <a:ea typeface="Arial"/>
                  <a:cs typeface="Arial"/>
                  <a:sym typeface="Arial"/>
                </a:rPr>
                <a:t>Giảm đáng kể</a:t>
              </a:r>
            </a:p>
          </p:txBody>
        </p:sp>
      </p:grpSp>
      <p:grpSp>
        <p:nvGrpSpPr>
          <p:cNvPr id="164" name="Group 164"/>
          <p:cNvGrpSpPr/>
          <p:nvPr/>
        </p:nvGrpSpPr>
        <p:grpSpPr>
          <a:xfrm>
            <a:off x="12416194" y="8496052"/>
            <a:ext cx="4473646" cy="762248"/>
            <a:chOff x="0" y="0"/>
            <a:chExt cx="6495631" cy="1106767"/>
          </a:xfrm>
        </p:grpSpPr>
        <p:sp>
          <p:nvSpPr>
            <p:cNvPr id="165" name="Freeform 165"/>
            <p:cNvSpPr/>
            <p:nvPr/>
          </p:nvSpPr>
          <p:spPr>
            <a:xfrm>
              <a:off x="16891" y="16891"/>
              <a:ext cx="6461760" cy="1072896"/>
            </a:xfrm>
            <a:custGeom>
              <a:avLst/>
              <a:gdLst/>
              <a:ahLst/>
              <a:cxnLst/>
              <a:rect l="l" t="t" r="r" b="b"/>
              <a:pathLst>
                <a:path w="6461760" h="1072896">
                  <a:moveTo>
                    <a:pt x="0" y="0"/>
                  </a:moveTo>
                  <a:lnTo>
                    <a:pt x="6461760" y="0"/>
                  </a:lnTo>
                  <a:lnTo>
                    <a:pt x="6461760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F4F7FB"/>
            </a:solidFill>
          </p:spPr>
        </p:sp>
        <p:sp>
          <p:nvSpPr>
            <p:cNvPr id="166" name="Freeform 166"/>
            <p:cNvSpPr/>
            <p:nvPr/>
          </p:nvSpPr>
          <p:spPr>
            <a:xfrm>
              <a:off x="0" y="0"/>
              <a:ext cx="6495542" cy="1106680"/>
            </a:xfrm>
            <a:custGeom>
              <a:avLst/>
              <a:gdLst/>
              <a:ahLst/>
              <a:cxnLst/>
              <a:rect l="l" t="t" r="r" b="b"/>
              <a:pathLst>
                <a:path w="6495542" h="1106680">
                  <a:moveTo>
                    <a:pt x="16891" y="0"/>
                  </a:moveTo>
                  <a:lnTo>
                    <a:pt x="6478651" y="0"/>
                  </a:lnTo>
                  <a:cubicBezTo>
                    <a:pt x="6488049" y="0"/>
                    <a:pt x="6495542" y="7620"/>
                    <a:pt x="6495542" y="16891"/>
                  </a:cubicBezTo>
                  <a:lnTo>
                    <a:pt x="6495542" y="1089787"/>
                  </a:lnTo>
                  <a:cubicBezTo>
                    <a:pt x="6495542" y="1099185"/>
                    <a:pt x="6487922" y="1106678"/>
                    <a:pt x="6478651" y="1106678"/>
                  </a:cubicBezTo>
                  <a:lnTo>
                    <a:pt x="16891" y="1106678"/>
                  </a:lnTo>
                  <a:cubicBezTo>
                    <a:pt x="7620" y="1106805"/>
                    <a:pt x="0" y="1099185"/>
                    <a:pt x="0" y="108978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89787"/>
                  </a:lnTo>
                  <a:lnTo>
                    <a:pt x="16891" y="1089787"/>
                  </a:lnTo>
                  <a:lnTo>
                    <a:pt x="16891" y="1072896"/>
                  </a:lnTo>
                  <a:lnTo>
                    <a:pt x="6478651" y="1072896"/>
                  </a:lnTo>
                  <a:lnTo>
                    <a:pt x="6478651" y="1089787"/>
                  </a:lnTo>
                  <a:lnTo>
                    <a:pt x="6461760" y="1089787"/>
                  </a:lnTo>
                  <a:lnTo>
                    <a:pt x="6461760" y="16891"/>
                  </a:lnTo>
                  <a:lnTo>
                    <a:pt x="6478651" y="16891"/>
                  </a:lnTo>
                  <a:lnTo>
                    <a:pt x="64786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0D8EC"/>
            </a:solidFill>
          </p:spPr>
        </p:sp>
      </p:grpSp>
      <p:grpSp>
        <p:nvGrpSpPr>
          <p:cNvPr id="167" name="Group 167"/>
          <p:cNvGrpSpPr/>
          <p:nvPr/>
        </p:nvGrpSpPr>
        <p:grpSpPr>
          <a:xfrm>
            <a:off x="12511821" y="8524505"/>
            <a:ext cx="4282382" cy="705333"/>
            <a:chOff x="0" y="0"/>
            <a:chExt cx="6217920" cy="1024128"/>
          </a:xfrm>
        </p:grpSpPr>
        <p:sp>
          <p:nvSpPr>
            <p:cNvPr id="168" name="Freeform 168"/>
            <p:cNvSpPr/>
            <p:nvPr/>
          </p:nvSpPr>
          <p:spPr>
            <a:xfrm>
              <a:off x="0" y="0"/>
              <a:ext cx="6217920" cy="1024128"/>
            </a:xfrm>
            <a:custGeom>
              <a:avLst/>
              <a:gdLst/>
              <a:ahLst/>
              <a:cxnLst/>
              <a:rect l="l" t="t" r="r" b="b"/>
              <a:pathLst>
                <a:path w="6217920" h="1024128">
                  <a:moveTo>
                    <a:pt x="0" y="0"/>
                  </a:moveTo>
                  <a:lnTo>
                    <a:pt x="6217920" y="0"/>
                  </a:lnTo>
                  <a:lnTo>
                    <a:pt x="62179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68302" b="-68302"/>
              </a:stretch>
            </a:blipFill>
          </p:spPr>
        </p:sp>
        <p:sp>
          <p:nvSpPr>
            <p:cNvPr id="169" name="TextBox 169"/>
            <p:cNvSpPr txBox="1"/>
            <p:nvPr/>
          </p:nvSpPr>
          <p:spPr>
            <a:xfrm>
              <a:off x="0" y="-9525"/>
              <a:ext cx="6217920" cy="10336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479"/>
                </a:lnSpc>
              </a:pPr>
              <a:r>
                <a:rPr lang="en-US" sz="2899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↑ Cải thiện rõ</a:t>
              </a:r>
            </a:p>
          </p:txBody>
        </p:sp>
      </p:grpSp>
      <p:sp>
        <p:nvSpPr>
          <p:cNvPr id="170" name="TextBox 170"/>
          <p:cNvSpPr txBox="1"/>
          <p:nvPr/>
        </p:nvSpPr>
        <p:spPr>
          <a:xfrm>
            <a:off x="1028700" y="776604"/>
            <a:ext cx="13100434" cy="561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100"/>
              </a:lnSpc>
              <a:spcBef>
                <a:spcPct val="0"/>
              </a:spcBef>
            </a:pPr>
            <a:r>
              <a:rPr lang="en-US" sz="4100" b="1">
                <a:solidFill>
                  <a:srgbClr val="0C0E0B"/>
                </a:solidFill>
                <a:latin typeface="Arial Bold"/>
                <a:ea typeface="Arial Bold"/>
                <a:cs typeface="Arial Bold"/>
                <a:sym typeface="Arial Bold"/>
              </a:rPr>
              <a:t>3.Kết quả đánh giá mô hình (Tập Test)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784261" y="1417479"/>
            <a:ext cx="5014104" cy="3538445"/>
            <a:chOff x="0" y="0"/>
            <a:chExt cx="5106160" cy="3603409"/>
          </a:xfrm>
        </p:grpSpPr>
        <p:sp>
          <p:nvSpPr>
            <p:cNvPr id="3" name="Freeform 3"/>
            <p:cNvSpPr/>
            <p:nvPr/>
          </p:nvSpPr>
          <p:spPr>
            <a:xfrm>
              <a:off x="31590" y="33909"/>
              <a:ext cx="5043063" cy="3535680"/>
            </a:xfrm>
            <a:custGeom>
              <a:avLst/>
              <a:gdLst/>
              <a:ahLst/>
              <a:cxnLst/>
              <a:rect l="l" t="t" r="r" b="b"/>
              <a:pathLst>
                <a:path w="5043063" h="3535680">
                  <a:moveTo>
                    <a:pt x="0" y="0"/>
                  </a:moveTo>
                  <a:lnTo>
                    <a:pt x="5043063" y="0"/>
                  </a:lnTo>
                  <a:lnTo>
                    <a:pt x="5043063" y="3535680"/>
                  </a:lnTo>
                  <a:lnTo>
                    <a:pt x="0" y="353568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5106249" cy="3603498"/>
            </a:xfrm>
            <a:custGeom>
              <a:avLst/>
              <a:gdLst/>
              <a:ahLst/>
              <a:cxnLst/>
              <a:rect l="l" t="t" r="r" b="b"/>
              <a:pathLst>
                <a:path w="5106249" h="3603498">
                  <a:moveTo>
                    <a:pt x="31590" y="0"/>
                  </a:moveTo>
                  <a:lnTo>
                    <a:pt x="5074653" y="0"/>
                  </a:lnTo>
                  <a:cubicBezTo>
                    <a:pt x="5092045" y="0"/>
                    <a:pt x="5106249" y="15113"/>
                    <a:pt x="5106249" y="33909"/>
                  </a:cubicBezTo>
                  <a:lnTo>
                    <a:pt x="5106249" y="3569589"/>
                  </a:lnTo>
                  <a:cubicBezTo>
                    <a:pt x="5106249" y="3588258"/>
                    <a:pt x="5092164" y="3603498"/>
                    <a:pt x="5074653" y="3603498"/>
                  </a:cubicBezTo>
                  <a:lnTo>
                    <a:pt x="31590" y="3603498"/>
                  </a:lnTo>
                  <a:cubicBezTo>
                    <a:pt x="14198" y="3603498"/>
                    <a:pt x="0" y="3588385"/>
                    <a:pt x="0" y="3569589"/>
                  </a:cubicBezTo>
                  <a:lnTo>
                    <a:pt x="0" y="33909"/>
                  </a:lnTo>
                  <a:cubicBezTo>
                    <a:pt x="0" y="15113"/>
                    <a:pt x="14079" y="0"/>
                    <a:pt x="31590" y="0"/>
                  </a:cubicBezTo>
                  <a:moveTo>
                    <a:pt x="31590" y="67691"/>
                  </a:moveTo>
                  <a:lnTo>
                    <a:pt x="31590" y="33909"/>
                  </a:lnTo>
                  <a:lnTo>
                    <a:pt x="63062" y="33909"/>
                  </a:lnTo>
                  <a:lnTo>
                    <a:pt x="63062" y="3569589"/>
                  </a:lnTo>
                  <a:lnTo>
                    <a:pt x="31590" y="3569589"/>
                  </a:lnTo>
                  <a:lnTo>
                    <a:pt x="31590" y="3535680"/>
                  </a:lnTo>
                  <a:lnTo>
                    <a:pt x="5074653" y="3535680"/>
                  </a:lnTo>
                  <a:lnTo>
                    <a:pt x="5074653" y="3569589"/>
                  </a:lnTo>
                  <a:lnTo>
                    <a:pt x="5043063" y="3569589"/>
                  </a:lnTo>
                  <a:lnTo>
                    <a:pt x="5043063" y="33909"/>
                  </a:lnTo>
                  <a:lnTo>
                    <a:pt x="5074653" y="33909"/>
                  </a:lnTo>
                  <a:lnTo>
                    <a:pt x="5074653" y="67691"/>
                  </a:lnTo>
                  <a:lnTo>
                    <a:pt x="31590" y="67691"/>
                  </a:lnTo>
                  <a:close/>
                </a:path>
              </a:pathLst>
            </a:custGeom>
            <a:solidFill>
              <a:srgbClr val="27AE60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6799759" y="1434115"/>
            <a:ext cx="4983130" cy="224815"/>
            <a:chOff x="0" y="0"/>
            <a:chExt cx="5074617" cy="228943"/>
          </a:xfrm>
        </p:grpSpPr>
        <p:sp>
          <p:nvSpPr>
            <p:cNvPr id="6" name="Freeform 6"/>
            <p:cNvSpPr/>
            <p:nvPr/>
          </p:nvSpPr>
          <p:spPr>
            <a:xfrm>
              <a:off x="15736" y="16891"/>
              <a:ext cx="5043063" cy="195072"/>
            </a:xfrm>
            <a:custGeom>
              <a:avLst/>
              <a:gdLst/>
              <a:ahLst/>
              <a:cxnLst/>
              <a:rect l="l" t="t" r="r" b="b"/>
              <a:pathLst>
                <a:path w="5043063" h="195072">
                  <a:moveTo>
                    <a:pt x="0" y="0"/>
                  </a:moveTo>
                  <a:lnTo>
                    <a:pt x="5043063" y="0"/>
                  </a:lnTo>
                  <a:lnTo>
                    <a:pt x="5043063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27AE60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5074534" cy="228856"/>
            </a:xfrm>
            <a:custGeom>
              <a:avLst/>
              <a:gdLst/>
              <a:ahLst/>
              <a:cxnLst/>
              <a:rect l="l" t="t" r="r" b="b"/>
              <a:pathLst>
                <a:path w="5074534" h="228856">
                  <a:moveTo>
                    <a:pt x="15736" y="0"/>
                  </a:moveTo>
                  <a:lnTo>
                    <a:pt x="5058799" y="0"/>
                  </a:lnTo>
                  <a:cubicBezTo>
                    <a:pt x="5067554" y="0"/>
                    <a:pt x="5074534" y="7620"/>
                    <a:pt x="5074534" y="16891"/>
                  </a:cubicBezTo>
                  <a:lnTo>
                    <a:pt x="5074534" y="211963"/>
                  </a:lnTo>
                  <a:cubicBezTo>
                    <a:pt x="5074534" y="221361"/>
                    <a:pt x="5067436" y="228854"/>
                    <a:pt x="5058799" y="228854"/>
                  </a:cubicBezTo>
                  <a:lnTo>
                    <a:pt x="15736" y="228854"/>
                  </a:lnTo>
                  <a:cubicBezTo>
                    <a:pt x="7099" y="228981"/>
                    <a:pt x="0" y="221361"/>
                    <a:pt x="0" y="211963"/>
                  </a:cubicBezTo>
                  <a:lnTo>
                    <a:pt x="0" y="16891"/>
                  </a:lnTo>
                  <a:cubicBezTo>
                    <a:pt x="0" y="7620"/>
                    <a:pt x="7099" y="0"/>
                    <a:pt x="15736" y="0"/>
                  </a:cubicBezTo>
                  <a:moveTo>
                    <a:pt x="15736" y="33909"/>
                  </a:moveTo>
                  <a:lnTo>
                    <a:pt x="15736" y="16891"/>
                  </a:lnTo>
                  <a:lnTo>
                    <a:pt x="31590" y="16891"/>
                  </a:lnTo>
                  <a:lnTo>
                    <a:pt x="31590" y="211963"/>
                  </a:lnTo>
                  <a:lnTo>
                    <a:pt x="15736" y="211963"/>
                  </a:lnTo>
                  <a:lnTo>
                    <a:pt x="15736" y="195072"/>
                  </a:lnTo>
                  <a:lnTo>
                    <a:pt x="5058799" y="195072"/>
                  </a:lnTo>
                  <a:lnTo>
                    <a:pt x="5058799" y="211963"/>
                  </a:lnTo>
                  <a:lnTo>
                    <a:pt x="5043063" y="211963"/>
                  </a:lnTo>
                  <a:lnTo>
                    <a:pt x="5043063" y="16891"/>
                  </a:lnTo>
                  <a:lnTo>
                    <a:pt x="5058799" y="16891"/>
                  </a:lnTo>
                  <a:lnTo>
                    <a:pt x="5058799" y="33909"/>
                  </a:lnTo>
                  <a:lnTo>
                    <a:pt x="15736" y="33909"/>
                  </a:lnTo>
                  <a:close/>
                </a:path>
              </a:pathLst>
            </a:custGeom>
            <a:solidFill>
              <a:srgbClr val="E8F5E9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6815246" y="1615394"/>
            <a:ext cx="4952144" cy="1370743"/>
            <a:chOff x="0" y="0"/>
            <a:chExt cx="5043063" cy="139590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043063" cy="1395909"/>
            </a:xfrm>
            <a:custGeom>
              <a:avLst/>
              <a:gdLst/>
              <a:ahLst/>
              <a:cxnLst/>
              <a:rect l="l" t="t" r="r" b="b"/>
              <a:pathLst>
                <a:path w="5043063" h="1395909">
                  <a:moveTo>
                    <a:pt x="0" y="0"/>
                  </a:moveTo>
                  <a:lnTo>
                    <a:pt x="5043063" y="0"/>
                  </a:lnTo>
                  <a:lnTo>
                    <a:pt x="5043063" y="1395909"/>
                  </a:lnTo>
                  <a:lnTo>
                    <a:pt x="0" y="1395909"/>
                  </a:lnTo>
                  <a:close/>
                </a:path>
              </a:pathLst>
            </a:custGeom>
            <a:solidFill>
              <a:srgbClr val="0A2073">
                <a:alpha val="0"/>
              </a:srgbClr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5043063" cy="142448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319"/>
                </a:lnSpc>
              </a:pPr>
              <a:r>
                <a:rPr lang="en-US" sz="6099" b="1">
                  <a:solidFill>
                    <a:srgbClr val="27AE6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45 FPS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815246" y="2983180"/>
            <a:ext cx="4952144" cy="1149331"/>
            <a:chOff x="0" y="0"/>
            <a:chExt cx="5043063" cy="117043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043063" cy="1170432"/>
            </a:xfrm>
            <a:custGeom>
              <a:avLst/>
              <a:gdLst/>
              <a:ahLst/>
              <a:cxnLst/>
              <a:rect l="l" t="t" r="r" b="b"/>
              <a:pathLst>
                <a:path w="5043063" h="1170432">
                  <a:moveTo>
                    <a:pt x="0" y="0"/>
                  </a:moveTo>
                  <a:lnTo>
                    <a:pt x="5043063" y="0"/>
                  </a:lnTo>
                  <a:lnTo>
                    <a:pt x="5043063" y="1170432"/>
                  </a:lnTo>
                  <a:lnTo>
                    <a:pt x="0" y="1170432"/>
                  </a:lnTo>
                  <a:close/>
                </a:path>
              </a:pathLst>
            </a:custGeom>
            <a:solidFill>
              <a:srgbClr val="0A2073">
                <a:alpha val="0"/>
              </a:srgbClr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9525"/>
              <a:ext cx="5043063" cy="117995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479"/>
                </a:lnSpc>
              </a:pPr>
              <a:r>
                <a:rPr lang="en-US" sz="2899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Ánh sáng chuẩn</a:t>
              </a:r>
            </a:p>
            <a:p>
              <a:pPr algn="ctr">
                <a:lnSpc>
                  <a:spcPts val="3479"/>
                </a:lnSpc>
              </a:pPr>
              <a:r>
                <a:rPr lang="en-US" sz="2899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0.5m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815246" y="4132511"/>
            <a:ext cx="4952144" cy="670443"/>
            <a:chOff x="0" y="0"/>
            <a:chExt cx="5043063" cy="68275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043063" cy="682752"/>
            </a:xfrm>
            <a:custGeom>
              <a:avLst/>
              <a:gdLst/>
              <a:ahLst/>
              <a:cxnLst/>
              <a:rect l="l" t="t" r="r" b="b"/>
              <a:pathLst>
                <a:path w="5043063" h="682752">
                  <a:moveTo>
                    <a:pt x="0" y="0"/>
                  </a:moveTo>
                  <a:lnTo>
                    <a:pt x="5043063" y="0"/>
                  </a:lnTo>
                  <a:lnTo>
                    <a:pt x="5043063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0A2073">
                <a:alpha val="0"/>
              </a:srgbClr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9525"/>
              <a:ext cx="5043063" cy="6922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479"/>
                </a:lnSpc>
              </a:pPr>
              <a:r>
                <a:rPr lang="en-US" sz="2899" b="1">
                  <a:solidFill>
                    <a:srgbClr val="27AE6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98% chính xác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2026395" y="1417479"/>
            <a:ext cx="5014104" cy="3538445"/>
            <a:chOff x="0" y="0"/>
            <a:chExt cx="5106160" cy="3603409"/>
          </a:xfrm>
        </p:grpSpPr>
        <p:sp>
          <p:nvSpPr>
            <p:cNvPr id="18" name="Freeform 18"/>
            <p:cNvSpPr/>
            <p:nvPr/>
          </p:nvSpPr>
          <p:spPr>
            <a:xfrm>
              <a:off x="31590" y="33909"/>
              <a:ext cx="5043063" cy="3535680"/>
            </a:xfrm>
            <a:custGeom>
              <a:avLst/>
              <a:gdLst/>
              <a:ahLst/>
              <a:cxnLst/>
              <a:rect l="l" t="t" r="r" b="b"/>
              <a:pathLst>
                <a:path w="5043063" h="3535680">
                  <a:moveTo>
                    <a:pt x="0" y="0"/>
                  </a:moveTo>
                  <a:lnTo>
                    <a:pt x="5043063" y="0"/>
                  </a:lnTo>
                  <a:lnTo>
                    <a:pt x="5043063" y="3535680"/>
                  </a:lnTo>
                  <a:lnTo>
                    <a:pt x="0" y="353568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0" y="0"/>
              <a:ext cx="5106249" cy="3603498"/>
            </a:xfrm>
            <a:custGeom>
              <a:avLst/>
              <a:gdLst/>
              <a:ahLst/>
              <a:cxnLst/>
              <a:rect l="l" t="t" r="r" b="b"/>
              <a:pathLst>
                <a:path w="5106249" h="3603498">
                  <a:moveTo>
                    <a:pt x="31590" y="0"/>
                  </a:moveTo>
                  <a:lnTo>
                    <a:pt x="5074653" y="0"/>
                  </a:lnTo>
                  <a:cubicBezTo>
                    <a:pt x="5092045" y="0"/>
                    <a:pt x="5106249" y="15113"/>
                    <a:pt x="5106249" y="33909"/>
                  </a:cubicBezTo>
                  <a:lnTo>
                    <a:pt x="5106249" y="3569589"/>
                  </a:lnTo>
                  <a:cubicBezTo>
                    <a:pt x="5106249" y="3588258"/>
                    <a:pt x="5092164" y="3603498"/>
                    <a:pt x="5074653" y="3603498"/>
                  </a:cubicBezTo>
                  <a:lnTo>
                    <a:pt x="31590" y="3603498"/>
                  </a:lnTo>
                  <a:cubicBezTo>
                    <a:pt x="14198" y="3603498"/>
                    <a:pt x="0" y="3588385"/>
                    <a:pt x="0" y="3569589"/>
                  </a:cubicBezTo>
                  <a:lnTo>
                    <a:pt x="0" y="33909"/>
                  </a:lnTo>
                  <a:cubicBezTo>
                    <a:pt x="0" y="15113"/>
                    <a:pt x="14079" y="0"/>
                    <a:pt x="31590" y="0"/>
                  </a:cubicBezTo>
                  <a:moveTo>
                    <a:pt x="31590" y="67691"/>
                  </a:moveTo>
                  <a:lnTo>
                    <a:pt x="31590" y="33909"/>
                  </a:lnTo>
                  <a:lnTo>
                    <a:pt x="63062" y="33909"/>
                  </a:lnTo>
                  <a:lnTo>
                    <a:pt x="63062" y="3569589"/>
                  </a:lnTo>
                  <a:lnTo>
                    <a:pt x="31590" y="3569589"/>
                  </a:lnTo>
                  <a:lnTo>
                    <a:pt x="31590" y="3535680"/>
                  </a:lnTo>
                  <a:lnTo>
                    <a:pt x="5074653" y="3535680"/>
                  </a:lnTo>
                  <a:lnTo>
                    <a:pt x="5074653" y="3569589"/>
                  </a:lnTo>
                  <a:lnTo>
                    <a:pt x="5043063" y="3569589"/>
                  </a:lnTo>
                  <a:lnTo>
                    <a:pt x="5043063" y="33909"/>
                  </a:lnTo>
                  <a:lnTo>
                    <a:pt x="5074653" y="33909"/>
                  </a:lnTo>
                  <a:lnTo>
                    <a:pt x="5074653" y="67691"/>
                  </a:lnTo>
                  <a:lnTo>
                    <a:pt x="31590" y="67691"/>
                  </a:lnTo>
                  <a:close/>
                </a:path>
              </a:pathLst>
            </a:custGeom>
            <a:solidFill>
              <a:srgbClr val="0D7A7A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12041894" y="1434115"/>
            <a:ext cx="4983130" cy="224815"/>
            <a:chOff x="0" y="0"/>
            <a:chExt cx="5074617" cy="228943"/>
          </a:xfrm>
        </p:grpSpPr>
        <p:sp>
          <p:nvSpPr>
            <p:cNvPr id="21" name="Freeform 21"/>
            <p:cNvSpPr/>
            <p:nvPr/>
          </p:nvSpPr>
          <p:spPr>
            <a:xfrm>
              <a:off x="15736" y="16891"/>
              <a:ext cx="5043063" cy="195072"/>
            </a:xfrm>
            <a:custGeom>
              <a:avLst/>
              <a:gdLst/>
              <a:ahLst/>
              <a:cxnLst/>
              <a:rect l="l" t="t" r="r" b="b"/>
              <a:pathLst>
                <a:path w="5043063" h="195072">
                  <a:moveTo>
                    <a:pt x="0" y="0"/>
                  </a:moveTo>
                  <a:lnTo>
                    <a:pt x="5043063" y="0"/>
                  </a:lnTo>
                  <a:lnTo>
                    <a:pt x="5043063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0D7A7A"/>
            </a:solidFill>
          </p:spPr>
        </p:sp>
        <p:sp>
          <p:nvSpPr>
            <p:cNvPr id="22" name="Freeform 22"/>
            <p:cNvSpPr/>
            <p:nvPr/>
          </p:nvSpPr>
          <p:spPr>
            <a:xfrm>
              <a:off x="0" y="0"/>
              <a:ext cx="5074534" cy="228856"/>
            </a:xfrm>
            <a:custGeom>
              <a:avLst/>
              <a:gdLst/>
              <a:ahLst/>
              <a:cxnLst/>
              <a:rect l="l" t="t" r="r" b="b"/>
              <a:pathLst>
                <a:path w="5074534" h="228856">
                  <a:moveTo>
                    <a:pt x="15736" y="0"/>
                  </a:moveTo>
                  <a:lnTo>
                    <a:pt x="5058799" y="0"/>
                  </a:lnTo>
                  <a:cubicBezTo>
                    <a:pt x="5067554" y="0"/>
                    <a:pt x="5074534" y="7620"/>
                    <a:pt x="5074534" y="16891"/>
                  </a:cubicBezTo>
                  <a:lnTo>
                    <a:pt x="5074534" y="211963"/>
                  </a:lnTo>
                  <a:cubicBezTo>
                    <a:pt x="5074534" y="221361"/>
                    <a:pt x="5067436" y="228854"/>
                    <a:pt x="5058799" y="228854"/>
                  </a:cubicBezTo>
                  <a:lnTo>
                    <a:pt x="15736" y="228854"/>
                  </a:lnTo>
                  <a:cubicBezTo>
                    <a:pt x="7099" y="228981"/>
                    <a:pt x="0" y="221361"/>
                    <a:pt x="0" y="211963"/>
                  </a:cubicBezTo>
                  <a:lnTo>
                    <a:pt x="0" y="16891"/>
                  </a:lnTo>
                  <a:cubicBezTo>
                    <a:pt x="0" y="7620"/>
                    <a:pt x="7099" y="0"/>
                    <a:pt x="15736" y="0"/>
                  </a:cubicBezTo>
                  <a:moveTo>
                    <a:pt x="15736" y="33909"/>
                  </a:moveTo>
                  <a:lnTo>
                    <a:pt x="15736" y="16891"/>
                  </a:lnTo>
                  <a:lnTo>
                    <a:pt x="31590" y="16891"/>
                  </a:lnTo>
                  <a:lnTo>
                    <a:pt x="31590" y="211963"/>
                  </a:lnTo>
                  <a:lnTo>
                    <a:pt x="15736" y="211963"/>
                  </a:lnTo>
                  <a:lnTo>
                    <a:pt x="15736" y="195072"/>
                  </a:lnTo>
                  <a:lnTo>
                    <a:pt x="5058799" y="195072"/>
                  </a:lnTo>
                  <a:lnTo>
                    <a:pt x="5058799" y="211963"/>
                  </a:lnTo>
                  <a:lnTo>
                    <a:pt x="5043063" y="211963"/>
                  </a:lnTo>
                  <a:lnTo>
                    <a:pt x="5043063" y="16891"/>
                  </a:lnTo>
                  <a:lnTo>
                    <a:pt x="5058799" y="16891"/>
                  </a:lnTo>
                  <a:lnTo>
                    <a:pt x="5058799" y="33909"/>
                  </a:lnTo>
                  <a:lnTo>
                    <a:pt x="15736" y="33909"/>
                  </a:lnTo>
                  <a:close/>
                </a:path>
              </a:pathLst>
            </a:custGeom>
            <a:solidFill>
              <a:srgbClr val="0D7A7A"/>
            </a:solidFill>
          </p:spPr>
        </p:sp>
      </p:grpSp>
      <p:grpSp>
        <p:nvGrpSpPr>
          <p:cNvPr id="23" name="Group 23"/>
          <p:cNvGrpSpPr/>
          <p:nvPr/>
        </p:nvGrpSpPr>
        <p:grpSpPr>
          <a:xfrm>
            <a:off x="12057381" y="1615394"/>
            <a:ext cx="4952144" cy="1370743"/>
            <a:chOff x="0" y="0"/>
            <a:chExt cx="5043063" cy="139590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5043063" cy="1395909"/>
            </a:xfrm>
            <a:custGeom>
              <a:avLst/>
              <a:gdLst/>
              <a:ahLst/>
              <a:cxnLst/>
              <a:rect l="l" t="t" r="r" b="b"/>
              <a:pathLst>
                <a:path w="5043063" h="1395909">
                  <a:moveTo>
                    <a:pt x="0" y="0"/>
                  </a:moveTo>
                  <a:lnTo>
                    <a:pt x="5043063" y="0"/>
                  </a:lnTo>
                  <a:lnTo>
                    <a:pt x="5043063" y="1395909"/>
                  </a:lnTo>
                  <a:lnTo>
                    <a:pt x="0" y="139590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7524" r="-7340" b="-23599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-28575"/>
              <a:ext cx="5043063" cy="142448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319"/>
                </a:lnSpc>
              </a:pPr>
              <a:r>
                <a:rPr lang="en-US" sz="6099" b="1">
                  <a:solidFill>
                    <a:srgbClr val="0D7A7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35 FPS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2057381" y="2983180"/>
            <a:ext cx="4952144" cy="1149331"/>
            <a:chOff x="0" y="0"/>
            <a:chExt cx="5043063" cy="1170432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5043063" cy="1170432"/>
            </a:xfrm>
            <a:custGeom>
              <a:avLst/>
              <a:gdLst/>
              <a:ahLst/>
              <a:cxnLst/>
              <a:rect l="l" t="t" r="r" b="b"/>
              <a:pathLst>
                <a:path w="5043063" h="1170432">
                  <a:moveTo>
                    <a:pt x="0" y="0"/>
                  </a:moveTo>
                  <a:lnTo>
                    <a:pt x="5043063" y="0"/>
                  </a:lnTo>
                  <a:lnTo>
                    <a:pt x="5043063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0118" r="-7340" b="-40118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-9525"/>
              <a:ext cx="5043063" cy="117995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479"/>
                </a:lnSpc>
              </a:pPr>
              <a:r>
                <a:rPr lang="en-US" sz="2899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Thiếu sáng nhẹ</a:t>
              </a:r>
            </a:p>
            <a:p>
              <a:pPr algn="ctr">
                <a:lnSpc>
                  <a:spcPts val="3479"/>
                </a:lnSpc>
              </a:pPr>
              <a:r>
                <a:rPr lang="en-US" sz="2899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1m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2057381" y="4132511"/>
            <a:ext cx="4952144" cy="670443"/>
            <a:chOff x="0" y="0"/>
            <a:chExt cx="5043063" cy="682752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5043063" cy="682752"/>
            </a:xfrm>
            <a:custGeom>
              <a:avLst/>
              <a:gdLst/>
              <a:ahLst/>
              <a:cxnLst/>
              <a:rect l="l" t="t" r="r" b="b"/>
              <a:pathLst>
                <a:path w="5043063" h="682752">
                  <a:moveTo>
                    <a:pt x="0" y="0"/>
                  </a:moveTo>
                  <a:lnTo>
                    <a:pt x="5043063" y="0"/>
                  </a:lnTo>
                  <a:lnTo>
                    <a:pt x="5043063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4488" r="-7340" b="-104488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-9525"/>
              <a:ext cx="5043063" cy="6922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479"/>
                </a:lnSpc>
              </a:pPr>
              <a:r>
                <a:rPr lang="en-US" sz="2899" b="1">
                  <a:solidFill>
                    <a:srgbClr val="0D7A7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92% chính xác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784261" y="5320357"/>
            <a:ext cx="5029293" cy="3549164"/>
            <a:chOff x="0" y="0"/>
            <a:chExt cx="5106160" cy="3603409"/>
          </a:xfrm>
        </p:grpSpPr>
        <p:sp>
          <p:nvSpPr>
            <p:cNvPr id="33" name="Freeform 33"/>
            <p:cNvSpPr/>
            <p:nvPr/>
          </p:nvSpPr>
          <p:spPr>
            <a:xfrm>
              <a:off x="31590" y="33909"/>
              <a:ext cx="5043063" cy="3535680"/>
            </a:xfrm>
            <a:custGeom>
              <a:avLst/>
              <a:gdLst/>
              <a:ahLst/>
              <a:cxnLst/>
              <a:rect l="l" t="t" r="r" b="b"/>
              <a:pathLst>
                <a:path w="5043063" h="3535680">
                  <a:moveTo>
                    <a:pt x="0" y="0"/>
                  </a:moveTo>
                  <a:lnTo>
                    <a:pt x="5043063" y="0"/>
                  </a:lnTo>
                  <a:lnTo>
                    <a:pt x="5043063" y="3535680"/>
                  </a:lnTo>
                  <a:lnTo>
                    <a:pt x="0" y="353568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4" name="Freeform 34"/>
            <p:cNvSpPr/>
            <p:nvPr/>
          </p:nvSpPr>
          <p:spPr>
            <a:xfrm>
              <a:off x="0" y="0"/>
              <a:ext cx="5106249" cy="3603498"/>
            </a:xfrm>
            <a:custGeom>
              <a:avLst/>
              <a:gdLst/>
              <a:ahLst/>
              <a:cxnLst/>
              <a:rect l="l" t="t" r="r" b="b"/>
              <a:pathLst>
                <a:path w="5106249" h="3603498">
                  <a:moveTo>
                    <a:pt x="31590" y="0"/>
                  </a:moveTo>
                  <a:lnTo>
                    <a:pt x="5074653" y="0"/>
                  </a:lnTo>
                  <a:cubicBezTo>
                    <a:pt x="5092045" y="0"/>
                    <a:pt x="5106249" y="15113"/>
                    <a:pt x="5106249" y="33909"/>
                  </a:cubicBezTo>
                  <a:lnTo>
                    <a:pt x="5106249" y="3569589"/>
                  </a:lnTo>
                  <a:cubicBezTo>
                    <a:pt x="5106249" y="3588258"/>
                    <a:pt x="5092164" y="3603498"/>
                    <a:pt x="5074653" y="3603498"/>
                  </a:cubicBezTo>
                  <a:lnTo>
                    <a:pt x="31590" y="3603498"/>
                  </a:lnTo>
                  <a:cubicBezTo>
                    <a:pt x="14198" y="3603498"/>
                    <a:pt x="0" y="3588385"/>
                    <a:pt x="0" y="3569589"/>
                  </a:cubicBezTo>
                  <a:lnTo>
                    <a:pt x="0" y="33909"/>
                  </a:lnTo>
                  <a:cubicBezTo>
                    <a:pt x="0" y="15113"/>
                    <a:pt x="14079" y="0"/>
                    <a:pt x="31590" y="0"/>
                  </a:cubicBezTo>
                  <a:moveTo>
                    <a:pt x="31590" y="67691"/>
                  </a:moveTo>
                  <a:lnTo>
                    <a:pt x="31590" y="33909"/>
                  </a:lnTo>
                  <a:lnTo>
                    <a:pt x="63062" y="33909"/>
                  </a:lnTo>
                  <a:lnTo>
                    <a:pt x="63062" y="3569589"/>
                  </a:lnTo>
                  <a:lnTo>
                    <a:pt x="31590" y="3569589"/>
                  </a:lnTo>
                  <a:lnTo>
                    <a:pt x="31590" y="3535680"/>
                  </a:lnTo>
                  <a:lnTo>
                    <a:pt x="5074653" y="3535680"/>
                  </a:lnTo>
                  <a:lnTo>
                    <a:pt x="5074653" y="3569589"/>
                  </a:lnTo>
                  <a:lnTo>
                    <a:pt x="5043063" y="3569589"/>
                  </a:lnTo>
                  <a:lnTo>
                    <a:pt x="5043063" y="33909"/>
                  </a:lnTo>
                  <a:lnTo>
                    <a:pt x="5074653" y="33909"/>
                  </a:lnTo>
                  <a:lnTo>
                    <a:pt x="5074653" y="67691"/>
                  </a:lnTo>
                  <a:lnTo>
                    <a:pt x="31590" y="67691"/>
                  </a:lnTo>
                  <a:close/>
                </a:path>
              </a:pathLst>
            </a:custGeom>
            <a:solidFill>
              <a:srgbClr val="1A2E5A"/>
            </a:solidFill>
          </p:spPr>
        </p:sp>
      </p:grpSp>
      <p:grpSp>
        <p:nvGrpSpPr>
          <p:cNvPr id="35" name="Group 35"/>
          <p:cNvGrpSpPr/>
          <p:nvPr/>
        </p:nvGrpSpPr>
        <p:grpSpPr>
          <a:xfrm>
            <a:off x="6799806" y="5337044"/>
            <a:ext cx="4998225" cy="225496"/>
            <a:chOff x="0" y="0"/>
            <a:chExt cx="5074617" cy="228943"/>
          </a:xfrm>
        </p:grpSpPr>
        <p:sp>
          <p:nvSpPr>
            <p:cNvPr id="36" name="Freeform 36"/>
            <p:cNvSpPr/>
            <p:nvPr/>
          </p:nvSpPr>
          <p:spPr>
            <a:xfrm>
              <a:off x="15736" y="16891"/>
              <a:ext cx="5043063" cy="195072"/>
            </a:xfrm>
            <a:custGeom>
              <a:avLst/>
              <a:gdLst/>
              <a:ahLst/>
              <a:cxnLst/>
              <a:rect l="l" t="t" r="r" b="b"/>
              <a:pathLst>
                <a:path w="5043063" h="195072">
                  <a:moveTo>
                    <a:pt x="0" y="0"/>
                  </a:moveTo>
                  <a:lnTo>
                    <a:pt x="5043063" y="0"/>
                  </a:lnTo>
                  <a:lnTo>
                    <a:pt x="5043063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1A2E5A"/>
            </a:solidFill>
          </p:spPr>
        </p:sp>
        <p:sp>
          <p:nvSpPr>
            <p:cNvPr id="37" name="Freeform 37"/>
            <p:cNvSpPr/>
            <p:nvPr/>
          </p:nvSpPr>
          <p:spPr>
            <a:xfrm>
              <a:off x="0" y="0"/>
              <a:ext cx="5074534" cy="228856"/>
            </a:xfrm>
            <a:custGeom>
              <a:avLst/>
              <a:gdLst/>
              <a:ahLst/>
              <a:cxnLst/>
              <a:rect l="l" t="t" r="r" b="b"/>
              <a:pathLst>
                <a:path w="5074534" h="228856">
                  <a:moveTo>
                    <a:pt x="15736" y="0"/>
                  </a:moveTo>
                  <a:lnTo>
                    <a:pt x="5058799" y="0"/>
                  </a:lnTo>
                  <a:cubicBezTo>
                    <a:pt x="5067554" y="0"/>
                    <a:pt x="5074534" y="7620"/>
                    <a:pt x="5074534" y="16891"/>
                  </a:cubicBezTo>
                  <a:lnTo>
                    <a:pt x="5074534" y="211963"/>
                  </a:lnTo>
                  <a:cubicBezTo>
                    <a:pt x="5074534" y="221361"/>
                    <a:pt x="5067436" y="228854"/>
                    <a:pt x="5058799" y="228854"/>
                  </a:cubicBezTo>
                  <a:lnTo>
                    <a:pt x="15736" y="228854"/>
                  </a:lnTo>
                  <a:cubicBezTo>
                    <a:pt x="7099" y="228981"/>
                    <a:pt x="0" y="221361"/>
                    <a:pt x="0" y="211963"/>
                  </a:cubicBezTo>
                  <a:lnTo>
                    <a:pt x="0" y="16891"/>
                  </a:lnTo>
                  <a:cubicBezTo>
                    <a:pt x="0" y="7620"/>
                    <a:pt x="7099" y="0"/>
                    <a:pt x="15736" y="0"/>
                  </a:cubicBezTo>
                  <a:moveTo>
                    <a:pt x="15736" y="33909"/>
                  </a:moveTo>
                  <a:lnTo>
                    <a:pt x="15736" y="16891"/>
                  </a:lnTo>
                  <a:lnTo>
                    <a:pt x="31590" y="16891"/>
                  </a:lnTo>
                  <a:lnTo>
                    <a:pt x="31590" y="211963"/>
                  </a:lnTo>
                  <a:lnTo>
                    <a:pt x="15736" y="211963"/>
                  </a:lnTo>
                  <a:lnTo>
                    <a:pt x="15736" y="195072"/>
                  </a:lnTo>
                  <a:lnTo>
                    <a:pt x="5058799" y="195072"/>
                  </a:lnTo>
                  <a:lnTo>
                    <a:pt x="5058799" y="211963"/>
                  </a:lnTo>
                  <a:lnTo>
                    <a:pt x="5043063" y="211963"/>
                  </a:lnTo>
                  <a:lnTo>
                    <a:pt x="5043063" y="16891"/>
                  </a:lnTo>
                  <a:lnTo>
                    <a:pt x="5058799" y="16891"/>
                  </a:lnTo>
                  <a:lnTo>
                    <a:pt x="5058799" y="33909"/>
                  </a:lnTo>
                  <a:lnTo>
                    <a:pt x="15736" y="33909"/>
                  </a:lnTo>
                  <a:close/>
                </a:path>
              </a:pathLst>
            </a:custGeom>
            <a:solidFill>
              <a:srgbClr val="1A2E5A"/>
            </a:solidFill>
          </p:spPr>
        </p:sp>
      </p:grpSp>
      <p:grpSp>
        <p:nvGrpSpPr>
          <p:cNvPr id="38" name="Group 38"/>
          <p:cNvGrpSpPr/>
          <p:nvPr/>
        </p:nvGrpSpPr>
        <p:grpSpPr>
          <a:xfrm>
            <a:off x="6815340" y="5518872"/>
            <a:ext cx="4967145" cy="1374895"/>
            <a:chOff x="0" y="0"/>
            <a:chExt cx="5043063" cy="1395909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5043063" cy="1395909"/>
            </a:xfrm>
            <a:custGeom>
              <a:avLst/>
              <a:gdLst/>
              <a:ahLst/>
              <a:cxnLst/>
              <a:rect l="l" t="t" r="r" b="b"/>
              <a:pathLst>
                <a:path w="5043063" h="1395909">
                  <a:moveTo>
                    <a:pt x="0" y="0"/>
                  </a:moveTo>
                  <a:lnTo>
                    <a:pt x="5043063" y="0"/>
                  </a:lnTo>
                  <a:lnTo>
                    <a:pt x="5043063" y="1395909"/>
                  </a:lnTo>
                  <a:lnTo>
                    <a:pt x="0" y="139590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7524" r="-7340" b="-23599"/>
              </a:stretch>
            </a:blipFill>
          </p:spPr>
        </p:sp>
        <p:sp>
          <p:nvSpPr>
            <p:cNvPr id="40" name="TextBox 40"/>
            <p:cNvSpPr txBox="1"/>
            <p:nvPr/>
          </p:nvSpPr>
          <p:spPr>
            <a:xfrm>
              <a:off x="0" y="-28575"/>
              <a:ext cx="5043063" cy="142448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319"/>
                </a:lnSpc>
              </a:pPr>
              <a:r>
                <a:rPr lang="en-US" sz="6099" b="1">
                  <a:solidFill>
                    <a:srgbClr val="1A2E5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40 FPS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815340" y="6890802"/>
            <a:ext cx="4967145" cy="1152812"/>
            <a:chOff x="0" y="0"/>
            <a:chExt cx="5043063" cy="1170432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5043063" cy="1170432"/>
            </a:xfrm>
            <a:custGeom>
              <a:avLst/>
              <a:gdLst/>
              <a:ahLst/>
              <a:cxnLst/>
              <a:rect l="l" t="t" r="r" b="b"/>
              <a:pathLst>
                <a:path w="5043063" h="1170432">
                  <a:moveTo>
                    <a:pt x="0" y="0"/>
                  </a:moveTo>
                  <a:lnTo>
                    <a:pt x="5043063" y="0"/>
                  </a:lnTo>
                  <a:lnTo>
                    <a:pt x="5043063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0118" r="-7340" b="-40118"/>
              </a:stretch>
            </a:blipFill>
          </p:spPr>
        </p:sp>
        <p:sp>
          <p:nvSpPr>
            <p:cNvPr id="43" name="TextBox 43"/>
            <p:cNvSpPr txBox="1"/>
            <p:nvPr/>
          </p:nvSpPr>
          <p:spPr>
            <a:xfrm>
              <a:off x="0" y="-9525"/>
              <a:ext cx="5043063" cy="117995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479"/>
                </a:lnSpc>
              </a:pPr>
              <a:r>
                <a:rPr lang="en-US" sz="2899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Nghiêng 45°</a:t>
              </a:r>
            </a:p>
            <a:p>
              <a:pPr algn="ctr">
                <a:lnSpc>
                  <a:spcPts val="3479"/>
                </a:lnSpc>
              </a:pPr>
              <a:r>
                <a:rPr lang="en-US" sz="2899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Tay xoay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6815340" y="8043614"/>
            <a:ext cx="4967145" cy="672474"/>
            <a:chOff x="0" y="0"/>
            <a:chExt cx="5043063" cy="682752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5043063" cy="682752"/>
            </a:xfrm>
            <a:custGeom>
              <a:avLst/>
              <a:gdLst/>
              <a:ahLst/>
              <a:cxnLst/>
              <a:rect l="l" t="t" r="r" b="b"/>
              <a:pathLst>
                <a:path w="5043063" h="682752">
                  <a:moveTo>
                    <a:pt x="0" y="0"/>
                  </a:moveTo>
                  <a:lnTo>
                    <a:pt x="5043063" y="0"/>
                  </a:lnTo>
                  <a:lnTo>
                    <a:pt x="5043063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4488" r="-7340" b="-104488"/>
              </a:stretch>
            </a:blipFill>
          </p:spPr>
        </p:sp>
        <p:sp>
          <p:nvSpPr>
            <p:cNvPr id="46" name="TextBox 46"/>
            <p:cNvSpPr txBox="1"/>
            <p:nvPr/>
          </p:nvSpPr>
          <p:spPr>
            <a:xfrm>
              <a:off x="0" y="-9525"/>
              <a:ext cx="5043063" cy="6922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479"/>
                </a:lnSpc>
              </a:pPr>
              <a:r>
                <a:rPr lang="en-US" sz="2899" b="1">
                  <a:solidFill>
                    <a:srgbClr val="1A2E5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85% chính xác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2042275" y="5320357"/>
            <a:ext cx="5029293" cy="3549164"/>
            <a:chOff x="0" y="0"/>
            <a:chExt cx="5106160" cy="3603409"/>
          </a:xfrm>
        </p:grpSpPr>
        <p:sp>
          <p:nvSpPr>
            <p:cNvPr id="48" name="Freeform 48"/>
            <p:cNvSpPr/>
            <p:nvPr/>
          </p:nvSpPr>
          <p:spPr>
            <a:xfrm>
              <a:off x="31590" y="33909"/>
              <a:ext cx="5043063" cy="3535680"/>
            </a:xfrm>
            <a:custGeom>
              <a:avLst/>
              <a:gdLst/>
              <a:ahLst/>
              <a:cxnLst/>
              <a:rect l="l" t="t" r="r" b="b"/>
              <a:pathLst>
                <a:path w="5043063" h="3535680">
                  <a:moveTo>
                    <a:pt x="0" y="0"/>
                  </a:moveTo>
                  <a:lnTo>
                    <a:pt x="5043063" y="0"/>
                  </a:lnTo>
                  <a:lnTo>
                    <a:pt x="5043063" y="3535680"/>
                  </a:lnTo>
                  <a:lnTo>
                    <a:pt x="0" y="353568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9" name="Freeform 49"/>
            <p:cNvSpPr/>
            <p:nvPr/>
          </p:nvSpPr>
          <p:spPr>
            <a:xfrm>
              <a:off x="0" y="0"/>
              <a:ext cx="5106249" cy="3603498"/>
            </a:xfrm>
            <a:custGeom>
              <a:avLst/>
              <a:gdLst/>
              <a:ahLst/>
              <a:cxnLst/>
              <a:rect l="l" t="t" r="r" b="b"/>
              <a:pathLst>
                <a:path w="5106249" h="3603498">
                  <a:moveTo>
                    <a:pt x="31590" y="0"/>
                  </a:moveTo>
                  <a:lnTo>
                    <a:pt x="5074653" y="0"/>
                  </a:lnTo>
                  <a:cubicBezTo>
                    <a:pt x="5092045" y="0"/>
                    <a:pt x="5106249" y="15113"/>
                    <a:pt x="5106249" y="33909"/>
                  </a:cubicBezTo>
                  <a:lnTo>
                    <a:pt x="5106249" y="3569589"/>
                  </a:lnTo>
                  <a:cubicBezTo>
                    <a:pt x="5106249" y="3588258"/>
                    <a:pt x="5092164" y="3603498"/>
                    <a:pt x="5074653" y="3603498"/>
                  </a:cubicBezTo>
                  <a:lnTo>
                    <a:pt x="31590" y="3603498"/>
                  </a:lnTo>
                  <a:cubicBezTo>
                    <a:pt x="14198" y="3603498"/>
                    <a:pt x="0" y="3588385"/>
                    <a:pt x="0" y="3569589"/>
                  </a:cubicBezTo>
                  <a:lnTo>
                    <a:pt x="0" y="33909"/>
                  </a:lnTo>
                  <a:cubicBezTo>
                    <a:pt x="0" y="15113"/>
                    <a:pt x="14079" y="0"/>
                    <a:pt x="31590" y="0"/>
                  </a:cubicBezTo>
                  <a:moveTo>
                    <a:pt x="31590" y="67691"/>
                  </a:moveTo>
                  <a:lnTo>
                    <a:pt x="31590" y="33909"/>
                  </a:lnTo>
                  <a:lnTo>
                    <a:pt x="63062" y="33909"/>
                  </a:lnTo>
                  <a:lnTo>
                    <a:pt x="63062" y="3569589"/>
                  </a:lnTo>
                  <a:lnTo>
                    <a:pt x="31590" y="3569589"/>
                  </a:lnTo>
                  <a:lnTo>
                    <a:pt x="31590" y="3535680"/>
                  </a:lnTo>
                  <a:lnTo>
                    <a:pt x="5074653" y="3535680"/>
                  </a:lnTo>
                  <a:lnTo>
                    <a:pt x="5074653" y="3569589"/>
                  </a:lnTo>
                  <a:lnTo>
                    <a:pt x="5043063" y="3569589"/>
                  </a:lnTo>
                  <a:lnTo>
                    <a:pt x="5043063" y="33909"/>
                  </a:lnTo>
                  <a:lnTo>
                    <a:pt x="5074653" y="33909"/>
                  </a:lnTo>
                  <a:lnTo>
                    <a:pt x="5074653" y="67691"/>
                  </a:lnTo>
                  <a:lnTo>
                    <a:pt x="31590" y="67691"/>
                  </a:lnTo>
                  <a:close/>
                </a:path>
              </a:pathLst>
            </a:custGeom>
            <a:solidFill>
              <a:srgbClr val="F5A623"/>
            </a:solidFill>
          </p:spPr>
        </p:sp>
      </p:grpSp>
      <p:grpSp>
        <p:nvGrpSpPr>
          <p:cNvPr id="50" name="Group 50"/>
          <p:cNvGrpSpPr/>
          <p:nvPr/>
        </p:nvGrpSpPr>
        <p:grpSpPr>
          <a:xfrm>
            <a:off x="12057820" y="5337044"/>
            <a:ext cx="4998225" cy="225496"/>
            <a:chOff x="0" y="0"/>
            <a:chExt cx="5074617" cy="228943"/>
          </a:xfrm>
        </p:grpSpPr>
        <p:sp>
          <p:nvSpPr>
            <p:cNvPr id="51" name="Freeform 51"/>
            <p:cNvSpPr/>
            <p:nvPr/>
          </p:nvSpPr>
          <p:spPr>
            <a:xfrm>
              <a:off x="15736" y="16891"/>
              <a:ext cx="5043063" cy="195072"/>
            </a:xfrm>
            <a:custGeom>
              <a:avLst/>
              <a:gdLst/>
              <a:ahLst/>
              <a:cxnLst/>
              <a:rect l="l" t="t" r="r" b="b"/>
              <a:pathLst>
                <a:path w="5043063" h="195072">
                  <a:moveTo>
                    <a:pt x="0" y="0"/>
                  </a:moveTo>
                  <a:lnTo>
                    <a:pt x="5043063" y="0"/>
                  </a:lnTo>
                  <a:lnTo>
                    <a:pt x="5043063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F5A623"/>
            </a:solidFill>
          </p:spPr>
        </p:sp>
        <p:sp>
          <p:nvSpPr>
            <p:cNvPr id="52" name="Freeform 52"/>
            <p:cNvSpPr/>
            <p:nvPr/>
          </p:nvSpPr>
          <p:spPr>
            <a:xfrm>
              <a:off x="0" y="0"/>
              <a:ext cx="5074534" cy="228856"/>
            </a:xfrm>
            <a:custGeom>
              <a:avLst/>
              <a:gdLst/>
              <a:ahLst/>
              <a:cxnLst/>
              <a:rect l="l" t="t" r="r" b="b"/>
              <a:pathLst>
                <a:path w="5074534" h="228856">
                  <a:moveTo>
                    <a:pt x="15736" y="0"/>
                  </a:moveTo>
                  <a:lnTo>
                    <a:pt x="5058799" y="0"/>
                  </a:lnTo>
                  <a:cubicBezTo>
                    <a:pt x="5067554" y="0"/>
                    <a:pt x="5074534" y="7620"/>
                    <a:pt x="5074534" y="16891"/>
                  </a:cubicBezTo>
                  <a:lnTo>
                    <a:pt x="5074534" y="211963"/>
                  </a:lnTo>
                  <a:cubicBezTo>
                    <a:pt x="5074534" y="221361"/>
                    <a:pt x="5067436" y="228854"/>
                    <a:pt x="5058799" y="228854"/>
                  </a:cubicBezTo>
                  <a:lnTo>
                    <a:pt x="15736" y="228854"/>
                  </a:lnTo>
                  <a:cubicBezTo>
                    <a:pt x="7099" y="228981"/>
                    <a:pt x="0" y="221361"/>
                    <a:pt x="0" y="211963"/>
                  </a:cubicBezTo>
                  <a:lnTo>
                    <a:pt x="0" y="16891"/>
                  </a:lnTo>
                  <a:cubicBezTo>
                    <a:pt x="0" y="7620"/>
                    <a:pt x="7099" y="0"/>
                    <a:pt x="15736" y="0"/>
                  </a:cubicBezTo>
                  <a:moveTo>
                    <a:pt x="15736" y="33909"/>
                  </a:moveTo>
                  <a:lnTo>
                    <a:pt x="15736" y="16891"/>
                  </a:lnTo>
                  <a:lnTo>
                    <a:pt x="31590" y="16891"/>
                  </a:lnTo>
                  <a:lnTo>
                    <a:pt x="31590" y="211963"/>
                  </a:lnTo>
                  <a:lnTo>
                    <a:pt x="15736" y="211963"/>
                  </a:lnTo>
                  <a:lnTo>
                    <a:pt x="15736" y="195072"/>
                  </a:lnTo>
                  <a:lnTo>
                    <a:pt x="5058799" y="195072"/>
                  </a:lnTo>
                  <a:lnTo>
                    <a:pt x="5058799" y="211963"/>
                  </a:lnTo>
                  <a:lnTo>
                    <a:pt x="5043063" y="211963"/>
                  </a:lnTo>
                  <a:lnTo>
                    <a:pt x="5043063" y="16891"/>
                  </a:lnTo>
                  <a:lnTo>
                    <a:pt x="5058799" y="16891"/>
                  </a:lnTo>
                  <a:lnTo>
                    <a:pt x="5058799" y="33909"/>
                  </a:lnTo>
                  <a:lnTo>
                    <a:pt x="15736" y="33909"/>
                  </a:lnTo>
                  <a:close/>
                </a:path>
              </a:pathLst>
            </a:custGeom>
            <a:solidFill>
              <a:srgbClr val="F5A623"/>
            </a:solidFill>
          </p:spPr>
        </p:sp>
      </p:grpSp>
      <p:grpSp>
        <p:nvGrpSpPr>
          <p:cNvPr id="53" name="Group 53"/>
          <p:cNvGrpSpPr/>
          <p:nvPr/>
        </p:nvGrpSpPr>
        <p:grpSpPr>
          <a:xfrm>
            <a:off x="12073354" y="5518872"/>
            <a:ext cx="4967145" cy="1374895"/>
            <a:chOff x="0" y="0"/>
            <a:chExt cx="5043063" cy="1395909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5043063" cy="1395909"/>
            </a:xfrm>
            <a:custGeom>
              <a:avLst/>
              <a:gdLst/>
              <a:ahLst/>
              <a:cxnLst/>
              <a:rect l="l" t="t" r="r" b="b"/>
              <a:pathLst>
                <a:path w="5043063" h="1395909">
                  <a:moveTo>
                    <a:pt x="0" y="0"/>
                  </a:moveTo>
                  <a:lnTo>
                    <a:pt x="5043063" y="0"/>
                  </a:lnTo>
                  <a:lnTo>
                    <a:pt x="5043063" y="1395909"/>
                  </a:lnTo>
                  <a:lnTo>
                    <a:pt x="0" y="139590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7524" r="-7340" b="-23599"/>
              </a:stretch>
            </a:blipFill>
          </p:spPr>
        </p:sp>
        <p:sp>
          <p:nvSpPr>
            <p:cNvPr id="55" name="TextBox 55"/>
            <p:cNvSpPr txBox="1"/>
            <p:nvPr/>
          </p:nvSpPr>
          <p:spPr>
            <a:xfrm>
              <a:off x="0" y="-28575"/>
              <a:ext cx="5043063" cy="142448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319"/>
                </a:lnSpc>
              </a:pPr>
              <a:r>
                <a:rPr lang="en-US" sz="6099" b="1">
                  <a:solidFill>
                    <a:srgbClr val="F5A62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38 FPS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12073354" y="6890802"/>
            <a:ext cx="4967145" cy="1152812"/>
            <a:chOff x="0" y="0"/>
            <a:chExt cx="5043063" cy="1170432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5043063" cy="1170432"/>
            </a:xfrm>
            <a:custGeom>
              <a:avLst/>
              <a:gdLst/>
              <a:ahLst/>
              <a:cxnLst/>
              <a:rect l="l" t="t" r="r" b="b"/>
              <a:pathLst>
                <a:path w="5043063" h="1170432">
                  <a:moveTo>
                    <a:pt x="0" y="0"/>
                  </a:moveTo>
                  <a:lnTo>
                    <a:pt x="5043063" y="0"/>
                  </a:lnTo>
                  <a:lnTo>
                    <a:pt x="5043063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0118" r="-7340" b="-40118"/>
              </a:stretch>
            </a:blipFill>
          </p:spPr>
        </p:sp>
        <p:sp>
          <p:nvSpPr>
            <p:cNvPr id="58" name="TextBox 58"/>
            <p:cNvSpPr txBox="1"/>
            <p:nvPr/>
          </p:nvSpPr>
          <p:spPr>
            <a:xfrm>
              <a:off x="0" y="-9525"/>
              <a:ext cx="5043063" cy="117995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479"/>
                </a:lnSpc>
              </a:pPr>
              <a:r>
                <a:rPr lang="en-US" sz="2899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Nền phức tạp</a:t>
              </a:r>
            </a:p>
            <a:p>
              <a:pPr algn="ctr">
                <a:lnSpc>
                  <a:spcPts val="3479"/>
                </a:lnSpc>
              </a:pPr>
              <a:r>
                <a:rPr lang="en-US" sz="2899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Nhiều vật thể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12073354" y="8043614"/>
            <a:ext cx="4967145" cy="672474"/>
            <a:chOff x="0" y="0"/>
            <a:chExt cx="5043063" cy="682752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5043063" cy="682752"/>
            </a:xfrm>
            <a:custGeom>
              <a:avLst/>
              <a:gdLst/>
              <a:ahLst/>
              <a:cxnLst/>
              <a:rect l="l" t="t" r="r" b="b"/>
              <a:pathLst>
                <a:path w="5043063" h="682752">
                  <a:moveTo>
                    <a:pt x="0" y="0"/>
                  </a:moveTo>
                  <a:lnTo>
                    <a:pt x="5043063" y="0"/>
                  </a:lnTo>
                  <a:lnTo>
                    <a:pt x="5043063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4488" r="-7340" b="-104488"/>
              </a:stretch>
            </a:blipFill>
          </p:spPr>
        </p:sp>
        <p:sp>
          <p:nvSpPr>
            <p:cNvPr id="61" name="TextBox 61"/>
            <p:cNvSpPr txBox="1"/>
            <p:nvPr/>
          </p:nvSpPr>
          <p:spPr>
            <a:xfrm>
              <a:off x="0" y="-9525"/>
              <a:ext cx="5043063" cy="6922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479"/>
                </a:lnSpc>
              </a:pPr>
              <a:r>
                <a:rPr lang="en-US" sz="2899" b="1">
                  <a:solidFill>
                    <a:srgbClr val="F5A62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88% chính xác</a:t>
              </a:r>
            </a:p>
          </p:txBody>
        </p:sp>
      </p:grpSp>
      <p:sp>
        <p:nvSpPr>
          <p:cNvPr id="62" name="TextBox 62"/>
          <p:cNvSpPr txBox="1"/>
          <p:nvPr/>
        </p:nvSpPr>
        <p:spPr>
          <a:xfrm>
            <a:off x="593005" y="6463421"/>
            <a:ext cx="5726134" cy="1916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7560"/>
              </a:lnSpc>
            </a:pPr>
            <a:r>
              <a:rPr lang="en-US" sz="6000" b="1" spc="216">
                <a:solidFill>
                  <a:srgbClr val="0C0E0B"/>
                </a:solidFill>
                <a:latin typeface="Arial Bold"/>
                <a:ea typeface="Arial Bold"/>
                <a:cs typeface="Arial Bold"/>
                <a:sym typeface="Arial Bold"/>
              </a:rPr>
              <a:t>4.Hiệu năng thời gian thực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506616" y="3131310"/>
            <a:ext cx="7867344" cy="0"/>
          </a:xfrm>
          <a:prstGeom prst="line">
            <a:avLst/>
          </a:prstGeom>
          <a:ln w="38100" cap="rnd">
            <a:solidFill>
              <a:srgbClr val="0A2073"/>
            </a:solidFill>
            <a:prstDash val="sysDot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>
            <a:off x="8506616" y="4301804"/>
            <a:ext cx="7867344" cy="0"/>
          </a:xfrm>
          <a:prstGeom prst="line">
            <a:avLst/>
          </a:prstGeom>
          <a:ln w="38100" cap="rnd">
            <a:solidFill>
              <a:srgbClr val="0A2073"/>
            </a:solidFill>
            <a:prstDash val="sysDot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8506616" y="5472298"/>
            <a:ext cx="7867344" cy="0"/>
          </a:xfrm>
          <a:prstGeom prst="line">
            <a:avLst/>
          </a:prstGeom>
          <a:ln w="38100" cap="rnd">
            <a:solidFill>
              <a:srgbClr val="0A2073"/>
            </a:solidFill>
            <a:prstDash val="sysDot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>
            <a:off x="8506616" y="6642792"/>
            <a:ext cx="7867344" cy="0"/>
          </a:xfrm>
          <a:prstGeom prst="line">
            <a:avLst/>
          </a:prstGeom>
          <a:ln w="38100" cap="rnd">
            <a:solidFill>
              <a:srgbClr val="0A2073"/>
            </a:solidFill>
            <a:prstDash val="sysDot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>
            <a:off x="8506616" y="7813286"/>
            <a:ext cx="7867344" cy="0"/>
          </a:xfrm>
          <a:prstGeom prst="line">
            <a:avLst/>
          </a:prstGeom>
          <a:ln w="38100" cap="rnd">
            <a:solidFill>
              <a:srgbClr val="0A2073"/>
            </a:solidFill>
            <a:prstDash val="sysDot"/>
            <a:headEnd type="none" w="sm" len="sm"/>
            <a:tailEnd type="none" w="sm" len="sm"/>
          </a:ln>
        </p:spPr>
      </p:sp>
      <p:grpSp>
        <p:nvGrpSpPr>
          <p:cNvPr id="7" name="Group 7"/>
          <p:cNvGrpSpPr/>
          <p:nvPr/>
        </p:nvGrpSpPr>
        <p:grpSpPr>
          <a:xfrm rot="-9581706">
            <a:off x="1044960" y="2174336"/>
            <a:ext cx="923492" cy="803211"/>
            <a:chOff x="0" y="0"/>
            <a:chExt cx="473018" cy="41140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73018" cy="411409"/>
            </a:xfrm>
            <a:custGeom>
              <a:avLst/>
              <a:gdLst/>
              <a:ahLst/>
              <a:cxnLst/>
              <a:rect l="l" t="t" r="r" b="b"/>
              <a:pathLst>
                <a:path w="473018" h="411409">
                  <a:moveTo>
                    <a:pt x="0" y="0"/>
                  </a:moveTo>
                  <a:lnTo>
                    <a:pt x="473018" y="0"/>
                  </a:lnTo>
                  <a:lnTo>
                    <a:pt x="473018" y="411409"/>
                  </a:lnTo>
                  <a:lnTo>
                    <a:pt x="0" y="411409"/>
                  </a:lnTo>
                  <a:close/>
                </a:path>
              </a:pathLst>
            </a:custGeom>
            <a:solidFill>
              <a:srgbClr val="4F3F07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473018" cy="4685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95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 rot="-10800000">
            <a:off x="934290" y="2745896"/>
            <a:ext cx="6812078" cy="6512404"/>
            <a:chOff x="0" y="0"/>
            <a:chExt cx="3489185" cy="333569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489185" cy="3335691"/>
            </a:xfrm>
            <a:custGeom>
              <a:avLst/>
              <a:gdLst/>
              <a:ahLst/>
              <a:cxnLst/>
              <a:rect l="l" t="t" r="r" b="b"/>
              <a:pathLst>
                <a:path w="3489185" h="3335691">
                  <a:moveTo>
                    <a:pt x="0" y="0"/>
                  </a:moveTo>
                  <a:lnTo>
                    <a:pt x="3489185" y="0"/>
                  </a:lnTo>
                  <a:lnTo>
                    <a:pt x="3489185" y="3335691"/>
                  </a:lnTo>
                  <a:lnTo>
                    <a:pt x="0" y="3335691"/>
                  </a:lnTo>
                  <a:close/>
                </a:path>
              </a:pathLst>
            </a:custGeom>
            <a:solidFill>
              <a:srgbClr val="EFEFEF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3489185" cy="33928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95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 rot="-10800000">
            <a:off x="758731" y="2039059"/>
            <a:ext cx="6502186" cy="803211"/>
            <a:chOff x="0" y="0"/>
            <a:chExt cx="3330457" cy="41140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330457" cy="411409"/>
            </a:xfrm>
            <a:custGeom>
              <a:avLst/>
              <a:gdLst/>
              <a:ahLst/>
              <a:cxnLst/>
              <a:rect l="l" t="t" r="r" b="b"/>
              <a:pathLst>
                <a:path w="3330457" h="411409">
                  <a:moveTo>
                    <a:pt x="0" y="0"/>
                  </a:moveTo>
                  <a:lnTo>
                    <a:pt x="3330457" y="0"/>
                  </a:lnTo>
                  <a:lnTo>
                    <a:pt x="3330457" y="411409"/>
                  </a:lnTo>
                  <a:lnTo>
                    <a:pt x="0" y="411409"/>
                  </a:lnTo>
                  <a:close/>
                </a:path>
              </a:pathLst>
            </a:custGeom>
            <a:solidFill>
              <a:srgbClr val="0A2073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3330457" cy="4685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95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9259449" y="3398242"/>
            <a:ext cx="347253" cy="636630"/>
          </a:xfrm>
          <a:custGeom>
            <a:avLst/>
            <a:gdLst/>
            <a:ahLst/>
            <a:cxnLst/>
            <a:rect l="l" t="t" r="r" b="b"/>
            <a:pathLst>
              <a:path w="347253" h="636630">
                <a:moveTo>
                  <a:pt x="0" y="0"/>
                </a:moveTo>
                <a:lnTo>
                  <a:pt x="347253" y="0"/>
                </a:lnTo>
                <a:lnTo>
                  <a:pt x="347253" y="636630"/>
                </a:lnTo>
                <a:lnTo>
                  <a:pt x="0" y="6366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8991894" y="4571161"/>
            <a:ext cx="622215" cy="604845"/>
          </a:xfrm>
          <a:custGeom>
            <a:avLst/>
            <a:gdLst/>
            <a:ahLst/>
            <a:cxnLst/>
            <a:rect l="l" t="t" r="r" b="b"/>
            <a:pathLst>
              <a:path w="622215" h="604845">
                <a:moveTo>
                  <a:pt x="0" y="0"/>
                </a:moveTo>
                <a:lnTo>
                  <a:pt x="622215" y="0"/>
                </a:lnTo>
                <a:lnTo>
                  <a:pt x="622215" y="604844"/>
                </a:lnTo>
                <a:lnTo>
                  <a:pt x="0" y="6048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9188666" y="2103636"/>
            <a:ext cx="514762" cy="773220"/>
          </a:xfrm>
          <a:custGeom>
            <a:avLst/>
            <a:gdLst/>
            <a:ahLst/>
            <a:cxnLst/>
            <a:rect l="l" t="t" r="r" b="b"/>
            <a:pathLst>
              <a:path w="514762" h="773220">
                <a:moveTo>
                  <a:pt x="0" y="0"/>
                </a:moveTo>
                <a:lnTo>
                  <a:pt x="514762" y="0"/>
                </a:lnTo>
                <a:lnTo>
                  <a:pt x="514762" y="773221"/>
                </a:lnTo>
                <a:lnTo>
                  <a:pt x="0" y="77322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9015741" y="5764160"/>
            <a:ext cx="673855" cy="556236"/>
          </a:xfrm>
          <a:custGeom>
            <a:avLst/>
            <a:gdLst/>
            <a:ahLst/>
            <a:cxnLst/>
            <a:rect l="l" t="t" r="r" b="b"/>
            <a:pathLst>
              <a:path w="673855" h="556236">
                <a:moveTo>
                  <a:pt x="0" y="0"/>
                </a:moveTo>
                <a:lnTo>
                  <a:pt x="673854" y="0"/>
                </a:lnTo>
                <a:lnTo>
                  <a:pt x="673854" y="556236"/>
                </a:lnTo>
                <a:lnTo>
                  <a:pt x="0" y="55623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8959822" y="6789772"/>
            <a:ext cx="785693" cy="876534"/>
          </a:xfrm>
          <a:custGeom>
            <a:avLst/>
            <a:gdLst/>
            <a:ahLst/>
            <a:cxnLst/>
            <a:rect l="l" t="t" r="r" b="b"/>
            <a:pathLst>
              <a:path w="785693" h="876534">
                <a:moveTo>
                  <a:pt x="0" y="0"/>
                </a:moveTo>
                <a:lnTo>
                  <a:pt x="785693" y="0"/>
                </a:lnTo>
                <a:lnTo>
                  <a:pt x="785693" y="876534"/>
                </a:lnTo>
                <a:lnTo>
                  <a:pt x="0" y="87653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9015741" y="8082643"/>
            <a:ext cx="1126243" cy="895363"/>
          </a:xfrm>
          <a:prstGeom prst="rect">
            <a:avLst/>
          </a:prstGeom>
        </p:spPr>
      </p:pic>
      <p:sp>
        <p:nvSpPr>
          <p:cNvPr id="22" name="TextBox 22"/>
          <p:cNvSpPr txBox="1"/>
          <p:nvPr/>
        </p:nvSpPr>
        <p:spPr>
          <a:xfrm>
            <a:off x="10148484" y="2238691"/>
            <a:ext cx="2089653" cy="536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173"/>
              </a:lnSpc>
              <a:spcBef>
                <a:spcPct val="0"/>
              </a:spcBef>
            </a:pPr>
            <a:r>
              <a:rPr lang="en-US" sz="3210" b="1" spc="-6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Call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883540" y="2251190"/>
            <a:ext cx="5375760" cy="483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06"/>
              </a:lnSpc>
              <a:spcBef>
                <a:spcPct val="0"/>
              </a:spcBef>
            </a:pPr>
            <a:r>
              <a:rPr lang="en-US" sz="2718" spc="1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CALL_NURSE (Gọi y tá)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54332" y="706169"/>
            <a:ext cx="13267211" cy="658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48"/>
              </a:lnSpc>
            </a:pPr>
            <a:r>
              <a:rPr lang="en-US" sz="48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5. Giao diện ứng dụng &amp; Môi trường Unity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148484" y="3409185"/>
            <a:ext cx="2089653" cy="536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173"/>
              </a:lnSpc>
              <a:spcBef>
                <a:spcPct val="0"/>
              </a:spcBef>
            </a:pPr>
            <a:r>
              <a:rPr lang="en-US" sz="3210" b="1" spc="-6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Fist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883540" y="3421684"/>
            <a:ext cx="5375760" cy="483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06"/>
              </a:lnSpc>
              <a:spcBef>
                <a:spcPct val="0"/>
              </a:spcBef>
            </a:pPr>
            <a:r>
              <a:rPr lang="en-US" sz="2718" spc="1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CLOSE_DOOR (Đóng cửa)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148484" y="4579679"/>
            <a:ext cx="2089653" cy="536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173"/>
              </a:lnSpc>
              <a:spcBef>
                <a:spcPct val="0"/>
              </a:spcBef>
            </a:pPr>
            <a:r>
              <a:rPr lang="en-US" sz="3210" b="1" spc="-6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Palm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883540" y="4592178"/>
            <a:ext cx="5375760" cy="483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06"/>
              </a:lnSpc>
              <a:spcBef>
                <a:spcPct val="0"/>
              </a:spcBef>
            </a:pPr>
            <a:r>
              <a:rPr lang="en-US" sz="2718" spc="1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OPEN_DOOR (Mở cửa)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148484" y="5750199"/>
            <a:ext cx="2089653" cy="5365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179"/>
              </a:lnSpc>
              <a:spcBef>
                <a:spcPct val="0"/>
              </a:spcBef>
            </a:pPr>
            <a:r>
              <a:rPr lang="en-US" sz="3214" b="1" spc="-6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Peace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883540" y="5762672"/>
            <a:ext cx="5375760" cy="483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06"/>
              </a:lnSpc>
              <a:spcBef>
                <a:spcPct val="0"/>
              </a:spcBef>
            </a:pPr>
            <a:r>
              <a:rPr lang="en-US" sz="2718" spc="1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TOGGLE_BED (Nâng/Hạ giường)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148484" y="6920667"/>
            <a:ext cx="2089653" cy="536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173"/>
              </a:lnSpc>
              <a:spcBef>
                <a:spcPct val="0"/>
              </a:spcBef>
            </a:pPr>
            <a:r>
              <a:rPr lang="en-US" sz="3210" b="1" spc="-6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Stop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883540" y="6933166"/>
            <a:ext cx="5375760" cy="483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06"/>
              </a:lnSpc>
              <a:spcBef>
                <a:spcPct val="0"/>
              </a:spcBef>
            </a:pPr>
            <a:r>
              <a:rPr lang="en-US" sz="2718" spc="1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TOGGLE_LIGHT (Bật/Tắt đèn)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148484" y="8091162"/>
            <a:ext cx="2089653" cy="536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173"/>
              </a:lnSpc>
              <a:spcBef>
                <a:spcPct val="0"/>
              </a:spcBef>
            </a:pPr>
            <a:r>
              <a:rPr lang="en-US" sz="3210" b="1" spc="-6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Like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883540" y="8089973"/>
            <a:ext cx="5375760" cy="958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806"/>
              </a:lnSpc>
            </a:pPr>
            <a:r>
              <a:rPr lang="en-US" sz="2718" spc="1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MOVE FORWARD/LEFT/RIGHT</a:t>
            </a:r>
          </a:p>
          <a:p>
            <a:pPr marL="0" lvl="0" indent="0" algn="just">
              <a:lnSpc>
                <a:spcPts val="3806"/>
              </a:lnSpc>
              <a:spcBef>
                <a:spcPct val="0"/>
              </a:spcBef>
            </a:pPr>
            <a:r>
              <a:rPr lang="en-US" sz="2718" spc="1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(Thẳng/Trái/Phải)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338492" y="3056433"/>
            <a:ext cx="5922425" cy="556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6074" lvl="1" indent="-318037" algn="just">
              <a:lnSpc>
                <a:spcPts val="5568"/>
              </a:lnSpc>
              <a:buFont typeface="Arial"/>
              <a:buChar char="•"/>
            </a:pPr>
            <a:r>
              <a:rPr lang="en-US" sz="2946" spc="120">
                <a:solidFill>
                  <a:srgbClr val="0D1D29"/>
                </a:solidFill>
                <a:latin typeface="Arial"/>
                <a:ea typeface="Arial"/>
                <a:cs typeface="Arial"/>
                <a:sym typeface="Arial"/>
              </a:rPr>
              <a:t>Hiển thị hộp giới hạn + nhãn lớp + độ tin cậy + FPS</a:t>
            </a:r>
          </a:p>
          <a:p>
            <a:pPr marL="636074" lvl="1" indent="-318037" algn="just">
              <a:lnSpc>
                <a:spcPts val="5568"/>
              </a:lnSpc>
              <a:buFont typeface="Arial"/>
              <a:buChar char="•"/>
            </a:pPr>
            <a:r>
              <a:rPr lang="en-US" sz="2946" spc="120">
                <a:solidFill>
                  <a:srgbClr val="0D1D29"/>
                </a:solidFill>
                <a:latin typeface="Arial"/>
                <a:ea typeface="Arial"/>
                <a:cs typeface="Arial"/>
                <a:sym typeface="Arial"/>
              </a:rPr>
              <a:t>Thanh trạng thái hiển thị hành động vừa thực thi</a:t>
            </a:r>
          </a:p>
          <a:p>
            <a:pPr marL="636074" lvl="1" indent="-318037" algn="just">
              <a:lnSpc>
                <a:spcPts val="5568"/>
              </a:lnSpc>
              <a:buFont typeface="Arial"/>
              <a:buChar char="•"/>
            </a:pPr>
            <a:r>
              <a:rPr lang="en-US" sz="2946" spc="120">
                <a:solidFill>
                  <a:srgbClr val="0D1D29"/>
                </a:solidFill>
                <a:latin typeface="Arial"/>
                <a:ea typeface="Arial"/>
                <a:cs typeface="Arial"/>
                <a:sym typeface="Arial"/>
              </a:rPr>
              <a:t>Độ trễ &lt; 50ms ở điều kiện chuẩn</a:t>
            </a:r>
          </a:p>
          <a:p>
            <a:pPr marL="636074" lvl="1" indent="-318037" algn="just">
              <a:lnSpc>
                <a:spcPts val="5568"/>
              </a:lnSpc>
              <a:buFont typeface="Arial"/>
              <a:buChar char="•"/>
            </a:pPr>
            <a:r>
              <a:rPr lang="en-US" sz="2946" spc="120">
                <a:solidFill>
                  <a:srgbClr val="0D1D29"/>
                </a:solidFill>
                <a:latin typeface="Arial"/>
                <a:ea typeface="Arial"/>
                <a:cs typeface="Arial"/>
                <a:sym typeface="Arial"/>
              </a:rPr>
              <a:t>FPS trung bình: 38 - 51 FPS trong thực tế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34290" y="2282912"/>
            <a:ext cx="7912680" cy="7897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6"/>
              </a:lnSpc>
            </a:pPr>
            <a:r>
              <a:rPr lang="en-US" sz="2833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ỨNG DỤNG PYQT6 + OPENCV</a:t>
            </a:r>
          </a:p>
          <a:p>
            <a:pPr marL="0" lvl="0" indent="0" algn="l">
              <a:lnSpc>
                <a:spcPts val="3116"/>
              </a:lnSpc>
              <a:spcBef>
                <a:spcPct val="0"/>
              </a:spcBef>
            </a:pPr>
            <a:endParaRPr lang="en-US" sz="2833" b="1">
              <a:solidFill>
                <a:srgbClr val="FFFFFF"/>
              </a:solidFill>
              <a:latin typeface="DM Sans Bold"/>
              <a:ea typeface="DM Sans Bold"/>
              <a:cs typeface="DM Sans Bold"/>
              <a:sym typeface="DM Sans 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360460"/>
            <a:ext cx="7651750" cy="3672840"/>
          </a:xfrm>
          <a:custGeom>
            <a:avLst/>
            <a:gdLst/>
            <a:ahLst/>
            <a:cxnLst/>
            <a:rect l="l" t="t" r="r" b="b"/>
            <a:pathLst>
              <a:path w="7651750" h="3672840">
                <a:moveTo>
                  <a:pt x="0" y="0"/>
                </a:moveTo>
                <a:lnTo>
                  <a:pt x="7651750" y="0"/>
                </a:lnTo>
                <a:lnTo>
                  <a:pt x="7651750" y="3672840"/>
                </a:lnTo>
                <a:lnTo>
                  <a:pt x="0" y="36728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28700" y="6227612"/>
            <a:ext cx="7651750" cy="3672840"/>
          </a:xfrm>
          <a:custGeom>
            <a:avLst/>
            <a:gdLst/>
            <a:ahLst/>
            <a:cxnLst/>
            <a:rect l="l" t="t" r="r" b="b"/>
            <a:pathLst>
              <a:path w="7651750" h="3672840">
                <a:moveTo>
                  <a:pt x="0" y="0"/>
                </a:moveTo>
                <a:lnTo>
                  <a:pt x="7651750" y="0"/>
                </a:lnTo>
                <a:lnTo>
                  <a:pt x="7651750" y="3672840"/>
                </a:lnTo>
                <a:lnTo>
                  <a:pt x="0" y="36728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6058" b="-6334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565150" y="4837714"/>
            <a:ext cx="8115300" cy="913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076" lvl="1" indent="-291038" algn="l">
              <a:lnSpc>
                <a:spcPts val="3639"/>
              </a:lnSpc>
              <a:buFont typeface="Arial"/>
              <a:buChar char="•"/>
            </a:pPr>
            <a:r>
              <a:rPr lang="en-US" sz="2696" spc="67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Độ tin cậy 0.89, FPS đạt 32 </a:t>
            </a:r>
          </a:p>
          <a:p>
            <a:pPr marL="582076" lvl="1" indent="-291038" algn="l">
              <a:lnSpc>
                <a:spcPts val="3639"/>
              </a:lnSpc>
              <a:buFont typeface="Arial"/>
              <a:buChar char="•"/>
            </a:pPr>
            <a:r>
              <a:rPr lang="en-US" sz="2696" spc="67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Unity: Hình con nhộng mô phỏng y tá xuất hiện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923048" y="4230344"/>
            <a:ext cx="4465162" cy="5125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4"/>
              </a:lnSpc>
            </a:pPr>
            <a:r>
              <a:rPr lang="en-US" sz="3010" b="1" spc="75">
                <a:solidFill>
                  <a:srgbClr val="191919"/>
                </a:solidFill>
                <a:latin typeface="Arial Bold"/>
                <a:ea typeface="Arial Bold"/>
                <a:cs typeface="Arial Bold"/>
                <a:sym typeface="Arial Bold"/>
              </a:rPr>
              <a:t>Call - CALL_NURSE</a:t>
            </a:r>
          </a:p>
        </p:txBody>
      </p:sp>
      <p:sp>
        <p:nvSpPr>
          <p:cNvPr id="6" name="Freeform 6"/>
          <p:cNvSpPr/>
          <p:nvPr/>
        </p:nvSpPr>
        <p:spPr>
          <a:xfrm>
            <a:off x="9994123" y="360460"/>
            <a:ext cx="7651750" cy="3672840"/>
          </a:xfrm>
          <a:custGeom>
            <a:avLst/>
            <a:gdLst/>
            <a:ahLst/>
            <a:cxnLst/>
            <a:rect l="l" t="t" r="r" b="b"/>
            <a:pathLst>
              <a:path w="7651750" h="3672840">
                <a:moveTo>
                  <a:pt x="0" y="0"/>
                </a:moveTo>
                <a:lnTo>
                  <a:pt x="7651750" y="0"/>
                </a:lnTo>
                <a:lnTo>
                  <a:pt x="7651750" y="3672840"/>
                </a:lnTo>
                <a:lnTo>
                  <a:pt x="0" y="36728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9762348" y="4837714"/>
            <a:ext cx="8525652" cy="1366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076" lvl="1" indent="-291038" algn="l">
              <a:lnSpc>
                <a:spcPts val="3639"/>
              </a:lnSpc>
              <a:buFont typeface="Arial"/>
              <a:buChar char="•"/>
            </a:pPr>
            <a:r>
              <a:rPr lang="en-US" sz="2696" spc="67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Độ tin cậy 0.92, FPS đạt 32 FPS </a:t>
            </a:r>
          </a:p>
          <a:p>
            <a:pPr marL="582076" lvl="1" indent="-291038" algn="l">
              <a:lnSpc>
                <a:spcPts val="3639"/>
              </a:lnSpc>
              <a:buFont typeface="Arial"/>
              <a:buChar char="•"/>
            </a:pPr>
            <a:r>
              <a:rPr lang="en-US" sz="2696" spc="67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Unity: Cánh cửa màu vàng phản hồi trạng thái mở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120245" y="4230344"/>
            <a:ext cx="4465162" cy="5125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4"/>
              </a:lnSpc>
            </a:pPr>
            <a:r>
              <a:rPr lang="en-US" sz="3010" b="1" spc="75">
                <a:solidFill>
                  <a:srgbClr val="191919"/>
                </a:solidFill>
                <a:latin typeface="Arial Bold"/>
                <a:ea typeface="Arial Bold"/>
                <a:cs typeface="Arial Bold"/>
                <a:sym typeface="Arial Bold"/>
              </a:rPr>
              <a:t>Palm - OPEN_DOOR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530573" y="7480001"/>
            <a:ext cx="8115300" cy="1377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077" lvl="1" indent="-291038" algn="just">
              <a:lnSpc>
                <a:spcPts val="3639"/>
              </a:lnSpc>
              <a:buFont typeface="Arial"/>
              <a:buChar char="•"/>
            </a:pPr>
            <a:r>
              <a:rPr lang="en-US" sz="2696" spc="67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Độ tin cậy 0.88, FPS đạt 41</a:t>
            </a:r>
          </a:p>
          <a:p>
            <a:pPr marL="582077" lvl="1" indent="-291038" algn="just">
              <a:lnSpc>
                <a:spcPts val="3639"/>
              </a:lnSpc>
              <a:buFont typeface="Arial"/>
              <a:buChar char="•"/>
            </a:pPr>
            <a:r>
              <a:rPr lang="en-US" sz="2696" spc="67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Unity: Nhìn từ phía ngoài ngôi nhà, cánh cửa  màu vàng đang ở trạng thái đóng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56572" y="6806772"/>
            <a:ext cx="4465162" cy="5141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64"/>
              </a:lnSpc>
            </a:pPr>
            <a:r>
              <a:rPr lang="en-US" sz="3010" b="1" spc="75">
                <a:solidFill>
                  <a:srgbClr val="191919"/>
                </a:solidFill>
                <a:latin typeface="Arial Bold"/>
                <a:ea typeface="Arial Bold"/>
                <a:cs typeface="Arial Bold"/>
                <a:sym typeface="Arial Bold"/>
              </a:rPr>
              <a:t>Fist - CLOSE_DOOR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5252544"/>
            <a:ext cx="7626426" cy="3679751"/>
          </a:xfrm>
          <a:custGeom>
            <a:avLst/>
            <a:gdLst/>
            <a:ahLst/>
            <a:cxnLst/>
            <a:rect l="l" t="t" r="r" b="b"/>
            <a:pathLst>
              <a:path w="7626426" h="3679751">
                <a:moveTo>
                  <a:pt x="0" y="0"/>
                </a:moveTo>
                <a:lnTo>
                  <a:pt x="7626426" y="0"/>
                </a:lnTo>
                <a:lnTo>
                  <a:pt x="7626426" y="3679751"/>
                </a:lnTo>
                <a:lnTo>
                  <a:pt x="0" y="36797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28700" y="757597"/>
            <a:ext cx="7626426" cy="3660685"/>
          </a:xfrm>
          <a:custGeom>
            <a:avLst/>
            <a:gdLst/>
            <a:ahLst/>
            <a:cxnLst/>
            <a:rect l="l" t="t" r="r" b="b"/>
            <a:pathLst>
              <a:path w="7626426" h="3660685">
                <a:moveTo>
                  <a:pt x="0" y="0"/>
                </a:moveTo>
                <a:lnTo>
                  <a:pt x="7626426" y="0"/>
                </a:lnTo>
                <a:lnTo>
                  <a:pt x="7626426" y="3660684"/>
                </a:lnTo>
                <a:lnTo>
                  <a:pt x="0" y="36606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9388087" y="2374575"/>
            <a:ext cx="8578850" cy="100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6845" lvl="1" indent="-323423" algn="l">
              <a:lnSpc>
                <a:spcPts val="4044"/>
              </a:lnSpc>
              <a:buFont typeface="Arial"/>
              <a:buChar char="•"/>
            </a:pPr>
            <a:r>
              <a:rPr lang="en-US" sz="2996" spc="74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Độ tin cậy 0.90, FPS đạt 52</a:t>
            </a:r>
          </a:p>
          <a:p>
            <a:pPr marL="646845" lvl="1" indent="-323423" algn="l">
              <a:lnSpc>
                <a:spcPts val="4044"/>
              </a:lnSpc>
              <a:buFont typeface="Arial"/>
              <a:buChar char="•"/>
            </a:pPr>
            <a:r>
              <a:rPr lang="en-US" sz="2996" spc="74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Unity: Đèn trong phòng được bật sáng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709150" y="1652512"/>
            <a:ext cx="6067760" cy="565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1"/>
              </a:lnSpc>
            </a:pPr>
            <a:r>
              <a:rPr lang="en-US" sz="3312" b="1" spc="82">
                <a:solidFill>
                  <a:srgbClr val="191919"/>
                </a:solidFill>
                <a:latin typeface="Arial Bold"/>
                <a:ea typeface="Arial Bold"/>
                <a:cs typeface="Arial Bold"/>
                <a:sym typeface="Arial Bold"/>
              </a:rPr>
              <a:t>Stop - TOGGLE_LIGHT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709150" y="5939959"/>
            <a:ext cx="6067760" cy="565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469"/>
              </a:lnSpc>
            </a:pPr>
            <a:r>
              <a:rPr lang="en-US" sz="3310" b="1" spc="82">
                <a:solidFill>
                  <a:srgbClr val="191919"/>
                </a:solidFill>
                <a:latin typeface="Arial Bold"/>
                <a:ea typeface="Arial Bold"/>
                <a:cs typeface="Arial Bold"/>
                <a:sym typeface="Arial Bold"/>
              </a:rPr>
              <a:t>Peace - TOGGLE_BED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709150" y="6663655"/>
            <a:ext cx="7936723" cy="1514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6845" lvl="1" indent="-323423" algn="just">
              <a:lnSpc>
                <a:spcPts val="4044"/>
              </a:lnSpc>
              <a:buFont typeface="Arial"/>
              <a:buChar char="•"/>
            </a:pPr>
            <a:r>
              <a:rPr lang="en-US" sz="2996" spc="74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Độ tin cậy 0.90, FPS đạt 37</a:t>
            </a:r>
          </a:p>
          <a:p>
            <a:pPr marL="646845" lvl="1" indent="-323423" algn="just">
              <a:lnSpc>
                <a:spcPts val="4044"/>
              </a:lnSpc>
              <a:buFont typeface="Arial"/>
              <a:buChar char="•"/>
            </a:pPr>
            <a:r>
              <a:rPr lang="en-US" sz="2996" spc="74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Unity: Chiếc giường (đệm màu xanh lá) chuyển sang trạng thái nâng lên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462254"/>
            <a:ext cx="7631876" cy="3672840"/>
          </a:xfrm>
          <a:custGeom>
            <a:avLst/>
            <a:gdLst/>
            <a:ahLst/>
            <a:cxnLst/>
            <a:rect l="l" t="t" r="r" b="b"/>
            <a:pathLst>
              <a:path w="7631876" h="3672840">
                <a:moveTo>
                  <a:pt x="0" y="0"/>
                </a:moveTo>
                <a:lnTo>
                  <a:pt x="7631876" y="0"/>
                </a:lnTo>
                <a:lnTo>
                  <a:pt x="7631876" y="3672840"/>
                </a:lnTo>
                <a:lnTo>
                  <a:pt x="0" y="36728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28700" y="6069909"/>
            <a:ext cx="7631876" cy="3663300"/>
          </a:xfrm>
          <a:custGeom>
            <a:avLst/>
            <a:gdLst/>
            <a:ahLst/>
            <a:cxnLst/>
            <a:rect l="l" t="t" r="r" b="b"/>
            <a:pathLst>
              <a:path w="7631876" h="3663300">
                <a:moveTo>
                  <a:pt x="0" y="0"/>
                </a:moveTo>
                <a:lnTo>
                  <a:pt x="7631876" y="0"/>
                </a:lnTo>
                <a:lnTo>
                  <a:pt x="7631876" y="3663301"/>
                </a:lnTo>
                <a:lnTo>
                  <a:pt x="0" y="36633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9956572" y="462254"/>
            <a:ext cx="7631876" cy="3644221"/>
          </a:xfrm>
          <a:custGeom>
            <a:avLst/>
            <a:gdLst/>
            <a:ahLst/>
            <a:cxnLst/>
            <a:rect l="l" t="t" r="r" b="b"/>
            <a:pathLst>
              <a:path w="7631876" h="3644221">
                <a:moveTo>
                  <a:pt x="0" y="0"/>
                </a:moveTo>
                <a:lnTo>
                  <a:pt x="7631876" y="0"/>
                </a:lnTo>
                <a:lnTo>
                  <a:pt x="7631876" y="3644221"/>
                </a:lnTo>
                <a:lnTo>
                  <a:pt x="0" y="36442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565150" y="4837714"/>
            <a:ext cx="8115300" cy="913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076" lvl="1" indent="-291038" algn="l">
              <a:lnSpc>
                <a:spcPts val="3639"/>
              </a:lnSpc>
              <a:buFont typeface="Arial"/>
              <a:buChar char="•"/>
            </a:pPr>
            <a:r>
              <a:rPr lang="en-US" sz="2696" spc="67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Độ tin cậy 0.86, FPS đạt 32 </a:t>
            </a:r>
          </a:p>
          <a:p>
            <a:pPr marL="582076" lvl="1" indent="-291038" algn="l">
              <a:lnSpc>
                <a:spcPts val="3639"/>
              </a:lnSpc>
              <a:buFont typeface="Arial"/>
              <a:buChar char="•"/>
            </a:pPr>
            <a:r>
              <a:rPr lang="en-US" sz="2696" spc="67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Unity: Di chuyển đi thẳng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659607" y="4230344"/>
            <a:ext cx="5167670" cy="5125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4"/>
              </a:lnSpc>
            </a:pPr>
            <a:r>
              <a:rPr lang="en-US" sz="3010" b="1" spc="75">
                <a:solidFill>
                  <a:srgbClr val="191919"/>
                </a:solidFill>
                <a:latin typeface="Arial Bold"/>
                <a:ea typeface="Arial Bold"/>
                <a:cs typeface="Arial Bold"/>
                <a:sym typeface="Arial Bold"/>
              </a:rPr>
              <a:t>Like -  MOVE_FORWARD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762348" y="4837714"/>
            <a:ext cx="8525652" cy="913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076" lvl="1" indent="-291038" algn="l">
              <a:lnSpc>
                <a:spcPts val="3639"/>
              </a:lnSpc>
              <a:buFont typeface="Arial"/>
              <a:buChar char="•"/>
            </a:pPr>
            <a:r>
              <a:rPr lang="en-US" sz="2696" spc="67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Độ tin cậy 0.83, FPS đạt 50</a:t>
            </a:r>
          </a:p>
          <a:p>
            <a:pPr marL="582076" lvl="1" indent="-291038" algn="l">
              <a:lnSpc>
                <a:spcPts val="3639"/>
              </a:lnSpc>
              <a:buFont typeface="Arial"/>
              <a:buChar char="•"/>
            </a:pPr>
            <a:r>
              <a:rPr lang="en-US" sz="2696" spc="67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Unity: Di chuyển hướng về bên trái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120245" y="4230344"/>
            <a:ext cx="4465162" cy="5125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4"/>
              </a:lnSpc>
            </a:pPr>
            <a:r>
              <a:rPr lang="en-US" sz="3010" b="1" spc="75">
                <a:solidFill>
                  <a:srgbClr val="191919"/>
                </a:solidFill>
                <a:latin typeface="Arial Bold"/>
                <a:ea typeface="Arial Bold"/>
                <a:cs typeface="Arial Bold"/>
                <a:sym typeface="Arial Bold"/>
              </a:rPr>
              <a:t>Like - MOVE_LEFT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530573" y="7480001"/>
            <a:ext cx="8115300" cy="920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077" lvl="1" indent="-291038" algn="just">
              <a:lnSpc>
                <a:spcPts val="3639"/>
              </a:lnSpc>
              <a:buFont typeface="Arial"/>
              <a:buChar char="•"/>
            </a:pPr>
            <a:r>
              <a:rPr lang="en-US" sz="2696" spc="67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Độ tin cậy 0.88, FPS đạt 45</a:t>
            </a:r>
          </a:p>
          <a:p>
            <a:pPr marL="582077" lvl="1" indent="-291038" algn="just">
              <a:lnSpc>
                <a:spcPts val="3639"/>
              </a:lnSpc>
              <a:buFont typeface="Arial"/>
              <a:buChar char="•"/>
            </a:pPr>
            <a:r>
              <a:rPr lang="en-US" sz="2696" spc="67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Unity: Di chuyển hướng về bên phải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56572" y="6806772"/>
            <a:ext cx="6067760" cy="5141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64"/>
              </a:lnSpc>
            </a:pPr>
            <a:r>
              <a:rPr lang="en-US" sz="3010" b="1" spc="75">
                <a:solidFill>
                  <a:srgbClr val="191919"/>
                </a:solidFill>
                <a:latin typeface="Arial Bold"/>
                <a:ea typeface="Arial Bold"/>
                <a:cs typeface="Arial Bold"/>
                <a:sym typeface="Arial Bold"/>
              </a:rPr>
              <a:t>Like - MOVE_RIGHT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984783" y="1765384"/>
            <a:ext cx="4316557" cy="1129117"/>
            <a:chOff x="0" y="0"/>
            <a:chExt cx="5755409" cy="1505490"/>
          </a:xfrm>
        </p:grpSpPr>
        <p:sp>
          <p:nvSpPr>
            <p:cNvPr id="3" name="Freeform 3"/>
            <p:cNvSpPr/>
            <p:nvPr/>
          </p:nvSpPr>
          <p:spPr>
            <a:xfrm>
              <a:off x="22602" y="26476"/>
              <a:ext cx="5710085" cy="1452399"/>
            </a:xfrm>
            <a:custGeom>
              <a:avLst/>
              <a:gdLst/>
              <a:ahLst/>
              <a:cxnLst/>
              <a:rect l="l" t="t" r="r" b="b"/>
              <a:pathLst>
                <a:path w="5710085" h="1452399">
                  <a:moveTo>
                    <a:pt x="0" y="0"/>
                  </a:moveTo>
                  <a:lnTo>
                    <a:pt x="5710086" y="0"/>
                  </a:lnTo>
                  <a:lnTo>
                    <a:pt x="5710086" y="1452399"/>
                  </a:lnTo>
                  <a:lnTo>
                    <a:pt x="0" y="1452399"/>
                  </a:lnTo>
                  <a:close/>
                </a:path>
              </a:pathLst>
            </a:custGeom>
            <a:solidFill>
              <a:srgbClr val="1A2E5A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5755290" cy="1505353"/>
            </a:xfrm>
            <a:custGeom>
              <a:avLst/>
              <a:gdLst/>
              <a:ahLst/>
              <a:cxnLst/>
              <a:rect l="l" t="t" r="r" b="b"/>
              <a:pathLst>
                <a:path w="5755290" h="1505353">
                  <a:moveTo>
                    <a:pt x="22602" y="0"/>
                  </a:moveTo>
                  <a:lnTo>
                    <a:pt x="5732688" y="0"/>
                  </a:lnTo>
                  <a:cubicBezTo>
                    <a:pt x="5745264" y="0"/>
                    <a:pt x="5755290" y="11944"/>
                    <a:pt x="5755290" y="26476"/>
                  </a:cubicBezTo>
                  <a:lnTo>
                    <a:pt x="5755290" y="1478875"/>
                  </a:lnTo>
                  <a:cubicBezTo>
                    <a:pt x="5755290" y="1493606"/>
                    <a:pt x="5745094" y="1505351"/>
                    <a:pt x="5732688" y="1505351"/>
                  </a:cubicBezTo>
                  <a:lnTo>
                    <a:pt x="22602" y="1505351"/>
                  </a:lnTo>
                  <a:cubicBezTo>
                    <a:pt x="10197" y="1505528"/>
                    <a:pt x="0" y="1493606"/>
                    <a:pt x="0" y="1478875"/>
                  </a:cubicBezTo>
                  <a:lnTo>
                    <a:pt x="0" y="26476"/>
                  </a:lnTo>
                  <a:cubicBezTo>
                    <a:pt x="0" y="11944"/>
                    <a:pt x="10197" y="0"/>
                    <a:pt x="22602" y="0"/>
                  </a:cubicBezTo>
                  <a:moveTo>
                    <a:pt x="22602" y="53151"/>
                  </a:moveTo>
                  <a:lnTo>
                    <a:pt x="22602" y="26476"/>
                  </a:lnTo>
                  <a:lnTo>
                    <a:pt x="45375" y="26476"/>
                  </a:lnTo>
                  <a:lnTo>
                    <a:pt x="45375" y="1478875"/>
                  </a:lnTo>
                  <a:lnTo>
                    <a:pt x="22602" y="1478875"/>
                  </a:lnTo>
                  <a:lnTo>
                    <a:pt x="22602" y="1452399"/>
                  </a:lnTo>
                  <a:lnTo>
                    <a:pt x="5732688" y="1452399"/>
                  </a:lnTo>
                  <a:lnTo>
                    <a:pt x="5732688" y="1478875"/>
                  </a:lnTo>
                  <a:lnTo>
                    <a:pt x="5710086" y="1478875"/>
                  </a:lnTo>
                  <a:lnTo>
                    <a:pt x="5710086" y="26476"/>
                  </a:lnTo>
                  <a:lnTo>
                    <a:pt x="5732688" y="26476"/>
                  </a:lnTo>
                  <a:lnTo>
                    <a:pt x="5732688" y="53151"/>
                  </a:lnTo>
                  <a:lnTo>
                    <a:pt x="22602" y="53151"/>
                  </a:lnTo>
                  <a:close/>
                </a:path>
              </a:pathLst>
            </a:custGeom>
            <a:solidFill>
              <a:srgbClr val="1A2E5A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2001773" y="1785285"/>
            <a:ext cx="4282564" cy="1089299"/>
            <a:chOff x="0" y="0"/>
            <a:chExt cx="5710085" cy="145239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710086" cy="1452399"/>
            </a:xfrm>
            <a:custGeom>
              <a:avLst/>
              <a:gdLst/>
              <a:ahLst/>
              <a:cxnLst/>
              <a:rect l="l" t="t" r="r" b="b"/>
              <a:pathLst>
                <a:path w="5710086" h="1452399">
                  <a:moveTo>
                    <a:pt x="0" y="0"/>
                  </a:moveTo>
                  <a:lnTo>
                    <a:pt x="5710086" y="0"/>
                  </a:lnTo>
                  <a:lnTo>
                    <a:pt x="5710086" y="1452399"/>
                  </a:lnTo>
                  <a:lnTo>
                    <a:pt x="0" y="145239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5349" r="25269" b="10853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5710085" cy="14809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39"/>
                </a:lnSpc>
              </a:pPr>
              <a:r>
                <a:rPr lang="en-US" sz="3199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Cử chỉ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384946" y="1765384"/>
            <a:ext cx="5059755" cy="1129117"/>
            <a:chOff x="0" y="0"/>
            <a:chExt cx="6746340" cy="1505490"/>
          </a:xfrm>
        </p:grpSpPr>
        <p:sp>
          <p:nvSpPr>
            <p:cNvPr id="9" name="Freeform 9"/>
            <p:cNvSpPr/>
            <p:nvPr/>
          </p:nvSpPr>
          <p:spPr>
            <a:xfrm>
              <a:off x="19769" y="26476"/>
              <a:ext cx="6706698" cy="1452399"/>
            </a:xfrm>
            <a:custGeom>
              <a:avLst/>
              <a:gdLst/>
              <a:ahLst/>
              <a:cxnLst/>
              <a:rect l="l" t="t" r="r" b="b"/>
              <a:pathLst>
                <a:path w="6706698" h="1452399">
                  <a:moveTo>
                    <a:pt x="0" y="0"/>
                  </a:moveTo>
                  <a:lnTo>
                    <a:pt x="6706698" y="0"/>
                  </a:lnTo>
                  <a:lnTo>
                    <a:pt x="6706698" y="1452399"/>
                  </a:lnTo>
                  <a:lnTo>
                    <a:pt x="0" y="1452399"/>
                  </a:lnTo>
                  <a:close/>
                </a:path>
              </a:pathLst>
            </a:custGeom>
            <a:solidFill>
              <a:srgbClr val="1A2E5A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6746236" cy="1505353"/>
            </a:xfrm>
            <a:custGeom>
              <a:avLst/>
              <a:gdLst/>
              <a:ahLst/>
              <a:cxnLst/>
              <a:rect l="l" t="t" r="r" b="b"/>
              <a:pathLst>
                <a:path w="6746236" h="1505353">
                  <a:moveTo>
                    <a:pt x="19769" y="0"/>
                  </a:moveTo>
                  <a:lnTo>
                    <a:pt x="6726467" y="0"/>
                  </a:lnTo>
                  <a:cubicBezTo>
                    <a:pt x="6737466" y="0"/>
                    <a:pt x="6746236" y="11944"/>
                    <a:pt x="6746236" y="26476"/>
                  </a:cubicBezTo>
                  <a:lnTo>
                    <a:pt x="6746236" y="1478875"/>
                  </a:lnTo>
                  <a:cubicBezTo>
                    <a:pt x="6746236" y="1493606"/>
                    <a:pt x="6737318" y="1505351"/>
                    <a:pt x="6726467" y="1505351"/>
                  </a:cubicBezTo>
                  <a:lnTo>
                    <a:pt x="19769" y="1505351"/>
                  </a:lnTo>
                  <a:cubicBezTo>
                    <a:pt x="8918" y="1505528"/>
                    <a:pt x="0" y="1493606"/>
                    <a:pt x="0" y="1478875"/>
                  </a:cubicBezTo>
                  <a:lnTo>
                    <a:pt x="0" y="26476"/>
                  </a:lnTo>
                  <a:cubicBezTo>
                    <a:pt x="0" y="11944"/>
                    <a:pt x="8918" y="0"/>
                    <a:pt x="19769" y="0"/>
                  </a:cubicBezTo>
                  <a:moveTo>
                    <a:pt x="19769" y="53151"/>
                  </a:moveTo>
                  <a:lnTo>
                    <a:pt x="19769" y="26476"/>
                  </a:lnTo>
                  <a:lnTo>
                    <a:pt x="39687" y="26476"/>
                  </a:lnTo>
                  <a:lnTo>
                    <a:pt x="39687" y="1478875"/>
                  </a:lnTo>
                  <a:lnTo>
                    <a:pt x="19769" y="1478875"/>
                  </a:lnTo>
                  <a:lnTo>
                    <a:pt x="19769" y="1452399"/>
                  </a:lnTo>
                  <a:lnTo>
                    <a:pt x="6726467" y="1452399"/>
                  </a:lnTo>
                  <a:lnTo>
                    <a:pt x="6726467" y="1478875"/>
                  </a:lnTo>
                  <a:lnTo>
                    <a:pt x="6706698" y="1478875"/>
                  </a:lnTo>
                  <a:lnTo>
                    <a:pt x="6706698" y="26476"/>
                  </a:lnTo>
                  <a:lnTo>
                    <a:pt x="6726467" y="26476"/>
                  </a:lnTo>
                  <a:lnTo>
                    <a:pt x="6726467" y="53151"/>
                  </a:lnTo>
                  <a:lnTo>
                    <a:pt x="19769" y="53151"/>
                  </a:lnTo>
                  <a:close/>
                </a:path>
              </a:pathLst>
            </a:custGeom>
            <a:solidFill>
              <a:srgbClr val="1A2E5A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6399806" y="1785285"/>
            <a:ext cx="5030023" cy="1089299"/>
            <a:chOff x="0" y="0"/>
            <a:chExt cx="6706698" cy="145239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706698" cy="1452399"/>
            </a:xfrm>
            <a:custGeom>
              <a:avLst/>
              <a:gdLst/>
              <a:ahLst/>
              <a:cxnLst/>
              <a:rect l="l" t="t" r="r" b="b"/>
              <a:pathLst>
                <a:path w="6706698" h="1452399">
                  <a:moveTo>
                    <a:pt x="0" y="0"/>
                  </a:moveTo>
                  <a:lnTo>
                    <a:pt x="6706698" y="0"/>
                  </a:lnTo>
                  <a:lnTo>
                    <a:pt x="6706698" y="1452399"/>
                  </a:lnTo>
                  <a:lnTo>
                    <a:pt x="0" y="145239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4976" r="14559" b="-8774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28575"/>
              <a:ext cx="6706698" cy="14809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39"/>
                </a:lnSpc>
              </a:pPr>
              <a:r>
                <a:rPr lang="en-US" sz="3199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Độ tin cậy (conf)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1539951" y="1765384"/>
            <a:ext cx="5246800" cy="1129117"/>
            <a:chOff x="0" y="0"/>
            <a:chExt cx="6995734" cy="1505490"/>
          </a:xfrm>
        </p:grpSpPr>
        <p:sp>
          <p:nvSpPr>
            <p:cNvPr id="15" name="Freeform 15"/>
            <p:cNvSpPr/>
            <p:nvPr/>
          </p:nvSpPr>
          <p:spPr>
            <a:xfrm>
              <a:off x="27473" y="26476"/>
              <a:ext cx="6940642" cy="1452399"/>
            </a:xfrm>
            <a:custGeom>
              <a:avLst/>
              <a:gdLst/>
              <a:ahLst/>
              <a:cxnLst/>
              <a:rect l="l" t="t" r="r" b="b"/>
              <a:pathLst>
                <a:path w="6940642" h="1452399">
                  <a:moveTo>
                    <a:pt x="0" y="0"/>
                  </a:moveTo>
                  <a:lnTo>
                    <a:pt x="6940642" y="0"/>
                  </a:lnTo>
                  <a:lnTo>
                    <a:pt x="6940642" y="1452399"/>
                  </a:lnTo>
                  <a:lnTo>
                    <a:pt x="0" y="1452399"/>
                  </a:lnTo>
                  <a:close/>
                </a:path>
              </a:pathLst>
            </a:custGeom>
            <a:solidFill>
              <a:srgbClr val="1A2E5A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0" y="0"/>
              <a:ext cx="6995589" cy="1505353"/>
            </a:xfrm>
            <a:custGeom>
              <a:avLst/>
              <a:gdLst/>
              <a:ahLst/>
              <a:cxnLst/>
              <a:rect l="l" t="t" r="r" b="b"/>
              <a:pathLst>
                <a:path w="6995589" h="1505353">
                  <a:moveTo>
                    <a:pt x="27473" y="0"/>
                  </a:moveTo>
                  <a:lnTo>
                    <a:pt x="6968115" y="0"/>
                  </a:lnTo>
                  <a:cubicBezTo>
                    <a:pt x="6983402" y="0"/>
                    <a:pt x="6995589" y="11944"/>
                    <a:pt x="6995589" y="26476"/>
                  </a:cubicBezTo>
                  <a:lnTo>
                    <a:pt x="6995589" y="1478875"/>
                  </a:lnTo>
                  <a:cubicBezTo>
                    <a:pt x="6995589" y="1493606"/>
                    <a:pt x="6983195" y="1505351"/>
                    <a:pt x="6968115" y="1505351"/>
                  </a:cubicBezTo>
                  <a:lnTo>
                    <a:pt x="27473" y="1505351"/>
                  </a:lnTo>
                  <a:cubicBezTo>
                    <a:pt x="12394" y="1505528"/>
                    <a:pt x="0" y="1493606"/>
                    <a:pt x="0" y="1478875"/>
                  </a:cubicBezTo>
                  <a:lnTo>
                    <a:pt x="0" y="26476"/>
                  </a:lnTo>
                  <a:cubicBezTo>
                    <a:pt x="0" y="11944"/>
                    <a:pt x="12394" y="0"/>
                    <a:pt x="27473" y="0"/>
                  </a:cubicBezTo>
                  <a:moveTo>
                    <a:pt x="27473" y="53151"/>
                  </a:moveTo>
                  <a:lnTo>
                    <a:pt x="27473" y="26476"/>
                  </a:lnTo>
                  <a:lnTo>
                    <a:pt x="55153" y="26476"/>
                  </a:lnTo>
                  <a:lnTo>
                    <a:pt x="55153" y="1478875"/>
                  </a:lnTo>
                  <a:lnTo>
                    <a:pt x="27473" y="1478875"/>
                  </a:lnTo>
                  <a:lnTo>
                    <a:pt x="27473" y="1452399"/>
                  </a:lnTo>
                  <a:lnTo>
                    <a:pt x="6968115" y="1452399"/>
                  </a:lnTo>
                  <a:lnTo>
                    <a:pt x="6968115" y="1478875"/>
                  </a:lnTo>
                  <a:lnTo>
                    <a:pt x="6940642" y="1478875"/>
                  </a:lnTo>
                  <a:lnTo>
                    <a:pt x="6940642" y="26476"/>
                  </a:lnTo>
                  <a:lnTo>
                    <a:pt x="6968115" y="26476"/>
                  </a:lnTo>
                  <a:lnTo>
                    <a:pt x="6968115" y="53151"/>
                  </a:lnTo>
                  <a:lnTo>
                    <a:pt x="27473" y="53151"/>
                  </a:lnTo>
                  <a:close/>
                </a:path>
              </a:pathLst>
            </a:custGeom>
            <a:solidFill>
              <a:srgbClr val="1A2E5A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11560602" y="1785285"/>
            <a:ext cx="5205482" cy="1089299"/>
            <a:chOff x="0" y="0"/>
            <a:chExt cx="6940642" cy="145239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940642" cy="1452399"/>
            </a:xfrm>
            <a:custGeom>
              <a:avLst/>
              <a:gdLst/>
              <a:ahLst/>
              <a:cxnLst/>
              <a:rect l="l" t="t" r="r" b="b"/>
              <a:pathLst>
                <a:path w="6940642" h="1452399">
                  <a:moveTo>
                    <a:pt x="0" y="0"/>
                  </a:moveTo>
                  <a:lnTo>
                    <a:pt x="6940642" y="0"/>
                  </a:lnTo>
                  <a:lnTo>
                    <a:pt x="6940642" y="1452399"/>
                  </a:lnTo>
                  <a:lnTo>
                    <a:pt x="0" y="145239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5349" r="38518" b="10853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28575"/>
              <a:ext cx="6940642" cy="14809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39"/>
                </a:lnSpc>
              </a:pPr>
              <a:r>
                <a:rPr lang="en-US" sz="3199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FPS thực tế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984783" y="2912014"/>
            <a:ext cx="4316557" cy="1043120"/>
            <a:chOff x="0" y="0"/>
            <a:chExt cx="5755409" cy="1390827"/>
          </a:xfrm>
        </p:grpSpPr>
        <p:sp>
          <p:nvSpPr>
            <p:cNvPr id="21" name="Freeform 21"/>
            <p:cNvSpPr/>
            <p:nvPr/>
          </p:nvSpPr>
          <p:spPr>
            <a:xfrm>
              <a:off x="22602" y="26476"/>
              <a:ext cx="5710085" cy="1337735"/>
            </a:xfrm>
            <a:custGeom>
              <a:avLst/>
              <a:gdLst/>
              <a:ahLst/>
              <a:cxnLst/>
              <a:rect l="l" t="t" r="r" b="b"/>
              <a:pathLst>
                <a:path w="5710085" h="1337735">
                  <a:moveTo>
                    <a:pt x="0" y="0"/>
                  </a:moveTo>
                  <a:lnTo>
                    <a:pt x="5710086" y="0"/>
                  </a:lnTo>
                  <a:lnTo>
                    <a:pt x="5710086" y="1337735"/>
                  </a:lnTo>
                  <a:lnTo>
                    <a:pt x="0" y="133773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2" name="Freeform 22"/>
            <p:cNvSpPr/>
            <p:nvPr/>
          </p:nvSpPr>
          <p:spPr>
            <a:xfrm>
              <a:off x="0" y="0"/>
              <a:ext cx="5755290" cy="1390690"/>
            </a:xfrm>
            <a:custGeom>
              <a:avLst/>
              <a:gdLst/>
              <a:ahLst/>
              <a:cxnLst/>
              <a:rect l="l" t="t" r="r" b="b"/>
              <a:pathLst>
                <a:path w="5755290" h="1390690">
                  <a:moveTo>
                    <a:pt x="22602" y="0"/>
                  </a:moveTo>
                  <a:lnTo>
                    <a:pt x="5732688" y="0"/>
                  </a:lnTo>
                  <a:cubicBezTo>
                    <a:pt x="5745264" y="0"/>
                    <a:pt x="5755290" y="11944"/>
                    <a:pt x="5755290" y="26476"/>
                  </a:cubicBezTo>
                  <a:lnTo>
                    <a:pt x="5755290" y="1364211"/>
                  </a:lnTo>
                  <a:cubicBezTo>
                    <a:pt x="5755290" y="1378942"/>
                    <a:pt x="5745094" y="1390688"/>
                    <a:pt x="5732688" y="1390688"/>
                  </a:cubicBezTo>
                  <a:lnTo>
                    <a:pt x="22602" y="1390688"/>
                  </a:lnTo>
                  <a:cubicBezTo>
                    <a:pt x="10197" y="1390865"/>
                    <a:pt x="0" y="1378942"/>
                    <a:pt x="0" y="1364211"/>
                  </a:cubicBezTo>
                  <a:lnTo>
                    <a:pt x="0" y="26476"/>
                  </a:lnTo>
                  <a:cubicBezTo>
                    <a:pt x="0" y="11944"/>
                    <a:pt x="10197" y="0"/>
                    <a:pt x="22602" y="0"/>
                  </a:cubicBezTo>
                  <a:moveTo>
                    <a:pt x="22602" y="53151"/>
                  </a:moveTo>
                  <a:lnTo>
                    <a:pt x="22602" y="26476"/>
                  </a:lnTo>
                  <a:lnTo>
                    <a:pt x="45375" y="26476"/>
                  </a:lnTo>
                  <a:lnTo>
                    <a:pt x="45375" y="1364211"/>
                  </a:lnTo>
                  <a:lnTo>
                    <a:pt x="22602" y="1364211"/>
                  </a:lnTo>
                  <a:lnTo>
                    <a:pt x="22602" y="1337735"/>
                  </a:lnTo>
                  <a:lnTo>
                    <a:pt x="5732688" y="1337735"/>
                  </a:lnTo>
                  <a:lnTo>
                    <a:pt x="5732688" y="1364211"/>
                  </a:lnTo>
                  <a:lnTo>
                    <a:pt x="5710086" y="1364211"/>
                  </a:lnTo>
                  <a:lnTo>
                    <a:pt x="5710086" y="26476"/>
                  </a:lnTo>
                  <a:lnTo>
                    <a:pt x="5732688" y="26476"/>
                  </a:lnTo>
                  <a:lnTo>
                    <a:pt x="5732688" y="53151"/>
                  </a:lnTo>
                  <a:lnTo>
                    <a:pt x="22602" y="53151"/>
                  </a:lnTo>
                  <a:close/>
                </a:path>
              </a:pathLst>
            </a:custGeom>
            <a:solidFill>
              <a:srgbClr val="D0D8EC"/>
            </a:solidFill>
          </p:spPr>
        </p:sp>
      </p:grpSp>
      <p:grpSp>
        <p:nvGrpSpPr>
          <p:cNvPr id="23" name="Group 23"/>
          <p:cNvGrpSpPr/>
          <p:nvPr/>
        </p:nvGrpSpPr>
        <p:grpSpPr>
          <a:xfrm>
            <a:off x="2099661" y="2960582"/>
            <a:ext cx="4086790" cy="945970"/>
            <a:chOff x="0" y="0"/>
            <a:chExt cx="5449053" cy="1261293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5449053" cy="1261293"/>
            </a:xfrm>
            <a:custGeom>
              <a:avLst/>
              <a:gdLst/>
              <a:ahLst/>
              <a:cxnLst/>
              <a:rect l="l" t="t" r="r" b="b"/>
              <a:pathLst>
                <a:path w="5449053" h="1261293">
                  <a:moveTo>
                    <a:pt x="0" y="0"/>
                  </a:moveTo>
                  <a:lnTo>
                    <a:pt x="5449053" y="0"/>
                  </a:lnTo>
                  <a:lnTo>
                    <a:pt x="5449053" y="1261293"/>
                  </a:lnTo>
                  <a:lnTo>
                    <a:pt x="0" y="126129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1009" r="25269" b="5193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-19050"/>
              <a:ext cx="5449053" cy="12803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719"/>
                </a:lnSpc>
              </a:pPr>
              <a:r>
                <a:rPr lang="en-US" sz="3099">
                  <a:solidFill>
                    <a:srgbClr val="1A2E5A"/>
                  </a:solidFill>
                  <a:latin typeface="Arial"/>
                  <a:ea typeface="Arial"/>
                  <a:cs typeface="Arial"/>
                  <a:sym typeface="Arial"/>
                </a:rPr>
                <a:t>🤙 call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384946" y="2912014"/>
            <a:ext cx="5059755" cy="1043120"/>
            <a:chOff x="0" y="0"/>
            <a:chExt cx="6746340" cy="1390827"/>
          </a:xfrm>
        </p:grpSpPr>
        <p:sp>
          <p:nvSpPr>
            <p:cNvPr id="27" name="Freeform 27"/>
            <p:cNvSpPr/>
            <p:nvPr/>
          </p:nvSpPr>
          <p:spPr>
            <a:xfrm>
              <a:off x="19769" y="26476"/>
              <a:ext cx="6706698" cy="1337735"/>
            </a:xfrm>
            <a:custGeom>
              <a:avLst/>
              <a:gdLst/>
              <a:ahLst/>
              <a:cxnLst/>
              <a:rect l="l" t="t" r="r" b="b"/>
              <a:pathLst>
                <a:path w="6706698" h="1337735">
                  <a:moveTo>
                    <a:pt x="0" y="0"/>
                  </a:moveTo>
                  <a:lnTo>
                    <a:pt x="6706698" y="0"/>
                  </a:lnTo>
                  <a:lnTo>
                    <a:pt x="6706698" y="1337735"/>
                  </a:lnTo>
                  <a:lnTo>
                    <a:pt x="0" y="133773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8" name="Freeform 28"/>
            <p:cNvSpPr/>
            <p:nvPr/>
          </p:nvSpPr>
          <p:spPr>
            <a:xfrm>
              <a:off x="0" y="0"/>
              <a:ext cx="6746236" cy="1390690"/>
            </a:xfrm>
            <a:custGeom>
              <a:avLst/>
              <a:gdLst/>
              <a:ahLst/>
              <a:cxnLst/>
              <a:rect l="l" t="t" r="r" b="b"/>
              <a:pathLst>
                <a:path w="6746236" h="1390690">
                  <a:moveTo>
                    <a:pt x="19769" y="0"/>
                  </a:moveTo>
                  <a:lnTo>
                    <a:pt x="6726467" y="0"/>
                  </a:lnTo>
                  <a:cubicBezTo>
                    <a:pt x="6737466" y="0"/>
                    <a:pt x="6746236" y="11944"/>
                    <a:pt x="6746236" y="26476"/>
                  </a:cubicBezTo>
                  <a:lnTo>
                    <a:pt x="6746236" y="1364211"/>
                  </a:lnTo>
                  <a:cubicBezTo>
                    <a:pt x="6746236" y="1378942"/>
                    <a:pt x="6737318" y="1390688"/>
                    <a:pt x="6726467" y="1390688"/>
                  </a:cubicBezTo>
                  <a:lnTo>
                    <a:pt x="19769" y="1390688"/>
                  </a:lnTo>
                  <a:cubicBezTo>
                    <a:pt x="8918" y="1390865"/>
                    <a:pt x="0" y="1378942"/>
                    <a:pt x="0" y="1364211"/>
                  </a:cubicBezTo>
                  <a:lnTo>
                    <a:pt x="0" y="26476"/>
                  </a:lnTo>
                  <a:cubicBezTo>
                    <a:pt x="0" y="11944"/>
                    <a:pt x="8918" y="0"/>
                    <a:pt x="19769" y="0"/>
                  </a:cubicBezTo>
                  <a:moveTo>
                    <a:pt x="19769" y="53151"/>
                  </a:moveTo>
                  <a:lnTo>
                    <a:pt x="19769" y="26476"/>
                  </a:lnTo>
                  <a:lnTo>
                    <a:pt x="39687" y="26476"/>
                  </a:lnTo>
                  <a:lnTo>
                    <a:pt x="39687" y="1364211"/>
                  </a:lnTo>
                  <a:lnTo>
                    <a:pt x="19769" y="1364211"/>
                  </a:lnTo>
                  <a:lnTo>
                    <a:pt x="19769" y="1337735"/>
                  </a:lnTo>
                  <a:lnTo>
                    <a:pt x="6726467" y="1337735"/>
                  </a:lnTo>
                  <a:lnTo>
                    <a:pt x="6726467" y="1364211"/>
                  </a:lnTo>
                  <a:lnTo>
                    <a:pt x="6706698" y="1364211"/>
                  </a:lnTo>
                  <a:lnTo>
                    <a:pt x="6706698" y="26476"/>
                  </a:lnTo>
                  <a:lnTo>
                    <a:pt x="6726467" y="26476"/>
                  </a:lnTo>
                  <a:lnTo>
                    <a:pt x="6726467" y="53151"/>
                  </a:lnTo>
                  <a:lnTo>
                    <a:pt x="19769" y="53151"/>
                  </a:lnTo>
                  <a:close/>
                </a:path>
              </a:pathLst>
            </a:custGeom>
            <a:solidFill>
              <a:srgbClr val="D0D8EC"/>
            </a:solidFill>
          </p:spPr>
        </p:sp>
      </p:grpSp>
      <p:grpSp>
        <p:nvGrpSpPr>
          <p:cNvPr id="29" name="Group 29"/>
          <p:cNvGrpSpPr/>
          <p:nvPr/>
        </p:nvGrpSpPr>
        <p:grpSpPr>
          <a:xfrm>
            <a:off x="6485423" y="2960582"/>
            <a:ext cx="4858788" cy="945970"/>
            <a:chOff x="0" y="0"/>
            <a:chExt cx="6478384" cy="1261293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6478384" cy="1261293"/>
            </a:xfrm>
            <a:custGeom>
              <a:avLst/>
              <a:gdLst/>
              <a:ahLst/>
              <a:cxnLst/>
              <a:rect l="l" t="t" r="r" b="b"/>
              <a:pathLst>
                <a:path w="6478384" h="1261293">
                  <a:moveTo>
                    <a:pt x="0" y="0"/>
                  </a:moveTo>
                  <a:lnTo>
                    <a:pt x="6478384" y="0"/>
                  </a:lnTo>
                  <a:lnTo>
                    <a:pt x="6478384" y="1261293"/>
                  </a:lnTo>
                  <a:lnTo>
                    <a:pt x="0" y="126129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3611" r="14559" b="-17408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-19050"/>
              <a:ext cx="6478384" cy="12803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719"/>
                </a:lnSpc>
              </a:pPr>
              <a:r>
                <a:rPr lang="en-US" sz="3099">
                  <a:solidFill>
                    <a:srgbClr val="1A2E5A"/>
                  </a:solidFill>
                  <a:latin typeface="Arial"/>
                  <a:ea typeface="Arial"/>
                  <a:cs typeface="Arial"/>
                  <a:sym typeface="Arial"/>
                </a:rPr>
                <a:t>0.89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1539951" y="2912014"/>
            <a:ext cx="5246800" cy="1043120"/>
            <a:chOff x="0" y="0"/>
            <a:chExt cx="6995734" cy="1390827"/>
          </a:xfrm>
        </p:grpSpPr>
        <p:sp>
          <p:nvSpPr>
            <p:cNvPr id="33" name="Freeform 33"/>
            <p:cNvSpPr/>
            <p:nvPr/>
          </p:nvSpPr>
          <p:spPr>
            <a:xfrm>
              <a:off x="27473" y="26476"/>
              <a:ext cx="6940642" cy="1337735"/>
            </a:xfrm>
            <a:custGeom>
              <a:avLst/>
              <a:gdLst/>
              <a:ahLst/>
              <a:cxnLst/>
              <a:rect l="l" t="t" r="r" b="b"/>
              <a:pathLst>
                <a:path w="6940642" h="1337735">
                  <a:moveTo>
                    <a:pt x="0" y="0"/>
                  </a:moveTo>
                  <a:lnTo>
                    <a:pt x="6940642" y="0"/>
                  </a:lnTo>
                  <a:lnTo>
                    <a:pt x="6940642" y="1337735"/>
                  </a:lnTo>
                  <a:lnTo>
                    <a:pt x="0" y="133773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4" name="Freeform 34"/>
            <p:cNvSpPr/>
            <p:nvPr/>
          </p:nvSpPr>
          <p:spPr>
            <a:xfrm>
              <a:off x="0" y="0"/>
              <a:ext cx="6995589" cy="1390690"/>
            </a:xfrm>
            <a:custGeom>
              <a:avLst/>
              <a:gdLst/>
              <a:ahLst/>
              <a:cxnLst/>
              <a:rect l="l" t="t" r="r" b="b"/>
              <a:pathLst>
                <a:path w="6995589" h="1390690">
                  <a:moveTo>
                    <a:pt x="27473" y="0"/>
                  </a:moveTo>
                  <a:lnTo>
                    <a:pt x="6968115" y="0"/>
                  </a:lnTo>
                  <a:cubicBezTo>
                    <a:pt x="6983402" y="0"/>
                    <a:pt x="6995589" y="11944"/>
                    <a:pt x="6995589" y="26476"/>
                  </a:cubicBezTo>
                  <a:lnTo>
                    <a:pt x="6995589" y="1364211"/>
                  </a:lnTo>
                  <a:cubicBezTo>
                    <a:pt x="6995589" y="1378942"/>
                    <a:pt x="6983195" y="1390688"/>
                    <a:pt x="6968115" y="1390688"/>
                  </a:cubicBezTo>
                  <a:lnTo>
                    <a:pt x="27473" y="1390688"/>
                  </a:lnTo>
                  <a:cubicBezTo>
                    <a:pt x="12394" y="1390865"/>
                    <a:pt x="0" y="1378942"/>
                    <a:pt x="0" y="1364211"/>
                  </a:cubicBezTo>
                  <a:lnTo>
                    <a:pt x="0" y="26476"/>
                  </a:lnTo>
                  <a:cubicBezTo>
                    <a:pt x="0" y="11944"/>
                    <a:pt x="12394" y="0"/>
                    <a:pt x="27473" y="0"/>
                  </a:cubicBezTo>
                  <a:moveTo>
                    <a:pt x="27473" y="53151"/>
                  </a:moveTo>
                  <a:lnTo>
                    <a:pt x="27473" y="26476"/>
                  </a:lnTo>
                  <a:lnTo>
                    <a:pt x="55153" y="26476"/>
                  </a:lnTo>
                  <a:lnTo>
                    <a:pt x="55153" y="1364211"/>
                  </a:lnTo>
                  <a:lnTo>
                    <a:pt x="27473" y="1364211"/>
                  </a:lnTo>
                  <a:lnTo>
                    <a:pt x="27473" y="1337735"/>
                  </a:lnTo>
                  <a:lnTo>
                    <a:pt x="6968115" y="1337735"/>
                  </a:lnTo>
                  <a:lnTo>
                    <a:pt x="6968115" y="1364211"/>
                  </a:lnTo>
                  <a:lnTo>
                    <a:pt x="6940642" y="1364211"/>
                  </a:lnTo>
                  <a:lnTo>
                    <a:pt x="6940642" y="26476"/>
                  </a:lnTo>
                  <a:lnTo>
                    <a:pt x="6968115" y="26476"/>
                  </a:lnTo>
                  <a:lnTo>
                    <a:pt x="6968115" y="53151"/>
                  </a:lnTo>
                  <a:lnTo>
                    <a:pt x="27473" y="53151"/>
                  </a:lnTo>
                  <a:close/>
                </a:path>
              </a:pathLst>
            </a:custGeom>
            <a:solidFill>
              <a:srgbClr val="D0D8EC"/>
            </a:solidFill>
          </p:spPr>
        </p:sp>
      </p:grpSp>
      <p:grpSp>
        <p:nvGrpSpPr>
          <p:cNvPr id="35" name="Group 35"/>
          <p:cNvGrpSpPr/>
          <p:nvPr/>
        </p:nvGrpSpPr>
        <p:grpSpPr>
          <a:xfrm>
            <a:off x="11679585" y="2960582"/>
            <a:ext cx="4967517" cy="945970"/>
            <a:chOff x="0" y="0"/>
            <a:chExt cx="6623356" cy="1261293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6623356" cy="1261293"/>
            </a:xfrm>
            <a:custGeom>
              <a:avLst/>
              <a:gdLst/>
              <a:ahLst/>
              <a:cxnLst/>
              <a:rect l="l" t="t" r="r" b="b"/>
              <a:pathLst>
                <a:path w="6623356" h="1261293">
                  <a:moveTo>
                    <a:pt x="0" y="0"/>
                  </a:moveTo>
                  <a:lnTo>
                    <a:pt x="6623356" y="0"/>
                  </a:lnTo>
                  <a:lnTo>
                    <a:pt x="6623356" y="1261293"/>
                  </a:lnTo>
                  <a:lnTo>
                    <a:pt x="0" y="126129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1009" r="38518" b="5193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-19050"/>
              <a:ext cx="6623356" cy="12803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719"/>
                </a:lnSpc>
              </a:pPr>
              <a:r>
                <a:rPr lang="en-US" sz="3099">
                  <a:solidFill>
                    <a:srgbClr val="1A2E5A"/>
                  </a:solidFill>
                  <a:latin typeface="Arial"/>
                  <a:ea typeface="Arial"/>
                  <a:cs typeface="Arial"/>
                  <a:sym typeface="Arial"/>
                </a:rPr>
                <a:t>32 FPS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984783" y="3972647"/>
            <a:ext cx="4316557" cy="1043120"/>
            <a:chOff x="0" y="0"/>
            <a:chExt cx="5755409" cy="1390827"/>
          </a:xfrm>
        </p:grpSpPr>
        <p:sp>
          <p:nvSpPr>
            <p:cNvPr id="39" name="Freeform 39"/>
            <p:cNvSpPr/>
            <p:nvPr/>
          </p:nvSpPr>
          <p:spPr>
            <a:xfrm>
              <a:off x="22602" y="26476"/>
              <a:ext cx="5710085" cy="1337735"/>
            </a:xfrm>
            <a:custGeom>
              <a:avLst/>
              <a:gdLst/>
              <a:ahLst/>
              <a:cxnLst/>
              <a:rect l="l" t="t" r="r" b="b"/>
              <a:pathLst>
                <a:path w="5710085" h="1337735">
                  <a:moveTo>
                    <a:pt x="0" y="0"/>
                  </a:moveTo>
                  <a:lnTo>
                    <a:pt x="5710086" y="0"/>
                  </a:lnTo>
                  <a:lnTo>
                    <a:pt x="5710086" y="1337735"/>
                  </a:lnTo>
                  <a:lnTo>
                    <a:pt x="0" y="1337735"/>
                  </a:lnTo>
                  <a:close/>
                </a:path>
              </a:pathLst>
            </a:custGeom>
            <a:solidFill>
              <a:srgbClr val="E8EEF8"/>
            </a:solidFill>
          </p:spPr>
        </p:sp>
        <p:sp>
          <p:nvSpPr>
            <p:cNvPr id="40" name="Freeform 40"/>
            <p:cNvSpPr/>
            <p:nvPr/>
          </p:nvSpPr>
          <p:spPr>
            <a:xfrm>
              <a:off x="0" y="0"/>
              <a:ext cx="5755290" cy="1390690"/>
            </a:xfrm>
            <a:custGeom>
              <a:avLst/>
              <a:gdLst/>
              <a:ahLst/>
              <a:cxnLst/>
              <a:rect l="l" t="t" r="r" b="b"/>
              <a:pathLst>
                <a:path w="5755290" h="1390690">
                  <a:moveTo>
                    <a:pt x="22602" y="0"/>
                  </a:moveTo>
                  <a:lnTo>
                    <a:pt x="5732688" y="0"/>
                  </a:lnTo>
                  <a:cubicBezTo>
                    <a:pt x="5745264" y="0"/>
                    <a:pt x="5755290" y="11944"/>
                    <a:pt x="5755290" y="26476"/>
                  </a:cubicBezTo>
                  <a:lnTo>
                    <a:pt x="5755290" y="1364211"/>
                  </a:lnTo>
                  <a:cubicBezTo>
                    <a:pt x="5755290" y="1378942"/>
                    <a:pt x="5745094" y="1390688"/>
                    <a:pt x="5732688" y="1390688"/>
                  </a:cubicBezTo>
                  <a:lnTo>
                    <a:pt x="22602" y="1390688"/>
                  </a:lnTo>
                  <a:cubicBezTo>
                    <a:pt x="10197" y="1390865"/>
                    <a:pt x="0" y="1378942"/>
                    <a:pt x="0" y="1364211"/>
                  </a:cubicBezTo>
                  <a:lnTo>
                    <a:pt x="0" y="26476"/>
                  </a:lnTo>
                  <a:cubicBezTo>
                    <a:pt x="0" y="11944"/>
                    <a:pt x="10197" y="0"/>
                    <a:pt x="22602" y="0"/>
                  </a:cubicBezTo>
                  <a:moveTo>
                    <a:pt x="22602" y="53151"/>
                  </a:moveTo>
                  <a:lnTo>
                    <a:pt x="22602" y="26476"/>
                  </a:lnTo>
                  <a:lnTo>
                    <a:pt x="45375" y="26476"/>
                  </a:lnTo>
                  <a:lnTo>
                    <a:pt x="45375" y="1364211"/>
                  </a:lnTo>
                  <a:lnTo>
                    <a:pt x="22602" y="1364211"/>
                  </a:lnTo>
                  <a:lnTo>
                    <a:pt x="22602" y="1337735"/>
                  </a:lnTo>
                  <a:lnTo>
                    <a:pt x="5732688" y="1337735"/>
                  </a:lnTo>
                  <a:lnTo>
                    <a:pt x="5732688" y="1364211"/>
                  </a:lnTo>
                  <a:lnTo>
                    <a:pt x="5710086" y="1364211"/>
                  </a:lnTo>
                  <a:lnTo>
                    <a:pt x="5710086" y="26476"/>
                  </a:lnTo>
                  <a:lnTo>
                    <a:pt x="5732688" y="26476"/>
                  </a:lnTo>
                  <a:lnTo>
                    <a:pt x="5732688" y="53151"/>
                  </a:lnTo>
                  <a:lnTo>
                    <a:pt x="22602" y="53151"/>
                  </a:lnTo>
                  <a:close/>
                </a:path>
              </a:pathLst>
            </a:custGeom>
            <a:solidFill>
              <a:srgbClr val="D0D8EC"/>
            </a:solidFill>
          </p:spPr>
        </p:sp>
      </p:grpSp>
      <p:grpSp>
        <p:nvGrpSpPr>
          <p:cNvPr id="41" name="Group 41"/>
          <p:cNvGrpSpPr/>
          <p:nvPr/>
        </p:nvGrpSpPr>
        <p:grpSpPr>
          <a:xfrm>
            <a:off x="2099661" y="4021215"/>
            <a:ext cx="4086790" cy="945970"/>
            <a:chOff x="0" y="0"/>
            <a:chExt cx="5449053" cy="1261293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5449053" cy="1261293"/>
            </a:xfrm>
            <a:custGeom>
              <a:avLst/>
              <a:gdLst/>
              <a:ahLst/>
              <a:cxnLst/>
              <a:rect l="l" t="t" r="r" b="b"/>
              <a:pathLst>
                <a:path w="5449053" h="1261293">
                  <a:moveTo>
                    <a:pt x="0" y="0"/>
                  </a:moveTo>
                  <a:lnTo>
                    <a:pt x="5449053" y="0"/>
                  </a:lnTo>
                  <a:lnTo>
                    <a:pt x="5449053" y="1261293"/>
                  </a:lnTo>
                  <a:lnTo>
                    <a:pt x="0" y="126129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1009" r="25269" b="5193"/>
              </a:stretch>
            </a:blipFill>
          </p:spPr>
        </p:sp>
        <p:sp>
          <p:nvSpPr>
            <p:cNvPr id="43" name="TextBox 43"/>
            <p:cNvSpPr txBox="1"/>
            <p:nvPr/>
          </p:nvSpPr>
          <p:spPr>
            <a:xfrm>
              <a:off x="0" y="-19050"/>
              <a:ext cx="5449053" cy="12803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719"/>
                </a:lnSpc>
              </a:pPr>
              <a:r>
                <a:rPr lang="en-US" sz="3099">
                  <a:solidFill>
                    <a:srgbClr val="1A2E5A"/>
                  </a:solidFill>
                  <a:latin typeface="Arial"/>
                  <a:ea typeface="Arial"/>
                  <a:cs typeface="Arial"/>
                  <a:sym typeface="Arial"/>
                </a:rPr>
                <a:t>✊ fist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6384946" y="3972647"/>
            <a:ext cx="5059755" cy="1043120"/>
            <a:chOff x="0" y="0"/>
            <a:chExt cx="6746340" cy="1390827"/>
          </a:xfrm>
        </p:grpSpPr>
        <p:sp>
          <p:nvSpPr>
            <p:cNvPr id="45" name="Freeform 45"/>
            <p:cNvSpPr/>
            <p:nvPr/>
          </p:nvSpPr>
          <p:spPr>
            <a:xfrm>
              <a:off x="19769" y="26476"/>
              <a:ext cx="6706698" cy="1337735"/>
            </a:xfrm>
            <a:custGeom>
              <a:avLst/>
              <a:gdLst/>
              <a:ahLst/>
              <a:cxnLst/>
              <a:rect l="l" t="t" r="r" b="b"/>
              <a:pathLst>
                <a:path w="6706698" h="1337735">
                  <a:moveTo>
                    <a:pt x="0" y="0"/>
                  </a:moveTo>
                  <a:lnTo>
                    <a:pt x="6706698" y="0"/>
                  </a:lnTo>
                  <a:lnTo>
                    <a:pt x="6706698" y="1337735"/>
                  </a:lnTo>
                  <a:lnTo>
                    <a:pt x="0" y="1337735"/>
                  </a:lnTo>
                  <a:close/>
                </a:path>
              </a:pathLst>
            </a:custGeom>
            <a:solidFill>
              <a:srgbClr val="E8EEF8"/>
            </a:solidFill>
          </p:spPr>
        </p:sp>
        <p:sp>
          <p:nvSpPr>
            <p:cNvPr id="46" name="Freeform 46"/>
            <p:cNvSpPr/>
            <p:nvPr/>
          </p:nvSpPr>
          <p:spPr>
            <a:xfrm>
              <a:off x="0" y="0"/>
              <a:ext cx="6746236" cy="1390690"/>
            </a:xfrm>
            <a:custGeom>
              <a:avLst/>
              <a:gdLst/>
              <a:ahLst/>
              <a:cxnLst/>
              <a:rect l="l" t="t" r="r" b="b"/>
              <a:pathLst>
                <a:path w="6746236" h="1390690">
                  <a:moveTo>
                    <a:pt x="19769" y="0"/>
                  </a:moveTo>
                  <a:lnTo>
                    <a:pt x="6726467" y="0"/>
                  </a:lnTo>
                  <a:cubicBezTo>
                    <a:pt x="6737466" y="0"/>
                    <a:pt x="6746236" y="11944"/>
                    <a:pt x="6746236" y="26476"/>
                  </a:cubicBezTo>
                  <a:lnTo>
                    <a:pt x="6746236" y="1364211"/>
                  </a:lnTo>
                  <a:cubicBezTo>
                    <a:pt x="6746236" y="1378942"/>
                    <a:pt x="6737318" y="1390688"/>
                    <a:pt x="6726467" y="1390688"/>
                  </a:cubicBezTo>
                  <a:lnTo>
                    <a:pt x="19769" y="1390688"/>
                  </a:lnTo>
                  <a:cubicBezTo>
                    <a:pt x="8918" y="1390865"/>
                    <a:pt x="0" y="1378942"/>
                    <a:pt x="0" y="1364211"/>
                  </a:cubicBezTo>
                  <a:lnTo>
                    <a:pt x="0" y="26476"/>
                  </a:lnTo>
                  <a:cubicBezTo>
                    <a:pt x="0" y="11944"/>
                    <a:pt x="8918" y="0"/>
                    <a:pt x="19769" y="0"/>
                  </a:cubicBezTo>
                  <a:moveTo>
                    <a:pt x="19769" y="53151"/>
                  </a:moveTo>
                  <a:lnTo>
                    <a:pt x="19769" y="26476"/>
                  </a:lnTo>
                  <a:lnTo>
                    <a:pt x="39687" y="26476"/>
                  </a:lnTo>
                  <a:lnTo>
                    <a:pt x="39687" y="1364211"/>
                  </a:lnTo>
                  <a:lnTo>
                    <a:pt x="19769" y="1364211"/>
                  </a:lnTo>
                  <a:lnTo>
                    <a:pt x="19769" y="1337735"/>
                  </a:lnTo>
                  <a:lnTo>
                    <a:pt x="6726467" y="1337735"/>
                  </a:lnTo>
                  <a:lnTo>
                    <a:pt x="6726467" y="1364211"/>
                  </a:lnTo>
                  <a:lnTo>
                    <a:pt x="6706698" y="1364211"/>
                  </a:lnTo>
                  <a:lnTo>
                    <a:pt x="6706698" y="26476"/>
                  </a:lnTo>
                  <a:lnTo>
                    <a:pt x="6726467" y="26476"/>
                  </a:lnTo>
                  <a:lnTo>
                    <a:pt x="6726467" y="53151"/>
                  </a:lnTo>
                  <a:lnTo>
                    <a:pt x="19769" y="53151"/>
                  </a:lnTo>
                  <a:close/>
                </a:path>
              </a:pathLst>
            </a:custGeom>
            <a:solidFill>
              <a:srgbClr val="D0D8EC"/>
            </a:solidFill>
          </p:spPr>
        </p:sp>
      </p:grpSp>
      <p:grpSp>
        <p:nvGrpSpPr>
          <p:cNvPr id="47" name="Group 47"/>
          <p:cNvGrpSpPr/>
          <p:nvPr/>
        </p:nvGrpSpPr>
        <p:grpSpPr>
          <a:xfrm>
            <a:off x="6485423" y="4021215"/>
            <a:ext cx="4858788" cy="945970"/>
            <a:chOff x="0" y="0"/>
            <a:chExt cx="6478384" cy="1261293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6478384" cy="1261293"/>
            </a:xfrm>
            <a:custGeom>
              <a:avLst/>
              <a:gdLst/>
              <a:ahLst/>
              <a:cxnLst/>
              <a:rect l="l" t="t" r="r" b="b"/>
              <a:pathLst>
                <a:path w="6478384" h="1261293">
                  <a:moveTo>
                    <a:pt x="0" y="0"/>
                  </a:moveTo>
                  <a:lnTo>
                    <a:pt x="6478384" y="0"/>
                  </a:lnTo>
                  <a:lnTo>
                    <a:pt x="6478384" y="1261293"/>
                  </a:lnTo>
                  <a:lnTo>
                    <a:pt x="0" y="126129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3611" r="14559" b="-17408"/>
              </a:stretch>
            </a:blipFill>
          </p:spPr>
        </p:sp>
        <p:sp>
          <p:nvSpPr>
            <p:cNvPr id="49" name="TextBox 49"/>
            <p:cNvSpPr txBox="1"/>
            <p:nvPr/>
          </p:nvSpPr>
          <p:spPr>
            <a:xfrm>
              <a:off x="0" y="-19050"/>
              <a:ext cx="6478384" cy="12803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719"/>
                </a:lnSpc>
              </a:pPr>
              <a:r>
                <a:rPr lang="en-US" sz="3099">
                  <a:solidFill>
                    <a:srgbClr val="1A2E5A"/>
                  </a:solidFill>
                  <a:latin typeface="Arial"/>
                  <a:ea typeface="Arial"/>
                  <a:cs typeface="Arial"/>
                  <a:sym typeface="Arial"/>
                </a:rPr>
                <a:t>0.88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1539951" y="3972647"/>
            <a:ext cx="5246800" cy="1043120"/>
            <a:chOff x="0" y="0"/>
            <a:chExt cx="6995734" cy="1390827"/>
          </a:xfrm>
        </p:grpSpPr>
        <p:sp>
          <p:nvSpPr>
            <p:cNvPr id="51" name="Freeform 51"/>
            <p:cNvSpPr/>
            <p:nvPr/>
          </p:nvSpPr>
          <p:spPr>
            <a:xfrm>
              <a:off x="27473" y="26476"/>
              <a:ext cx="6940642" cy="1337735"/>
            </a:xfrm>
            <a:custGeom>
              <a:avLst/>
              <a:gdLst/>
              <a:ahLst/>
              <a:cxnLst/>
              <a:rect l="l" t="t" r="r" b="b"/>
              <a:pathLst>
                <a:path w="6940642" h="1337735">
                  <a:moveTo>
                    <a:pt x="0" y="0"/>
                  </a:moveTo>
                  <a:lnTo>
                    <a:pt x="6940642" y="0"/>
                  </a:lnTo>
                  <a:lnTo>
                    <a:pt x="6940642" y="1337735"/>
                  </a:lnTo>
                  <a:lnTo>
                    <a:pt x="0" y="1337735"/>
                  </a:lnTo>
                  <a:close/>
                </a:path>
              </a:pathLst>
            </a:custGeom>
            <a:solidFill>
              <a:srgbClr val="E8EEF8"/>
            </a:solidFill>
          </p:spPr>
        </p:sp>
        <p:sp>
          <p:nvSpPr>
            <p:cNvPr id="52" name="Freeform 52"/>
            <p:cNvSpPr/>
            <p:nvPr/>
          </p:nvSpPr>
          <p:spPr>
            <a:xfrm>
              <a:off x="0" y="0"/>
              <a:ext cx="6995589" cy="1390690"/>
            </a:xfrm>
            <a:custGeom>
              <a:avLst/>
              <a:gdLst/>
              <a:ahLst/>
              <a:cxnLst/>
              <a:rect l="l" t="t" r="r" b="b"/>
              <a:pathLst>
                <a:path w="6995589" h="1390690">
                  <a:moveTo>
                    <a:pt x="27473" y="0"/>
                  </a:moveTo>
                  <a:lnTo>
                    <a:pt x="6968115" y="0"/>
                  </a:lnTo>
                  <a:cubicBezTo>
                    <a:pt x="6983402" y="0"/>
                    <a:pt x="6995589" y="11944"/>
                    <a:pt x="6995589" y="26476"/>
                  </a:cubicBezTo>
                  <a:lnTo>
                    <a:pt x="6995589" y="1364211"/>
                  </a:lnTo>
                  <a:cubicBezTo>
                    <a:pt x="6995589" y="1378942"/>
                    <a:pt x="6983195" y="1390688"/>
                    <a:pt x="6968115" y="1390688"/>
                  </a:cubicBezTo>
                  <a:lnTo>
                    <a:pt x="27473" y="1390688"/>
                  </a:lnTo>
                  <a:cubicBezTo>
                    <a:pt x="12394" y="1390865"/>
                    <a:pt x="0" y="1378942"/>
                    <a:pt x="0" y="1364211"/>
                  </a:cubicBezTo>
                  <a:lnTo>
                    <a:pt x="0" y="26476"/>
                  </a:lnTo>
                  <a:cubicBezTo>
                    <a:pt x="0" y="11944"/>
                    <a:pt x="12394" y="0"/>
                    <a:pt x="27473" y="0"/>
                  </a:cubicBezTo>
                  <a:moveTo>
                    <a:pt x="27473" y="53151"/>
                  </a:moveTo>
                  <a:lnTo>
                    <a:pt x="27473" y="26476"/>
                  </a:lnTo>
                  <a:lnTo>
                    <a:pt x="55153" y="26476"/>
                  </a:lnTo>
                  <a:lnTo>
                    <a:pt x="55153" y="1364211"/>
                  </a:lnTo>
                  <a:lnTo>
                    <a:pt x="27473" y="1364211"/>
                  </a:lnTo>
                  <a:lnTo>
                    <a:pt x="27473" y="1337735"/>
                  </a:lnTo>
                  <a:lnTo>
                    <a:pt x="6968115" y="1337735"/>
                  </a:lnTo>
                  <a:lnTo>
                    <a:pt x="6968115" y="1364211"/>
                  </a:lnTo>
                  <a:lnTo>
                    <a:pt x="6940642" y="1364211"/>
                  </a:lnTo>
                  <a:lnTo>
                    <a:pt x="6940642" y="26476"/>
                  </a:lnTo>
                  <a:lnTo>
                    <a:pt x="6968115" y="26476"/>
                  </a:lnTo>
                  <a:lnTo>
                    <a:pt x="6968115" y="53151"/>
                  </a:lnTo>
                  <a:lnTo>
                    <a:pt x="27473" y="53151"/>
                  </a:lnTo>
                  <a:close/>
                </a:path>
              </a:pathLst>
            </a:custGeom>
            <a:solidFill>
              <a:srgbClr val="D0D8EC"/>
            </a:solidFill>
          </p:spPr>
        </p:sp>
      </p:grpSp>
      <p:grpSp>
        <p:nvGrpSpPr>
          <p:cNvPr id="53" name="Group 53"/>
          <p:cNvGrpSpPr/>
          <p:nvPr/>
        </p:nvGrpSpPr>
        <p:grpSpPr>
          <a:xfrm>
            <a:off x="11679585" y="4021215"/>
            <a:ext cx="4967517" cy="945970"/>
            <a:chOff x="0" y="0"/>
            <a:chExt cx="6623356" cy="1261293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6623356" cy="1261293"/>
            </a:xfrm>
            <a:custGeom>
              <a:avLst/>
              <a:gdLst/>
              <a:ahLst/>
              <a:cxnLst/>
              <a:rect l="l" t="t" r="r" b="b"/>
              <a:pathLst>
                <a:path w="6623356" h="1261293">
                  <a:moveTo>
                    <a:pt x="0" y="0"/>
                  </a:moveTo>
                  <a:lnTo>
                    <a:pt x="6623356" y="0"/>
                  </a:lnTo>
                  <a:lnTo>
                    <a:pt x="6623356" y="1261293"/>
                  </a:lnTo>
                  <a:lnTo>
                    <a:pt x="0" y="126129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1009" r="38518" b="5193"/>
              </a:stretch>
            </a:blipFill>
          </p:spPr>
        </p:sp>
        <p:sp>
          <p:nvSpPr>
            <p:cNvPr id="55" name="TextBox 55"/>
            <p:cNvSpPr txBox="1"/>
            <p:nvPr/>
          </p:nvSpPr>
          <p:spPr>
            <a:xfrm>
              <a:off x="0" y="-19050"/>
              <a:ext cx="6623356" cy="12803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719"/>
                </a:lnSpc>
              </a:pPr>
              <a:r>
                <a:rPr lang="en-US" sz="3099">
                  <a:solidFill>
                    <a:srgbClr val="1A2E5A"/>
                  </a:solidFill>
                  <a:latin typeface="Arial"/>
                  <a:ea typeface="Arial"/>
                  <a:cs typeface="Arial"/>
                  <a:sym typeface="Arial"/>
                </a:rPr>
                <a:t>41 FPS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1984783" y="5033280"/>
            <a:ext cx="4316557" cy="1043120"/>
            <a:chOff x="0" y="0"/>
            <a:chExt cx="5755409" cy="1390827"/>
          </a:xfrm>
        </p:grpSpPr>
        <p:sp>
          <p:nvSpPr>
            <p:cNvPr id="57" name="Freeform 57"/>
            <p:cNvSpPr/>
            <p:nvPr/>
          </p:nvSpPr>
          <p:spPr>
            <a:xfrm>
              <a:off x="22602" y="26476"/>
              <a:ext cx="5710085" cy="1337735"/>
            </a:xfrm>
            <a:custGeom>
              <a:avLst/>
              <a:gdLst/>
              <a:ahLst/>
              <a:cxnLst/>
              <a:rect l="l" t="t" r="r" b="b"/>
              <a:pathLst>
                <a:path w="5710085" h="1337735">
                  <a:moveTo>
                    <a:pt x="0" y="0"/>
                  </a:moveTo>
                  <a:lnTo>
                    <a:pt x="5710086" y="0"/>
                  </a:lnTo>
                  <a:lnTo>
                    <a:pt x="5710086" y="1337735"/>
                  </a:lnTo>
                  <a:lnTo>
                    <a:pt x="0" y="133773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8" name="Freeform 58"/>
            <p:cNvSpPr/>
            <p:nvPr/>
          </p:nvSpPr>
          <p:spPr>
            <a:xfrm>
              <a:off x="0" y="0"/>
              <a:ext cx="5755290" cy="1390690"/>
            </a:xfrm>
            <a:custGeom>
              <a:avLst/>
              <a:gdLst/>
              <a:ahLst/>
              <a:cxnLst/>
              <a:rect l="l" t="t" r="r" b="b"/>
              <a:pathLst>
                <a:path w="5755290" h="1390690">
                  <a:moveTo>
                    <a:pt x="22602" y="0"/>
                  </a:moveTo>
                  <a:lnTo>
                    <a:pt x="5732688" y="0"/>
                  </a:lnTo>
                  <a:cubicBezTo>
                    <a:pt x="5745264" y="0"/>
                    <a:pt x="5755290" y="11944"/>
                    <a:pt x="5755290" y="26476"/>
                  </a:cubicBezTo>
                  <a:lnTo>
                    <a:pt x="5755290" y="1364211"/>
                  </a:lnTo>
                  <a:cubicBezTo>
                    <a:pt x="5755290" y="1378942"/>
                    <a:pt x="5745094" y="1390688"/>
                    <a:pt x="5732688" y="1390688"/>
                  </a:cubicBezTo>
                  <a:lnTo>
                    <a:pt x="22602" y="1390688"/>
                  </a:lnTo>
                  <a:cubicBezTo>
                    <a:pt x="10197" y="1390865"/>
                    <a:pt x="0" y="1378942"/>
                    <a:pt x="0" y="1364211"/>
                  </a:cubicBezTo>
                  <a:lnTo>
                    <a:pt x="0" y="26476"/>
                  </a:lnTo>
                  <a:cubicBezTo>
                    <a:pt x="0" y="11944"/>
                    <a:pt x="10197" y="0"/>
                    <a:pt x="22602" y="0"/>
                  </a:cubicBezTo>
                  <a:moveTo>
                    <a:pt x="22602" y="53151"/>
                  </a:moveTo>
                  <a:lnTo>
                    <a:pt x="22602" y="26476"/>
                  </a:lnTo>
                  <a:lnTo>
                    <a:pt x="45375" y="26476"/>
                  </a:lnTo>
                  <a:lnTo>
                    <a:pt x="45375" y="1364211"/>
                  </a:lnTo>
                  <a:lnTo>
                    <a:pt x="22602" y="1364211"/>
                  </a:lnTo>
                  <a:lnTo>
                    <a:pt x="22602" y="1337735"/>
                  </a:lnTo>
                  <a:lnTo>
                    <a:pt x="5732688" y="1337735"/>
                  </a:lnTo>
                  <a:lnTo>
                    <a:pt x="5732688" y="1364211"/>
                  </a:lnTo>
                  <a:lnTo>
                    <a:pt x="5710086" y="1364211"/>
                  </a:lnTo>
                  <a:lnTo>
                    <a:pt x="5710086" y="26476"/>
                  </a:lnTo>
                  <a:lnTo>
                    <a:pt x="5732688" y="26476"/>
                  </a:lnTo>
                  <a:lnTo>
                    <a:pt x="5732688" y="53151"/>
                  </a:lnTo>
                  <a:lnTo>
                    <a:pt x="22602" y="53151"/>
                  </a:lnTo>
                  <a:close/>
                </a:path>
              </a:pathLst>
            </a:custGeom>
            <a:solidFill>
              <a:srgbClr val="D0D8EC"/>
            </a:solidFill>
          </p:spPr>
        </p:sp>
      </p:grpSp>
      <p:grpSp>
        <p:nvGrpSpPr>
          <p:cNvPr id="59" name="Group 59"/>
          <p:cNvGrpSpPr/>
          <p:nvPr/>
        </p:nvGrpSpPr>
        <p:grpSpPr>
          <a:xfrm>
            <a:off x="2099661" y="5081848"/>
            <a:ext cx="4086790" cy="945970"/>
            <a:chOff x="0" y="0"/>
            <a:chExt cx="5449053" cy="1261293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5449053" cy="1261293"/>
            </a:xfrm>
            <a:custGeom>
              <a:avLst/>
              <a:gdLst/>
              <a:ahLst/>
              <a:cxnLst/>
              <a:rect l="l" t="t" r="r" b="b"/>
              <a:pathLst>
                <a:path w="5449053" h="1261293">
                  <a:moveTo>
                    <a:pt x="0" y="0"/>
                  </a:moveTo>
                  <a:lnTo>
                    <a:pt x="5449053" y="0"/>
                  </a:lnTo>
                  <a:lnTo>
                    <a:pt x="5449053" y="1261293"/>
                  </a:lnTo>
                  <a:lnTo>
                    <a:pt x="0" y="126129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1009" r="25269" b="5193"/>
              </a:stretch>
            </a:blipFill>
          </p:spPr>
        </p:sp>
        <p:sp>
          <p:nvSpPr>
            <p:cNvPr id="61" name="TextBox 61"/>
            <p:cNvSpPr txBox="1"/>
            <p:nvPr/>
          </p:nvSpPr>
          <p:spPr>
            <a:xfrm>
              <a:off x="0" y="-19050"/>
              <a:ext cx="5449053" cy="12803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719"/>
                </a:lnSpc>
              </a:pPr>
              <a:r>
                <a:rPr lang="en-US" sz="3099">
                  <a:solidFill>
                    <a:srgbClr val="1A2E5A"/>
                  </a:solidFill>
                  <a:latin typeface="Arial"/>
                  <a:ea typeface="Arial"/>
                  <a:cs typeface="Arial"/>
                  <a:sym typeface="Arial"/>
                </a:rPr>
                <a:t>🖐️ palm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6384946" y="5033280"/>
            <a:ext cx="5059755" cy="1043120"/>
            <a:chOff x="0" y="0"/>
            <a:chExt cx="6746340" cy="1390827"/>
          </a:xfrm>
        </p:grpSpPr>
        <p:sp>
          <p:nvSpPr>
            <p:cNvPr id="63" name="Freeform 63"/>
            <p:cNvSpPr/>
            <p:nvPr/>
          </p:nvSpPr>
          <p:spPr>
            <a:xfrm>
              <a:off x="19769" y="26476"/>
              <a:ext cx="6706698" cy="1337735"/>
            </a:xfrm>
            <a:custGeom>
              <a:avLst/>
              <a:gdLst/>
              <a:ahLst/>
              <a:cxnLst/>
              <a:rect l="l" t="t" r="r" b="b"/>
              <a:pathLst>
                <a:path w="6706698" h="1337735">
                  <a:moveTo>
                    <a:pt x="0" y="0"/>
                  </a:moveTo>
                  <a:lnTo>
                    <a:pt x="6706698" y="0"/>
                  </a:lnTo>
                  <a:lnTo>
                    <a:pt x="6706698" y="1337735"/>
                  </a:lnTo>
                  <a:lnTo>
                    <a:pt x="0" y="133773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4" name="Freeform 64"/>
            <p:cNvSpPr/>
            <p:nvPr/>
          </p:nvSpPr>
          <p:spPr>
            <a:xfrm>
              <a:off x="0" y="0"/>
              <a:ext cx="6746236" cy="1390690"/>
            </a:xfrm>
            <a:custGeom>
              <a:avLst/>
              <a:gdLst/>
              <a:ahLst/>
              <a:cxnLst/>
              <a:rect l="l" t="t" r="r" b="b"/>
              <a:pathLst>
                <a:path w="6746236" h="1390690">
                  <a:moveTo>
                    <a:pt x="19769" y="0"/>
                  </a:moveTo>
                  <a:lnTo>
                    <a:pt x="6726467" y="0"/>
                  </a:lnTo>
                  <a:cubicBezTo>
                    <a:pt x="6737466" y="0"/>
                    <a:pt x="6746236" y="11944"/>
                    <a:pt x="6746236" y="26476"/>
                  </a:cubicBezTo>
                  <a:lnTo>
                    <a:pt x="6746236" y="1364211"/>
                  </a:lnTo>
                  <a:cubicBezTo>
                    <a:pt x="6746236" y="1378942"/>
                    <a:pt x="6737318" y="1390688"/>
                    <a:pt x="6726467" y="1390688"/>
                  </a:cubicBezTo>
                  <a:lnTo>
                    <a:pt x="19769" y="1390688"/>
                  </a:lnTo>
                  <a:cubicBezTo>
                    <a:pt x="8918" y="1390865"/>
                    <a:pt x="0" y="1378942"/>
                    <a:pt x="0" y="1364211"/>
                  </a:cubicBezTo>
                  <a:lnTo>
                    <a:pt x="0" y="26476"/>
                  </a:lnTo>
                  <a:cubicBezTo>
                    <a:pt x="0" y="11944"/>
                    <a:pt x="8918" y="0"/>
                    <a:pt x="19769" y="0"/>
                  </a:cubicBezTo>
                  <a:moveTo>
                    <a:pt x="19769" y="53151"/>
                  </a:moveTo>
                  <a:lnTo>
                    <a:pt x="19769" y="26476"/>
                  </a:lnTo>
                  <a:lnTo>
                    <a:pt x="39687" y="26476"/>
                  </a:lnTo>
                  <a:lnTo>
                    <a:pt x="39687" y="1364211"/>
                  </a:lnTo>
                  <a:lnTo>
                    <a:pt x="19769" y="1364211"/>
                  </a:lnTo>
                  <a:lnTo>
                    <a:pt x="19769" y="1337735"/>
                  </a:lnTo>
                  <a:lnTo>
                    <a:pt x="6726467" y="1337735"/>
                  </a:lnTo>
                  <a:lnTo>
                    <a:pt x="6726467" y="1364211"/>
                  </a:lnTo>
                  <a:lnTo>
                    <a:pt x="6706698" y="1364211"/>
                  </a:lnTo>
                  <a:lnTo>
                    <a:pt x="6706698" y="26476"/>
                  </a:lnTo>
                  <a:lnTo>
                    <a:pt x="6726467" y="26476"/>
                  </a:lnTo>
                  <a:lnTo>
                    <a:pt x="6726467" y="53151"/>
                  </a:lnTo>
                  <a:lnTo>
                    <a:pt x="19769" y="53151"/>
                  </a:lnTo>
                  <a:close/>
                </a:path>
              </a:pathLst>
            </a:custGeom>
            <a:solidFill>
              <a:srgbClr val="D0D8EC"/>
            </a:solidFill>
          </p:spPr>
        </p:sp>
      </p:grpSp>
      <p:grpSp>
        <p:nvGrpSpPr>
          <p:cNvPr id="65" name="Group 65"/>
          <p:cNvGrpSpPr/>
          <p:nvPr/>
        </p:nvGrpSpPr>
        <p:grpSpPr>
          <a:xfrm>
            <a:off x="6485423" y="5081848"/>
            <a:ext cx="4858788" cy="945970"/>
            <a:chOff x="0" y="0"/>
            <a:chExt cx="6478384" cy="1261293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6478384" cy="1261293"/>
            </a:xfrm>
            <a:custGeom>
              <a:avLst/>
              <a:gdLst/>
              <a:ahLst/>
              <a:cxnLst/>
              <a:rect l="l" t="t" r="r" b="b"/>
              <a:pathLst>
                <a:path w="6478384" h="1261293">
                  <a:moveTo>
                    <a:pt x="0" y="0"/>
                  </a:moveTo>
                  <a:lnTo>
                    <a:pt x="6478384" y="0"/>
                  </a:lnTo>
                  <a:lnTo>
                    <a:pt x="6478384" y="1261293"/>
                  </a:lnTo>
                  <a:lnTo>
                    <a:pt x="0" y="126129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3611" r="14559" b="-17408"/>
              </a:stretch>
            </a:blipFill>
          </p:spPr>
        </p:sp>
        <p:sp>
          <p:nvSpPr>
            <p:cNvPr id="67" name="TextBox 67"/>
            <p:cNvSpPr txBox="1"/>
            <p:nvPr/>
          </p:nvSpPr>
          <p:spPr>
            <a:xfrm>
              <a:off x="0" y="-19050"/>
              <a:ext cx="6478384" cy="12803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719"/>
                </a:lnSpc>
              </a:pPr>
              <a:r>
                <a:rPr lang="en-US" sz="3099">
                  <a:solidFill>
                    <a:srgbClr val="1A2E5A"/>
                  </a:solidFill>
                  <a:latin typeface="Arial"/>
                  <a:ea typeface="Arial"/>
                  <a:cs typeface="Arial"/>
                  <a:sym typeface="Arial"/>
                </a:rPr>
                <a:t>0.92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11539951" y="5033280"/>
            <a:ext cx="5246800" cy="1043120"/>
            <a:chOff x="0" y="0"/>
            <a:chExt cx="6995734" cy="1390827"/>
          </a:xfrm>
        </p:grpSpPr>
        <p:sp>
          <p:nvSpPr>
            <p:cNvPr id="69" name="Freeform 69"/>
            <p:cNvSpPr/>
            <p:nvPr/>
          </p:nvSpPr>
          <p:spPr>
            <a:xfrm>
              <a:off x="27473" y="26476"/>
              <a:ext cx="6940642" cy="1337735"/>
            </a:xfrm>
            <a:custGeom>
              <a:avLst/>
              <a:gdLst/>
              <a:ahLst/>
              <a:cxnLst/>
              <a:rect l="l" t="t" r="r" b="b"/>
              <a:pathLst>
                <a:path w="6940642" h="1337735">
                  <a:moveTo>
                    <a:pt x="0" y="0"/>
                  </a:moveTo>
                  <a:lnTo>
                    <a:pt x="6940642" y="0"/>
                  </a:lnTo>
                  <a:lnTo>
                    <a:pt x="6940642" y="1337735"/>
                  </a:lnTo>
                  <a:lnTo>
                    <a:pt x="0" y="133773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0" name="Freeform 70"/>
            <p:cNvSpPr/>
            <p:nvPr/>
          </p:nvSpPr>
          <p:spPr>
            <a:xfrm>
              <a:off x="0" y="0"/>
              <a:ext cx="6995589" cy="1390690"/>
            </a:xfrm>
            <a:custGeom>
              <a:avLst/>
              <a:gdLst/>
              <a:ahLst/>
              <a:cxnLst/>
              <a:rect l="l" t="t" r="r" b="b"/>
              <a:pathLst>
                <a:path w="6995589" h="1390690">
                  <a:moveTo>
                    <a:pt x="27473" y="0"/>
                  </a:moveTo>
                  <a:lnTo>
                    <a:pt x="6968115" y="0"/>
                  </a:lnTo>
                  <a:cubicBezTo>
                    <a:pt x="6983402" y="0"/>
                    <a:pt x="6995589" y="11944"/>
                    <a:pt x="6995589" y="26476"/>
                  </a:cubicBezTo>
                  <a:lnTo>
                    <a:pt x="6995589" y="1364211"/>
                  </a:lnTo>
                  <a:cubicBezTo>
                    <a:pt x="6995589" y="1378942"/>
                    <a:pt x="6983195" y="1390688"/>
                    <a:pt x="6968115" y="1390688"/>
                  </a:cubicBezTo>
                  <a:lnTo>
                    <a:pt x="27473" y="1390688"/>
                  </a:lnTo>
                  <a:cubicBezTo>
                    <a:pt x="12394" y="1390865"/>
                    <a:pt x="0" y="1378942"/>
                    <a:pt x="0" y="1364211"/>
                  </a:cubicBezTo>
                  <a:lnTo>
                    <a:pt x="0" y="26476"/>
                  </a:lnTo>
                  <a:cubicBezTo>
                    <a:pt x="0" y="11944"/>
                    <a:pt x="12394" y="0"/>
                    <a:pt x="27473" y="0"/>
                  </a:cubicBezTo>
                  <a:moveTo>
                    <a:pt x="27473" y="53151"/>
                  </a:moveTo>
                  <a:lnTo>
                    <a:pt x="27473" y="26476"/>
                  </a:lnTo>
                  <a:lnTo>
                    <a:pt x="55153" y="26476"/>
                  </a:lnTo>
                  <a:lnTo>
                    <a:pt x="55153" y="1364211"/>
                  </a:lnTo>
                  <a:lnTo>
                    <a:pt x="27473" y="1364211"/>
                  </a:lnTo>
                  <a:lnTo>
                    <a:pt x="27473" y="1337735"/>
                  </a:lnTo>
                  <a:lnTo>
                    <a:pt x="6968115" y="1337735"/>
                  </a:lnTo>
                  <a:lnTo>
                    <a:pt x="6968115" y="1364211"/>
                  </a:lnTo>
                  <a:lnTo>
                    <a:pt x="6940642" y="1364211"/>
                  </a:lnTo>
                  <a:lnTo>
                    <a:pt x="6940642" y="26476"/>
                  </a:lnTo>
                  <a:lnTo>
                    <a:pt x="6968115" y="26476"/>
                  </a:lnTo>
                  <a:lnTo>
                    <a:pt x="6968115" y="53151"/>
                  </a:lnTo>
                  <a:lnTo>
                    <a:pt x="27473" y="53151"/>
                  </a:lnTo>
                  <a:close/>
                </a:path>
              </a:pathLst>
            </a:custGeom>
            <a:solidFill>
              <a:srgbClr val="D0D8EC"/>
            </a:solidFill>
          </p:spPr>
        </p:sp>
      </p:grpSp>
      <p:grpSp>
        <p:nvGrpSpPr>
          <p:cNvPr id="71" name="Group 71"/>
          <p:cNvGrpSpPr/>
          <p:nvPr/>
        </p:nvGrpSpPr>
        <p:grpSpPr>
          <a:xfrm>
            <a:off x="11679585" y="5081848"/>
            <a:ext cx="4967517" cy="945970"/>
            <a:chOff x="0" y="0"/>
            <a:chExt cx="6623356" cy="1261293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6623356" cy="1261293"/>
            </a:xfrm>
            <a:custGeom>
              <a:avLst/>
              <a:gdLst/>
              <a:ahLst/>
              <a:cxnLst/>
              <a:rect l="l" t="t" r="r" b="b"/>
              <a:pathLst>
                <a:path w="6623356" h="1261293">
                  <a:moveTo>
                    <a:pt x="0" y="0"/>
                  </a:moveTo>
                  <a:lnTo>
                    <a:pt x="6623356" y="0"/>
                  </a:lnTo>
                  <a:lnTo>
                    <a:pt x="6623356" y="1261293"/>
                  </a:lnTo>
                  <a:lnTo>
                    <a:pt x="0" y="126129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1009" r="38518" b="5193"/>
              </a:stretch>
            </a:blipFill>
          </p:spPr>
        </p:sp>
        <p:sp>
          <p:nvSpPr>
            <p:cNvPr id="73" name="TextBox 73"/>
            <p:cNvSpPr txBox="1"/>
            <p:nvPr/>
          </p:nvSpPr>
          <p:spPr>
            <a:xfrm>
              <a:off x="0" y="-19050"/>
              <a:ext cx="6623356" cy="12803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719"/>
                </a:lnSpc>
              </a:pPr>
              <a:r>
                <a:rPr lang="en-US" sz="3099">
                  <a:solidFill>
                    <a:srgbClr val="1A2E5A"/>
                  </a:solidFill>
                  <a:latin typeface="Arial"/>
                  <a:ea typeface="Arial"/>
                  <a:cs typeface="Arial"/>
                  <a:sym typeface="Arial"/>
                </a:rPr>
                <a:t>55 FPS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1984783" y="6093914"/>
            <a:ext cx="4316557" cy="1043120"/>
            <a:chOff x="0" y="0"/>
            <a:chExt cx="5755409" cy="1390827"/>
          </a:xfrm>
        </p:grpSpPr>
        <p:sp>
          <p:nvSpPr>
            <p:cNvPr id="75" name="Freeform 75"/>
            <p:cNvSpPr/>
            <p:nvPr/>
          </p:nvSpPr>
          <p:spPr>
            <a:xfrm>
              <a:off x="22602" y="26476"/>
              <a:ext cx="5710085" cy="1337735"/>
            </a:xfrm>
            <a:custGeom>
              <a:avLst/>
              <a:gdLst/>
              <a:ahLst/>
              <a:cxnLst/>
              <a:rect l="l" t="t" r="r" b="b"/>
              <a:pathLst>
                <a:path w="5710085" h="1337735">
                  <a:moveTo>
                    <a:pt x="0" y="0"/>
                  </a:moveTo>
                  <a:lnTo>
                    <a:pt x="5710086" y="0"/>
                  </a:lnTo>
                  <a:lnTo>
                    <a:pt x="5710086" y="1337735"/>
                  </a:lnTo>
                  <a:lnTo>
                    <a:pt x="0" y="1337735"/>
                  </a:lnTo>
                  <a:close/>
                </a:path>
              </a:pathLst>
            </a:custGeom>
            <a:solidFill>
              <a:srgbClr val="E8EEF8"/>
            </a:solidFill>
          </p:spPr>
        </p:sp>
        <p:sp>
          <p:nvSpPr>
            <p:cNvPr id="76" name="Freeform 76"/>
            <p:cNvSpPr/>
            <p:nvPr/>
          </p:nvSpPr>
          <p:spPr>
            <a:xfrm>
              <a:off x="0" y="0"/>
              <a:ext cx="5755290" cy="1390690"/>
            </a:xfrm>
            <a:custGeom>
              <a:avLst/>
              <a:gdLst/>
              <a:ahLst/>
              <a:cxnLst/>
              <a:rect l="l" t="t" r="r" b="b"/>
              <a:pathLst>
                <a:path w="5755290" h="1390690">
                  <a:moveTo>
                    <a:pt x="22602" y="0"/>
                  </a:moveTo>
                  <a:lnTo>
                    <a:pt x="5732688" y="0"/>
                  </a:lnTo>
                  <a:cubicBezTo>
                    <a:pt x="5745264" y="0"/>
                    <a:pt x="5755290" y="11944"/>
                    <a:pt x="5755290" y="26476"/>
                  </a:cubicBezTo>
                  <a:lnTo>
                    <a:pt x="5755290" y="1364211"/>
                  </a:lnTo>
                  <a:cubicBezTo>
                    <a:pt x="5755290" y="1378942"/>
                    <a:pt x="5745094" y="1390688"/>
                    <a:pt x="5732688" y="1390688"/>
                  </a:cubicBezTo>
                  <a:lnTo>
                    <a:pt x="22602" y="1390688"/>
                  </a:lnTo>
                  <a:cubicBezTo>
                    <a:pt x="10197" y="1390865"/>
                    <a:pt x="0" y="1378942"/>
                    <a:pt x="0" y="1364211"/>
                  </a:cubicBezTo>
                  <a:lnTo>
                    <a:pt x="0" y="26476"/>
                  </a:lnTo>
                  <a:cubicBezTo>
                    <a:pt x="0" y="11944"/>
                    <a:pt x="10197" y="0"/>
                    <a:pt x="22602" y="0"/>
                  </a:cubicBezTo>
                  <a:moveTo>
                    <a:pt x="22602" y="53151"/>
                  </a:moveTo>
                  <a:lnTo>
                    <a:pt x="22602" y="26476"/>
                  </a:lnTo>
                  <a:lnTo>
                    <a:pt x="45375" y="26476"/>
                  </a:lnTo>
                  <a:lnTo>
                    <a:pt x="45375" y="1364211"/>
                  </a:lnTo>
                  <a:lnTo>
                    <a:pt x="22602" y="1364211"/>
                  </a:lnTo>
                  <a:lnTo>
                    <a:pt x="22602" y="1337735"/>
                  </a:lnTo>
                  <a:lnTo>
                    <a:pt x="5732688" y="1337735"/>
                  </a:lnTo>
                  <a:lnTo>
                    <a:pt x="5732688" y="1364211"/>
                  </a:lnTo>
                  <a:lnTo>
                    <a:pt x="5710086" y="1364211"/>
                  </a:lnTo>
                  <a:lnTo>
                    <a:pt x="5710086" y="26476"/>
                  </a:lnTo>
                  <a:lnTo>
                    <a:pt x="5732688" y="26476"/>
                  </a:lnTo>
                  <a:lnTo>
                    <a:pt x="5732688" y="53151"/>
                  </a:lnTo>
                  <a:lnTo>
                    <a:pt x="22602" y="53151"/>
                  </a:lnTo>
                  <a:close/>
                </a:path>
              </a:pathLst>
            </a:custGeom>
            <a:solidFill>
              <a:srgbClr val="D0D8EC"/>
            </a:solidFill>
          </p:spPr>
        </p:sp>
      </p:grpSp>
      <p:grpSp>
        <p:nvGrpSpPr>
          <p:cNvPr id="77" name="Group 77"/>
          <p:cNvGrpSpPr/>
          <p:nvPr/>
        </p:nvGrpSpPr>
        <p:grpSpPr>
          <a:xfrm>
            <a:off x="2099661" y="6142481"/>
            <a:ext cx="4086790" cy="945970"/>
            <a:chOff x="0" y="0"/>
            <a:chExt cx="5449053" cy="1261293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5449053" cy="1261293"/>
            </a:xfrm>
            <a:custGeom>
              <a:avLst/>
              <a:gdLst/>
              <a:ahLst/>
              <a:cxnLst/>
              <a:rect l="l" t="t" r="r" b="b"/>
              <a:pathLst>
                <a:path w="5449053" h="1261293">
                  <a:moveTo>
                    <a:pt x="0" y="0"/>
                  </a:moveTo>
                  <a:lnTo>
                    <a:pt x="5449053" y="0"/>
                  </a:lnTo>
                  <a:lnTo>
                    <a:pt x="5449053" y="1261293"/>
                  </a:lnTo>
                  <a:lnTo>
                    <a:pt x="0" y="126129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1009" r="25269" b="5193"/>
              </a:stretch>
            </a:blipFill>
          </p:spPr>
        </p:sp>
        <p:sp>
          <p:nvSpPr>
            <p:cNvPr id="79" name="TextBox 79"/>
            <p:cNvSpPr txBox="1"/>
            <p:nvPr/>
          </p:nvSpPr>
          <p:spPr>
            <a:xfrm>
              <a:off x="0" y="-19050"/>
              <a:ext cx="5449053" cy="12803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719"/>
                </a:lnSpc>
              </a:pPr>
              <a:r>
                <a:rPr lang="en-US" sz="3099">
                  <a:solidFill>
                    <a:srgbClr val="1A2E5A"/>
                  </a:solidFill>
                  <a:latin typeface="Arial"/>
                  <a:ea typeface="Arial"/>
                  <a:cs typeface="Arial"/>
                  <a:sym typeface="Arial"/>
                </a:rPr>
                <a:t>✌️ peace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6384946" y="6093914"/>
            <a:ext cx="5059755" cy="1043120"/>
            <a:chOff x="0" y="0"/>
            <a:chExt cx="6746340" cy="1390827"/>
          </a:xfrm>
        </p:grpSpPr>
        <p:sp>
          <p:nvSpPr>
            <p:cNvPr id="81" name="Freeform 81"/>
            <p:cNvSpPr/>
            <p:nvPr/>
          </p:nvSpPr>
          <p:spPr>
            <a:xfrm>
              <a:off x="19769" y="26476"/>
              <a:ext cx="6706698" cy="1337735"/>
            </a:xfrm>
            <a:custGeom>
              <a:avLst/>
              <a:gdLst/>
              <a:ahLst/>
              <a:cxnLst/>
              <a:rect l="l" t="t" r="r" b="b"/>
              <a:pathLst>
                <a:path w="6706698" h="1337735">
                  <a:moveTo>
                    <a:pt x="0" y="0"/>
                  </a:moveTo>
                  <a:lnTo>
                    <a:pt x="6706698" y="0"/>
                  </a:lnTo>
                  <a:lnTo>
                    <a:pt x="6706698" y="1337735"/>
                  </a:lnTo>
                  <a:lnTo>
                    <a:pt x="0" y="1337735"/>
                  </a:lnTo>
                  <a:close/>
                </a:path>
              </a:pathLst>
            </a:custGeom>
            <a:solidFill>
              <a:srgbClr val="E8EEF8"/>
            </a:solidFill>
          </p:spPr>
        </p:sp>
        <p:sp>
          <p:nvSpPr>
            <p:cNvPr id="82" name="Freeform 82"/>
            <p:cNvSpPr/>
            <p:nvPr/>
          </p:nvSpPr>
          <p:spPr>
            <a:xfrm>
              <a:off x="0" y="0"/>
              <a:ext cx="6746236" cy="1390690"/>
            </a:xfrm>
            <a:custGeom>
              <a:avLst/>
              <a:gdLst/>
              <a:ahLst/>
              <a:cxnLst/>
              <a:rect l="l" t="t" r="r" b="b"/>
              <a:pathLst>
                <a:path w="6746236" h="1390690">
                  <a:moveTo>
                    <a:pt x="19769" y="0"/>
                  </a:moveTo>
                  <a:lnTo>
                    <a:pt x="6726467" y="0"/>
                  </a:lnTo>
                  <a:cubicBezTo>
                    <a:pt x="6737466" y="0"/>
                    <a:pt x="6746236" y="11944"/>
                    <a:pt x="6746236" y="26476"/>
                  </a:cubicBezTo>
                  <a:lnTo>
                    <a:pt x="6746236" y="1364211"/>
                  </a:lnTo>
                  <a:cubicBezTo>
                    <a:pt x="6746236" y="1378942"/>
                    <a:pt x="6737318" y="1390688"/>
                    <a:pt x="6726467" y="1390688"/>
                  </a:cubicBezTo>
                  <a:lnTo>
                    <a:pt x="19769" y="1390688"/>
                  </a:lnTo>
                  <a:cubicBezTo>
                    <a:pt x="8918" y="1390865"/>
                    <a:pt x="0" y="1378942"/>
                    <a:pt x="0" y="1364211"/>
                  </a:cubicBezTo>
                  <a:lnTo>
                    <a:pt x="0" y="26476"/>
                  </a:lnTo>
                  <a:cubicBezTo>
                    <a:pt x="0" y="11944"/>
                    <a:pt x="8918" y="0"/>
                    <a:pt x="19769" y="0"/>
                  </a:cubicBezTo>
                  <a:moveTo>
                    <a:pt x="19769" y="53151"/>
                  </a:moveTo>
                  <a:lnTo>
                    <a:pt x="19769" y="26476"/>
                  </a:lnTo>
                  <a:lnTo>
                    <a:pt x="39687" y="26476"/>
                  </a:lnTo>
                  <a:lnTo>
                    <a:pt x="39687" y="1364211"/>
                  </a:lnTo>
                  <a:lnTo>
                    <a:pt x="19769" y="1364211"/>
                  </a:lnTo>
                  <a:lnTo>
                    <a:pt x="19769" y="1337735"/>
                  </a:lnTo>
                  <a:lnTo>
                    <a:pt x="6726467" y="1337735"/>
                  </a:lnTo>
                  <a:lnTo>
                    <a:pt x="6726467" y="1364211"/>
                  </a:lnTo>
                  <a:lnTo>
                    <a:pt x="6706698" y="1364211"/>
                  </a:lnTo>
                  <a:lnTo>
                    <a:pt x="6706698" y="26476"/>
                  </a:lnTo>
                  <a:lnTo>
                    <a:pt x="6726467" y="26476"/>
                  </a:lnTo>
                  <a:lnTo>
                    <a:pt x="6726467" y="53151"/>
                  </a:lnTo>
                  <a:lnTo>
                    <a:pt x="19769" y="53151"/>
                  </a:lnTo>
                  <a:close/>
                </a:path>
              </a:pathLst>
            </a:custGeom>
            <a:solidFill>
              <a:srgbClr val="D0D8EC"/>
            </a:solidFill>
          </p:spPr>
        </p:sp>
      </p:grpSp>
      <p:grpSp>
        <p:nvGrpSpPr>
          <p:cNvPr id="83" name="Group 83"/>
          <p:cNvGrpSpPr/>
          <p:nvPr/>
        </p:nvGrpSpPr>
        <p:grpSpPr>
          <a:xfrm>
            <a:off x="6485423" y="6142481"/>
            <a:ext cx="4858788" cy="945970"/>
            <a:chOff x="0" y="0"/>
            <a:chExt cx="6478384" cy="1261293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6478384" cy="1261293"/>
            </a:xfrm>
            <a:custGeom>
              <a:avLst/>
              <a:gdLst/>
              <a:ahLst/>
              <a:cxnLst/>
              <a:rect l="l" t="t" r="r" b="b"/>
              <a:pathLst>
                <a:path w="6478384" h="1261293">
                  <a:moveTo>
                    <a:pt x="0" y="0"/>
                  </a:moveTo>
                  <a:lnTo>
                    <a:pt x="6478384" y="0"/>
                  </a:lnTo>
                  <a:lnTo>
                    <a:pt x="6478384" y="1261293"/>
                  </a:lnTo>
                  <a:lnTo>
                    <a:pt x="0" y="126129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3611" r="14559" b="-17408"/>
              </a:stretch>
            </a:blipFill>
          </p:spPr>
        </p:sp>
        <p:sp>
          <p:nvSpPr>
            <p:cNvPr id="85" name="TextBox 85"/>
            <p:cNvSpPr txBox="1"/>
            <p:nvPr/>
          </p:nvSpPr>
          <p:spPr>
            <a:xfrm>
              <a:off x="0" y="-19050"/>
              <a:ext cx="6478384" cy="12803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719"/>
                </a:lnSpc>
              </a:pPr>
              <a:r>
                <a:rPr lang="en-US" sz="3099">
                  <a:solidFill>
                    <a:srgbClr val="1A2E5A"/>
                  </a:solidFill>
                  <a:latin typeface="Arial"/>
                  <a:ea typeface="Arial"/>
                  <a:cs typeface="Arial"/>
                  <a:sym typeface="Arial"/>
                </a:rPr>
                <a:t>0.90</a:t>
              </a:r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11539951" y="6093914"/>
            <a:ext cx="5246800" cy="1043120"/>
            <a:chOff x="0" y="0"/>
            <a:chExt cx="6995734" cy="1390827"/>
          </a:xfrm>
        </p:grpSpPr>
        <p:sp>
          <p:nvSpPr>
            <p:cNvPr id="87" name="Freeform 87"/>
            <p:cNvSpPr/>
            <p:nvPr/>
          </p:nvSpPr>
          <p:spPr>
            <a:xfrm>
              <a:off x="27473" y="26476"/>
              <a:ext cx="6940642" cy="1337735"/>
            </a:xfrm>
            <a:custGeom>
              <a:avLst/>
              <a:gdLst/>
              <a:ahLst/>
              <a:cxnLst/>
              <a:rect l="l" t="t" r="r" b="b"/>
              <a:pathLst>
                <a:path w="6940642" h="1337735">
                  <a:moveTo>
                    <a:pt x="0" y="0"/>
                  </a:moveTo>
                  <a:lnTo>
                    <a:pt x="6940642" y="0"/>
                  </a:lnTo>
                  <a:lnTo>
                    <a:pt x="6940642" y="1337735"/>
                  </a:lnTo>
                  <a:lnTo>
                    <a:pt x="0" y="1337735"/>
                  </a:lnTo>
                  <a:close/>
                </a:path>
              </a:pathLst>
            </a:custGeom>
            <a:solidFill>
              <a:srgbClr val="E8EEF8"/>
            </a:solidFill>
          </p:spPr>
        </p:sp>
        <p:sp>
          <p:nvSpPr>
            <p:cNvPr id="88" name="Freeform 88"/>
            <p:cNvSpPr/>
            <p:nvPr/>
          </p:nvSpPr>
          <p:spPr>
            <a:xfrm>
              <a:off x="0" y="0"/>
              <a:ext cx="6995589" cy="1390690"/>
            </a:xfrm>
            <a:custGeom>
              <a:avLst/>
              <a:gdLst/>
              <a:ahLst/>
              <a:cxnLst/>
              <a:rect l="l" t="t" r="r" b="b"/>
              <a:pathLst>
                <a:path w="6995589" h="1390690">
                  <a:moveTo>
                    <a:pt x="27473" y="0"/>
                  </a:moveTo>
                  <a:lnTo>
                    <a:pt x="6968115" y="0"/>
                  </a:lnTo>
                  <a:cubicBezTo>
                    <a:pt x="6983402" y="0"/>
                    <a:pt x="6995589" y="11944"/>
                    <a:pt x="6995589" y="26476"/>
                  </a:cubicBezTo>
                  <a:lnTo>
                    <a:pt x="6995589" y="1364211"/>
                  </a:lnTo>
                  <a:cubicBezTo>
                    <a:pt x="6995589" y="1378942"/>
                    <a:pt x="6983195" y="1390688"/>
                    <a:pt x="6968115" y="1390688"/>
                  </a:cubicBezTo>
                  <a:lnTo>
                    <a:pt x="27473" y="1390688"/>
                  </a:lnTo>
                  <a:cubicBezTo>
                    <a:pt x="12394" y="1390865"/>
                    <a:pt x="0" y="1378942"/>
                    <a:pt x="0" y="1364211"/>
                  </a:cubicBezTo>
                  <a:lnTo>
                    <a:pt x="0" y="26476"/>
                  </a:lnTo>
                  <a:cubicBezTo>
                    <a:pt x="0" y="11944"/>
                    <a:pt x="12394" y="0"/>
                    <a:pt x="27473" y="0"/>
                  </a:cubicBezTo>
                  <a:moveTo>
                    <a:pt x="27473" y="53151"/>
                  </a:moveTo>
                  <a:lnTo>
                    <a:pt x="27473" y="26476"/>
                  </a:lnTo>
                  <a:lnTo>
                    <a:pt x="55153" y="26476"/>
                  </a:lnTo>
                  <a:lnTo>
                    <a:pt x="55153" y="1364211"/>
                  </a:lnTo>
                  <a:lnTo>
                    <a:pt x="27473" y="1364211"/>
                  </a:lnTo>
                  <a:lnTo>
                    <a:pt x="27473" y="1337735"/>
                  </a:lnTo>
                  <a:lnTo>
                    <a:pt x="6968115" y="1337735"/>
                  </a:lnTo>
                  <a:lnTo>
                    <a:pt x="6968115" y="1364211"/>
                  </a:lnTo>
                  <a:lnTo>
                    <a:pt x="6940642" y="1364211"/>
                  </a:lnTo>
                  <a:lnTo>
                    <a:pt x="6940642" y="26476"/>
                  </a:lnTo>
                  <a:lnTo>
                    <a:pt x="6968115" y="26476"/>
                  </a:lnTo>
                  <a:lnTo>
                    <a:pt x="6968115" y="53151"/>
                  </a:lnTo>
                  <a:lnTo>
                    <a:pt x="27473" y="53151"/>
                  </a:lnTo>
                  <a:close/>
                </a:path>
              </a:pathLst>
            </a:custGeom>
            <a:solidFill>
              <a:srgbClr val="D0D8EC"/>
            </a:solidFill>
          </p:spPr>
        </p:sp>
      </p:grpSp>
      <p:grpSp>
        <p:nvGrpSpPr>
          <p:cNvPr id="89" name="Group 89"/>
          <p:cNvGrpSpPr/>
          <p:nvPr/>
        </p:nvGrpSpPr>
        <p:grpSpPr>
          <a:xfrm>
            <a:off x="11679585" y="6142481"/>
            <a:ext cx="4967517" cy="945970"/>
            <a:chOff x="0" y="0"/>
            <a:chExt cx="6623356" cy="1261293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6623356" cy="1261293"/>
            </a:xfrm>
            <a:custGeom>
              <a:avLst/>
              <a:gdLst/>
              <a:ahLst/>
              <a:cxnLst/>
              <a:rect l="l" t="t" r="r" b="b"/>
              <a:pathLst>
                <a:path w="6623356" h="1261293">
                  <a:moveTo>
                    <a:pt x="0" y="0"/>
                  </a:moveTo>
                  <a:lnTo>
                    <a:pt x="6623356" y="0"/>
                  </a:lnTo>
                  <a:lnTo>
                    <a:pt x="6623356" y="1261293"/>
                  </a:lnTo>
                  <a:lnTo>
                    <a:pt x="0" y="126129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1009" r="38518" b="5193"/>
              </a:stretch>
            </a:blipFill>
          </p:spPr>
        </p:sp>
        <p:sp>
          <p:nvSpPr>
            <p:cNvPr id="91" name="TextBox 91"/>
            <p:cNvSpPr txBox="1"/>
            <p:nvPr/>
          </p:nvSpPr>
          <p:spPr>
            <a:xfrm>
              <a:off x="0" y="-19050"/>
              <a:ext cx="6623356" cy="12803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719"/>
                </a:lnSpc>
              </a:pPr>
              <a:r>
                <a:rPr lang="en-US" sz="3099">
                  <a:solidFill>
                    <a:srgbClr val="1A2E5A"/>
                  </a:solidFill>
                  <a:latin typeface="Arial"/>
                  <a:ea typeface="Arial"/>
                  <a:cs typeface="Arial"/>
                  <a:sym typeface="Arial"/>
                </a:rPr>
                <a:t>37 FPS</a:t>
              </a:r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1984783" y="7154547"/>
            <a:ext cx="4316557" cy="1043120"/>
            <a:chOff x="0" y="0"/>
            <a:chExt cx="5755409" cy="1390827"/>
          </a:xfrm>
        </p:grpSpPr>
        <p:sp>
          <p:nvSpPr>
            <p:cNvPr id="93" name="Freeform 93"/>
            <p:cNvSpPr/>
            <p:nvPr/>
          </p:nvSpPr>
          <p:spPr>
            <a:xfrm>
              <a:off x="22602" y="26476"/>
              <a:ext cx="5710085" cy="1337735"/>
            </a:xfrm>
            <a:custGeom>
              <a:avLst/>
              <a:gdLst/>
              <a:ahLst/>
              <a:cxnLst/>
              <a:rect l="l" t="t" r="r" b="b"/>
              <a:pathLst>
                <a:path w="5710085" h="1337735">
                  <a:moveTo>
                    <a:pt x="0" y="0"/>
                  </a:moveTo>
                  <a:lnTo>
                    <a:pt x="5710086" y="0"/>
                  </a:lnTo>
                  <a:lnTo>
                    <a:pt x="5710086" y="1337735"/>
                  </a:lnTo>
                  <a:lnTo>
                    <a:pt x="0" y="133773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94" name="Freeform 94"/>
            <p:cNvSpPr/>
            <p:nvPr/>
          </p:nvSpPr>
          <p:spPr>
            <a:xfrm>
              <a:off x="0" y="0"/>
              <a:ext cx="5755290" cy="1390690"/>
            </a:xfrm>
            <a:custGeom>
              <a:avLst/>
              <a:gdLst/>
              <a:ahLst/>
              <a:cxnLst/>
              <a:rect l="l" t="t" r="r" b="b"/>
              <a:pathLst>
                <a:path w="5755290" h="1390690">
                  <a:moveTo>
                    <a:pt x="22602" y="0"/>
                  </a:moveTo>
                  <a:lnTo>
                    <a:pt x="5732688" y="0"/>
                  </a:lnTo>
                  <a:cubicBezTo>
                    <a:pt x="5745264" y="0"/>
                    <a:pt x="5755290" y="11944"/>
                    <a:pt x="5755290" y="26476"/>
                  </a:cubicBezTo>
                  <a:lnTo>
                    <a:pt x="5755290" y="1364211"/>
                  </a:lnTo>
                  <a:cubicBezTo>
                    <a:pt x="5755290" y="1378942"/>
                    <a:pt x="5745094" y="1390688"/>
                    <a:pt x="5732688" y="1390688"/>
                  </a:cubicBezTo>
                  <a:lnTo>
                    <a:pt x="22602" y="1390688"/>
                  </a:lnTo>
                  <a:cubicBezTo>
                    <a:pt x="10197" y="1390865"/>
                    <a:pt x="0" y="1378942"/>
                    <a:pt x="0" y="1364211"/>
                  </a:cubicBezTo>
                  <a:lnTo>
                    <a:pt x="0" y="26476"/>
                  </a:lnTo>
                  <a:cubicBezTo>
                    <a:pt x="0" y="11944"/>
                    <a:pt x="10197" y="0"/>
                    <a:pt x="22602" y="0"/>
                  </a:cubicBezTo>
                  <a:moveTo>
                    <a:pt x="22602" y="53151"/>
                  </a:moveTo>
                  <a:lnTo>
                    <a:pt x="22602" y="26476"/>
                  </a:lnTo>
                  <a:lnTo>
                    <a:pt x="45375" y="26476"/>
                  </a:lnTo>
                  <a:lnTo>
                    <a:pt x="45375" y="1364211"/>
                  </a:lnTo>
                  <a:lnTo>
                    <a:pt x="22602" y="1364211"/>
                  </a:lnTo>
                  <a:lnTo>
                    <a:pt x="22602" y="1337735"/>
                  </a:lnTo>
                  <a:lnTo>
                    <a:pt x="5732688" y="1337735"/>
                  </a:lnTo>
                  <a:lnTo>
                    <a:pt x="5732688" y="1364211"/>
                  </a:lnTo>
                  <a:lnTo>
                    <a:pt x="5710086" y="1364211"/>
                  </a:lnTo>
                  <a:lnTo>
                    <a:pt x="5710086" y="26476"/>
                  </a:lnTo>
                  <a:lnTo>
                    <a:pt x="5732688" y="26476"/>
                  </a:lnTo>
                  <a:lnTo>
                    <a:pt x="5732688" y="53151"/>
                  </a:lnTo>
                  <a:lnTo>
                    <a:pt x="22602" y="53151"/>
                  </a:lnTo>
                  <a:close/>
                </a:path>
              </a:pathLst>
            </a:custGeom>
            <a:solidFill>
              <a:srgbClr val="D0D8EC"/>
            </a:solidFill>
          </p:spPr>
        </p:sp>
      </p:grpSp>
      <p:grpSp>
        <p:nvGrpSpPr>
          <p:cNvPr id="95" name="Group 95"/>
          <p:cNvGrpSpPr/>
          <p:nvPr/>
        </p:nvGrpSpPr>
        <p:grpSpPr>
          <a:xfrm>
            <a:off x="2099661" y="7203114"/>
            <a:ext cx="4086790" cy="945970"/>
            <a:chOff x="0" y="0"/>
            <a:chExt cx="5449053" cy="1261293"/>
          </a:xfrm>
        </p:grpSpPr>
        <p:sp>
          <p:nvSpPr>
            <p:cNvPr id="96" name="Freeform 96"/>
            <p:cNvSpPr/>
            <p:nvPr/>
          </p:nvSpPr>
          <p:spPr>
            <a:xfrm>
              <a:off x="0" y="0"/>
              <a:ext cx="5449053" cy="1261293"/>
            </a:xfrm>
            <a:custGeom>
              <a:avLst/>
              <a:gdLst/>
              <a:ahLst/>
              <a:cxnLst/>
              <a:rect l="l" t="t" r="r" b="b"/>
              <a:pathLst>
                <a:path w="5449053" h="1261293">
                  <a:moveTo>
                    <a:pt x="0" y="0"/>
                  </a:moveTo>
                  <a:lnTo>
                    <a:pt x="5449053" y="0"/>
                  </a:lnTo>
                  <a:lnTo>
                    <a:pt x="5449053" y="1261293"/>
                  </a:lnTo>
                  <a:lnTo>
                    <a:pt x="0" y="126129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1009" r="25269" b="5193"/>
              </a:stretch>
            </a:blipFill>
          </p:spPr>
        </p:sp>
        <p:sp>
          <p:nvSpPr>
            <p:cNvPr id="97" name="TextBox 97"/>
            <p:cNvSpPr txBox="1"/>
            <p:nvPr/>
          </p:nvSpPr>
          <p:spPr>
            <a:xfrm>
              <a:off x="0" y="-19050"/>
              <a:ext cx="5449053" cy="12803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719"/>
                </a:lnSpc>
              </a:pPr>
              <a:r>
                <a:rPr lang="en-US" sz="3099">
                  <a:solidFill>
                    <a:srgbClr val="1A2E5A"/>
                  </a:solidFill>
                  <a:latin typeface="Arial"/>
                  <a:ea typeface="Arial"/>
                  <a:cs typeface="Arial"/>
                  <a:sym typeface="Arial"/>
                </a:rPr>
                <a:t>🤚 stop</a:t>
              </a:r>
            </a:p>
          </p:txBody>
        </p:sp>
      </p:grpSp>
      <p:grpSp>
        <p:nvGrpSpPr>
          <p:cNvPr id="98" name="Group 98"/>
          <p:cNvGrpSpPr/>
          <p:nvPr/>
        </p:nvGrpSpPr>
        <p:grpSpPr>
          <a:xfrm>
            <a:off x="6384946" y="7154547"/>
            <a:ext cx="5059755" cy="1043120"/>
            <a:chOff x="0" y="0"/>
            <a:chExt cx="6746340" cy="1390827"/>
          </a:xfrm>
        </p:grpSpPr>
        <p:sp>
          <p:nvSpPr>
            <p:cNvPr id="99" name="Freeform 99"/>
            <p:cNvSpPr/>
            <p:nvPr/>
          </p:nvSpPr>
          <p:spPr>
            <a:xfrm>
              <a:off x="19769" y="26476"/>
              <a:ext cx="6706698" cy="1337735"/>
            </a:xfrm>
            <a:custGeom>
              <a:avLst/>
              <a:gdLst/>
              <a:ahLst/>
              <a:cxnLst/>
              <a:rect l="l" t="t" r="r" b="b"/>
              <a:pathLst>
                <a:path w="6706698" h="1337735">
                  <a:moveTo>
                    <a:pt x="0" y="0"/>
                  </a:moveTo>
                  <a:lnTo>
                    <a:pt x="6706698" y="0"/>
                  </a:lnTo>
                  <a:lnTo>
                    <a:pt x="6706698" y="1337735"/>
                  </a:lnTo>
                  <a:lnTo>
                    <a:pt x="0" y="133773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0" name="Freeform 100"/>
            <p:cNvSpPr/>
            <p:nvPr/>
          </p:nvSpPr>
          <p:spPr>
            <a:xfrm>
              <a:off x="0" y="0"/>
              <a:ext cx="6746236" cy="1390690"/>
            </a:xfrm>
            <a:custGeom>
              <a:avLst/>
              <a:gdLst/>
              <a:ahLst/>
              <a:cxnLst/>
              <a:rect l="l" t="t" r="r" b="b"/>
              <a:pathLst>
                <a:path w="6746236" h="1390690">
                  <a:moveTo>
                    <a:pt x="19769" y="0"/>
                  </a:moveTo>
                  <a:lnTo>
                    <a:pt x="6726467" y="0"/>
                  </a:lnTo>
                  <a:cubicBezTo>
                    <a:pt x="6737466" y="0"/>
                    <a:pt x="6746236" y="11944"/>
                    <a:pt x="6746236" y="26476"/>
                  </a:cubicBezTo>
                  <a:lnTo>
                    <a:pt x="6746236" y="1364211"/>
                  </a:lnTo>
                  <a:cubicBezTo>
                    <a:pt x="6746236" y="1378942"/>
                    <a:pt x="6737318" y="1390688"/>
                    <a:pt x="6726467" y="1390688"/>
                  </a:cubicBezTo>
                  <a:lnTo>
                    <a:pt x="19769" y="1390688"/>
                  </a:lnTo>
                  <a:cubicBezTo>
                    <a:pt x="8918" y="1390865"/>
                    <a:pt x="0" y="1378942"/>
                    <a:pt x="0" y="1364211"/>
                  </a:cubicBezTo>
                  <a:lnTo>
                    <a:pt x="0" y="26476"/>
                  </a:lnTo>
                  <a:cubicBezTo>
                    <a:pt x="0" y="11944"/>
                    <a:pt x="8918" y="0"/>
                    <a:pt x="19769" y="0"/>
                  </a:cubicBezTo>
                  <a:moveTo>
                    <a:pt x="19769" y="53151"/>
                  </a:moveTo>
                  <a:lnTo>
                    <a:pt x="19769" y="26476"/>
                  </a:lnTo>
                  <a:lnTo>
                    <a:pt x="39687" y="26476"/>
                  </a:lnTo>
                  <a:lnTo>
                    <a:pt x="39687" y="1364211"/>
                  </a:lnTo>
                  <a:lnTo>
                    <a:pt x="19769" y="1364211"/>
                  </a:lnTo>
                  <a:lnTo>
                    <a:pt x="19769" y="1337735"/>
                  </a:lnTo>
                  <a:lnTo>
                    <a:pt x="6726467" y="1337735"/>
                  </a:lnTo>
                  <a:lnTo>
                    <a:pt x="6726467" y="1364211"/>
                  </a:lnTo>
                  <a:lnTo>
                    <a:pt x="6706698" y="1364211"/>
                  </a:lnTo>
                  <a:lnTo>
                    <a:pt x="6706698" y="26476"/>
                  </a:lnTo>
                  <a:lnTo>
                    <a:pt x="6726467" y="26476"/>
                  </a:lnTo>
                  <a:lnTo>
                    <a:pt x="6726467" y="53151"/>
                  </a:lnTo>
                  <a:lnTo>
                    <a:pt x="19769" y="53151"/>
                  </a:lnTo>
                  <a:close/>
                </a:path>
              </a:pathLst>
            </a:custGeom>
            <a:solidFill>
              <a:srgbClr val="D0D8EC"/>
            </a:solidFill>
          </p:spPr>
        </p:sp>
      </p:grpSp>
      <p:grpSp>
        <p:nvGrpSpPr>
          <p:cNvPr id="101" name="Group 101"/>
          <p:cNvGrpSpPr/>
          <p:nvPr/>
        </p:nvGrpSpPr>
        <p:grpSpPr>
          <a:xfrm>
            <a:off x="6485423" y="7203114"/>
            <a:ext cx="4858788" cy="945970"/>
            <a:chOff x="0" y="0"/>
            <a:chExt cx="6478384" cy="1261293"/>
          </a:xfrm>
        </p:grpSpPr>
        <p:sp>
          <p:nvSpPr>
            <p:cNvPr id="102" name="Freeform 102"/>
            <p:cNvSpPr/>
            <p:nvPr/>
          </p:nvSpPr>
          <p:spPr>
            <a:xfrm>
              <a:off x="0" y="0"/>
              <a:ext cx="6478384" cy="1261293"/>
            </a:xfrm>
            <a:custGeom>
              <a:avLst/>
              <a:gdLst/>
              <a:ahLst/>
              <a:cxnLst/>
              <a:rect l="l" t="t" r="r" b="b"/>
              <a:pathLst>
                <a:path w="6478384" h="1261293">
                  <a:moveTo>
                    <a:pt x="0" y="0"/>
                  </a:moveTo>
                  <a:lnTo>
                    <a:pt x="6478384" y="0"/>
                  </a:lnTo>
                  <a:lnTo>
                    <a:pt x="6478384" y="1261293"/>
                  </a:lnTo>
                  <a:lnTo>
                    <a:pt x="0" y="126129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3611" r="14559" b="-17408"/>
              </a:stretch>
            </a:blipFill>
          </p:spPr>
        </p:sp>
        <p:sp>
          <p:nvSpPr>
            <p:cNvPr id="103" name="TextBox 103"/>
            <p:cNvSpPr txBox="1"/>
            <p:nvPr/>
          </p:nvSpPr>
          <p:spPr>
            <a:xfrm>
              <a:off x="0" y="-19050"/>
              <a:ext cx="6478384" cy="12803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719"/>
                </a:lnSpc>
              </a:pPr>
              <a:r>
                <a:rPr lang="en-US" sz="3099">
                  <a:solidFill>
                    <a:srgbClr val="1A2E5A"/>
                  </a:solidFill>
                  <a:latin typeface="Arial"/>
                  <a:ea typeface="Arial"/>
                  <a:cs typeface="Arial"/>
                  <a:sym typeface="Arial"/>
                </a:rPr>
                <a:t>0.90</a:t>
              </a:r>
            </a:p>
          </p:txBody>
        </p:sp>
      </p:grpSp>
      <p:grpSp>
        <p:nvGrpSpPr>
          <p:cNvPr id="104" name="Group 104"/>
          <p:cNvGrpSpPr/>
          <p:nvPr/>
        </p:nvGrpSpPr>
        <p:grpSpPr>
          <a:xfrm>
            <a:off x="11539951" y="7154547"/>
            <a:ext cx="5246800" cy="1043120"/>
            <a:chOff x="0" y="0"/>
            <a:chExt cx="6995734" cy="1390827"/>
          </a:xfrm>
        </p:grpSpPr>
        <p:sp>
          <p:nvSpPr>
            <p:cNvPr id="105" name="Freeform 105"/>
            <p:cNvSpPr/>
            <p:nvPr/>
          </p:nvSpPr>
          <p:spPr>
            <a:xfrm>
              <a:off x="27473" y="26476"/>
              <a:ext cx="6940642" cy="1337735"/>
            </a:xfrm>
            <a:custGeom>
              <a:avLst/>
              <a:gdLst/>
              <a:ahLst/>
              <a:cxnLst/>
              <a:rect l="l" t="t" r="r" b="b"/>
              <a:pathLst>
                <a:path w="6940642" h="1337735">
                  <a:moveTo>
                    <a:pt x="0" y="0"/>
                  </a:moveTo>
                  <a:lnTo>
                    <a:pt x="6940642" y="0"/>
                  </a:lnTo>
                  <a:lnTo>
                    <a:pt x="6940642" y="1337735"/>
                  </a:lnTo>
                  <a:lnTo>
                    <a:pt x="0" y="133773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6" name="Freeform 106"/>
            <p:cNvSpPr/>
            <p:nvPr/>
          </p:nvSpPr>
          <p:spPr>
            <a:xfrm>
              <a:off x="0" y="0"/>
              <a:ext cx="6995589" cy="1390690"/>
            </a:xfrm>
            <a:custGeom>
              <a:avLst/>
              <a:gdLst/>
              <a:ahLst/>
              <a:cxnLst/>
              <a:rect l="l" t="t" r="r" b="b"/>
              <a:pathLst>
                <a:path w="6995589" h="1390690">
                  <a:moveTo>
                    <a:pt x="27473" y="0"/>
                  </a:moveTo>
                  <a:lnTo>
                    <a:pt x="6968115" y="0"/>
                  </a:lnTo>
                  <a:cubicBezTo>
                    <a:pt x="6983402" y="0"/>
                    <a:pt x="6995589" y="11944"/>
                    <a:pt x="6995589" y="26476"/>
                  </a:cubicBezTo>
                  <a:lnTo>
                    <a:pt x="6995589" y="1364211"/>
                  </a:lnTo>
                  <a:cubicBezTo>
                    <a:pt x="6995589" y="1378942"/>
                    <a:pt x="6983195" y="1390688"/>
                    <a:pt x="6968115" y="1390688"/>
                  </a:cubicBezTo>
                  <a:lnTo>
                    <a:pt x="27473" y="1390688"/>
                  </a:lnTo>
                  <a:cubicBezTo>
                    <a:pt x="12394" y="1390865"/>
                    <a:pt x="0" y="1378942"/>
                    <a:pt x="0" y="1364211"/>
                  </a:cubicBezTo>
                  <a:lnTo>
                    <a:pt x="0" y="26476"/>
                  </a:lnTo>
                  <a:cubicBezTo>
                    <a:pt x="0" y="11944"/>
                    <a:pt x="12394" y="0"/>
                    <a:pt x="27473" y="0"/>
                  </a:cubicBezTo>
                  <a:moveTo>
                    <a:pt x="27473" y="53151"/>
                  </a:moveTo>
                  <a:lnTo>
                    <a:pt x="27473" y="26476"/>
                  </a:lnTo>
                  <a:lnTo>
                    <a:pt x="55153" y="26476"/>
                  </a:lnTo>
                  <a:lnTo>
                    <a:pt x="55153" y="1364211"/>
                  </a:lnTo>
                  <a:lnTo>
                    <a:pt x="27473" y="1364211"/>
                  </a:lnTo>
                  <a:lnTo>
                    <a:pt x="27473" y="1337735"/>
                  </a:lnTo>
                  <a:lnTo>
                    <a:pt x="6968115" y="1337735"/>
                  </a:lnTo>
                  <a:lnTo>
                    <a:pt x="6968115" y="1364211"/>
                  </a:lnTo>
                  <a:lnTo>
                    <a:pt x="6940642" y="1364211"/>
                  </a:lnTo>
                  <a:lnTo>
                    <a:pt x="6940642" y="26476"/>
                  </a:lnTo>
                  <a:lnTo>
                    <a:pt x="6968115" y="26476"/>
                  </a:lnTo>
                  <a:lnTo>
                    <a:pt x="6968115" y="53151"/>
                  </a:lnTo>
                  <a:lnTo>
                    <a:pt x="27473" y="53151"/>
                  </a:lnTo>
                  <a:close/>
                </a:path>
              </a:pathLst>
            </a:custGeom>
            <a:solidFill>
              <a:srgbClr val="D0D8EC"/>
            </a:solidFill>
          </p:spPr>
        </p:sp>
      </p:grpSp>
      <p:grpSp>
        <p:nvGrpSpPr>
          <p:cNvPr id="107" name="Group 107"/>
          <p:cNvGrpSpPr/>
          <p:nvPr/>
        </p:nvGrpSpPr>
        <p:grpSpPr>
          <a:xfrm>
            <a:off x="11679585" y="7203114"/>
            <a:ext cx="4967517" cy="945970"/>
            <a:chOff x="0" y="0"/>
            <a:chExt cx="6623356" cy="1261293"/>
          </a:xfrm>
        </p:grpSpPr>
        <p:sp>
          <p:nvSpPr>
            <p:cNvPr id="108" name="Freeform 108"/>
            <p:cNvSpPr/>
            <p:nvPr/>
          </p:nvSpPr>
          <p:spPr>
            <a:xfrm>
              <a:off x="0" y="0"/>
              <a:ext cx="6623356" cy="1261293"/>
            </a:xfrm>
            <a:custGeom>
              <a:avLst/>
              <a:gdLst/>
              <a:ahLst/>
              <a:cxnLst/>
              <a:rect l="l" t="t" r="r" b="b"/>
              <a:pathLst>
                <a:path w="6623356" h="1261293">
                  <a:moveTo>
                    <a:pt x="0" y="0"/>
                  </a:moveTo>
                  <a:lnTo>
                    <a:pt x="6623356" y="0"/>
                  </a:lnTo>
                  <a:lnTo>
                    <a:pt x="6623356" y="1261293"/>
                  </a:lnTo>
                  <a:lnTo>
                    <a:pt x="0" y="126129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1009" r="38518" b="5193"/>
              </a:stretch>
            </a:blipFill>
          </p:spPr>
        </p:sp>
        <p:sp>
          <p:nvSpPr>
            <p:cNvPr id="109" name="TextBox 109"/>
            <p:cNvSpPr txBox="1"/>
            <p:nvPr/>
          </p:nvSpPr>
          <p:spPr>
            <a:xfrm>
              <a:off x="0" y="-19050"/>
              <a:ext cx="6623356" cy="12803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719"/>
                </a:lnSpc>
              </a:pPr>
              <a:r>
                <a:rPr lang="en-US" sz="3099">
                  <a:solidFill>
                    <a:srgbClr val="1A2E5A"/>
                  </a:solidFill>
                  <a:latin typeface="Arial"/>
                  <a:ea typeface="Arial"/>
                  <a:cs typeface="Arial"/>
                  <a:sym typeface="Arial"/>
                </a:rPr>
                <a:t>52 FPS</a:t>
              </a:r>
            </a:p>
          </p:txBody>
        </p:sp>
      </p:grpSp>
      <p:grpSp>
        <p:nvGrpSpPr>
          <p:cNvPr id="110" name="Group 110"/>
          <p:cNvGrpSpPr/>
          <p:nvPr/>
        </p:nvGrpSpPr>
        <p:grpSpPr>
          <a:xfrm>
            <a:off x="1984783" y="8215180"/>
            <a:ext cx="4316557" cy="1043120"/>
            <a:chOff x="0" y="0"/>
            <a:chExt cx="5755409" cy="1390827"/>
          </a:xfrm>
        </p:grpSpPr>
        <p:sp>
          <p:nvSpPr>
            <p:cNvPr id="111" name="Freeform 111"/>
            <p:cNvSpPr/>
            <p:nvPr/>
          </p:nvSpPr>
          <p:spPr>
            <a:xfrm>
              <a:off x="22602" y="26476"/>
              <a:ext cx="5710085" cy="1337735"/>
            </a:xfrm>
            <a:custGeom>
              <a:avLst/>
              <a:gdLst/>
              <a:ahLst/>
              <a:cxnLst/>
              <a:rect l="l" t="t" r="r" b="b"/>
              <a:pathLst>
                <a:path w="5710085" h="1337735">
                  <a:moveTo>
                    <a:pt x="0" y="0"/>
                  </a:moveTo>
                  <a:lnTo>
                    <a:pt x="5710086" y="0"/>
                  </a:lnTo>
                  <a:lnTo>
                    <a:pt x="5710086" y="1337735"/>
                  </a:lnTo>
                  <a:lnTo>
                    <a:pt x="0" y="1337735"/>
                  </a:lnTo>
                  <a:close/>
                </a:path>
              </a:pathLst>
            </a:custGeom>
            <a:solidFill>
              <a:srgbClr val="E8EEF8"/>
            </a:solidFill>
          </p:spPr>
        </p:sp>
        <p:sp>
          <p:nvSpPr>
            <p:cNvPr id="112" name="Freeform 112"/>
            <p:cNvSpPr/>
            <p:nvPr/>
          </p:nvSpPr>
          <p:spPr>
            <a:xfrm>
              <a:off x="0" y="0"/>
              <a:ext cx="5755290" cy="1390690"/>
            </a:xfrm>
            <a:custGeom>
              <a:avLst/>
              <a:gdLst/>
              <a:ahLst/>
              <a:cxnLst/>
              <a:rect l="l" t="t" r="r" b="b"/>
              <a:pathLst>
                <a:path w="5755290" h="1390690">
                  <a:moveTo>
                    <a:pt x="22602" y="0"/>
                  </a:moveTo>
                  <a:lnTo>
                    <a:pt x="5732688" y="0"/>
                  </a:lnTo>
                  <a:cubicBezTo>
                    <a:pt x="5745264" y="0"/>
                    <a:pt x="5755290" y="11944"/>
                    <a:pt x="5755290" y="26476"/>
                  </a:cubicBezTo>
                  <a:lnTo>
                    <a:pt x="5755290" y="1364211"/>
                  </a:lnTo>
                  <a:cubicBezTo>
                    <a:pt x="5755290" y="1378942"/>
                    <a:pt x="5745094" y="1390688"/>
                    <a:pt x="5732688" y="1390688"/>
                  </a:cubicBezTo>
                  <a:lnTo>
                    <a:pt x="22602" y="1390688"/>
                  </a:lnTo>
                  <a:cubicBezTo>
                    <a:pt x="10197" y="1390865"/>
                    <a:pt x="0" y="1378942"/>
                    <a:pt x="0" y="1364211"/>
                  </a:cubicBezTo>
                  <a:lnTo>
                    <a:pt x="0" y="26476"/>
                  </a:lnTo>
                  <a:cubicBezTo>
                    <a:pt x="0" y="11944"/>
                    <a:pt x="10197" y="0"/>
                    <a:pt x="22602" y="0"/>
                  </a:cubicBezTo>
                  <a:moveTo>
                    <a:pt x="22602" y="53151"/>
                  </a:moveTo>
                  <a:lnTo>
                    <a:pt x="22602" y="26476"/>
                  </a:lnTo>
                  <a:lnTo>
                    <a:pt x="45375" y="26476"/>
                  </a:lnTo>
                  <a:lnTo>
                    <a:pt x="45375" y="1364211"/>
                  </a:lnTo>
                  <a:lnTo>
                    <a:pt x="22602" y="1364211"/>
                  </a:lnTo>
                  <a:lnTo>
                    <a:pt x="22602" y="1337735"/>
                  </a:lnTo>
                  <a:lnTo>
                    <a:pt x="5732688" y="1337735"/>
                  </a:lnTo>
                  <a:lnTo>
                    <a:pt x="5732688" y="1364211"/>
                  </a:lnTo>
                  <a:lnTo>
                    <a:pt x="5710086" y="1364211"/>
                  </a:lnTo>
                  <a:lnTo>
                    <a:pt x="5710086" y="26476"/>
                  </a:lnTo>
                  <a:lnTo>
                    <a:pt x="5732688" y="26476"/>
                  </a:lnTo>
                  <a:lnTo>
                    <a:pt x="5732688" y="53151"/>
                  </a:lnTo>
                  <a:lnTo>
                    <a:pt x="22602" y="53151"/>
                  </a:lnTo>
                  <a:close/>
                </a:path>
              </a:pathLst>
            </a:custGeom>
            <a:solidFill>
              <a:srgbClr val="D0D8EC"/>
            </a:solidFill>
          </p:spPr>
        </p:sp>
      </p:grpSp>
      <p:grpSp>
        <p:nvGrpSpPr>
          <p:cNvPr id="113" name="Group 113"/>
          <p:cNvGrpSpPr/>
          <p:nvPr/>
        </p:nvGrpSpPr>
        <p:grpSpPr>
          <a:xfrm>
            <a:off x="2099661" y="8263747"/>
            <a:ext cx="4086790" cy="945970"/>
            <a:chOff x="0" y="0"/>
            <a:chExt cx="5449053" cy="1261293"/>
          </a:xfrm>
        </p:grpSpPr>
        <p:sp>
          <p:nvSpPr>
            <p:cNvPr id="114" name="Freeform 114"/>
            <p:cNvSpPr/>
            <p:nvPr/>
          </p:nvSpPr>
          <p:spPr>
            <a:xfrm>
              <a:off x="0" y="0"/>
              <a:ext cx="5449053" cy="1261293"/>
            </a:xfrm>
            <a:custGeom>
              <a:avLst/>
              <a:gdLst/>
              <a:ahLst/>
              <a:cxnLst/>
              <a:rect l="l" t="t" r="r" b="b"/>
              <a:pathLst>
                <a:path w="5449053" h="1261293">
                  <a:moveTo>
                    <a:pt x="0" y="0"/>
                  </a:moveTo>
                  <a:lnTo>
                    <a:pt x="5449053" y="0"/>
                  </a:lnTo>
                  <a:lnTo>
                    <a:pt x="5449053" y="1261293"/>
                  </a:lnTo>
                  <a:lnTo>
                    <a:pt x="0" y="126129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1009" r="25269" b="5193"/>
              </a:stretch>
            </a:blipFill>
          </p:spPr>
        </p:sp>
        <p:sp>
          <p:nvSpPr>
            <p:cNvPr id="115" name="TextBox 115"/>
            <p:cNvSpPr txBox="1"/>
            <p:nvPr/>
          </p:nvSpPr>
          <p:spPr>
            <a:xfrm>
              <a:off x="0" y="-19050"/>
              <a:ext cx="5449053" cy="12803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719"/>
                </a:lnSpc>
              </a:pPr>
              <a:r>
                <a:rPr lang="en-US" sz="3099">
                  <a:solidFill>
                    <a:srgbClr val="1A2E5A"/>
                  </a:solidFill>
                  <a:latin typeface="Arial"/>
                  <a:ea typeface="Arial"/>
                  <a:cs typeface="Arial"/>
                  <a:sym typeface="Arial"/>
                </a:rPr>
                <a:t>👍 like</a:t>
              </a:r>
            </a:p>
          </p:txBody>
        </p:sp>
      </p:grpSp>
      <p:grpSp>
        <p:nvGrpSpPr>
          <p:cNvPr id="116" name="Group 116"/>
          <p:cNvGrpSpPr/>
          <p:nvPr/>
        </p:nvGrpSpPr>
        <p:grpSpPr>
          <a:xfrm>
            <a:off x="6384946" y="8215180"/>
            <a:ext cx="5059755" cy="1043120"/>
            <a:chOff x="0" y="0"/>
            <a:chExt cx="6746340" cy="1390827"/>
          </a:xfrm>
        </p:grpSpPr>
        <p:sp>
          <p:nvSpPr>
            <p:cNvPr id="117" name="Freeform 117"/>
            <p:cNvSpPr/>
            <p:nvPr/>
          </p:nvSpPr>
          <p:spPr>
            <a:xfrm>
              <a:off x="19769" y="26476"/>
              <a:ext cx="6706698" cy="1337735"/>
            </a:xfrm>
            <a:custGeom>
              <a:avLst/>
              <a:gdLst/>
              <a:ahLst/>
              <a:cxnLst/>
              <a:rect l="l" t="t" r="r" b="b"/>
              <a:pathLst>
                <a:path w="6706698" h="1337735">
                  <a:moveTo>
                    <a:pt x="0" y="0"/>
                  </a:moveTo>
                  <a:lnTo>
                    <a:pt x="6706698" y="0"/>
                  </a:lnTo>
                  <a:lnTo>
                    <a:pt x="6706698" y="1337735"/>
                  </a:lnTo>
                  <a:lnTo>
                    <a:pt x="0" y="1337735"/>
                  </a:lnTo>
                  <a:close/>
                </a:path>
              </a:pathLst>
            </a:custGeom>
            <a:solidFill>
              <a:srgbClr val="E8EEF8"/>
            </a:solidFill>
          </p:spPr>
        </p:sp>
        <p:sp>
          <p:nvSpPr>
            <p:cNvPr id="118" name="Freeform 118"/>
            <p:cNvSpPr/>
            <p:nvPr/>
          </p:nvSpPr>
          <p:spPr>
            <a:xfrm>
              <a:off x="0" y="0"/>
              <a:ext cx="6746236" cy="1390690"/>
            </a:xfrm>
            <a:custGeom>
              <a:avLst/>
              <a:gdLst/>
              <a:ahLst/>
              <a:cxnLst/>
              <a:rect l="l" t="t" r="r" b="b"/>
              <a:pathLst>
                <a:path w="6746236" h="1390690">
                  <a:moveTo>
                    <a:pt x="19769" y="0"/>
                  </a:moveTo>
                  <a:lnTo>
                    <a:pt x="6726467" y="0"/>
                  </a:lnTo>
                  <a:cubicBezTo>
                    <a:pt x="6737466" y="0"/>
                    <a:pt x="6746236" y="11944"/>
                    <a:pt x="6746236" y="26476"/>
                  </a:cubicBezTo>
                  <a:lnTo>
                    <a:pt x="6746236" y="1364211"/>
                  </a:lnTo>
                  <a:cubicBezTo>
                    <a:pt x="6746236" y="1378942"/>
                    <a:pt x="6737318" y="1390688"/>
                    <a:pt x="6726467" y="1390688"/>
                  </a:cubicBezTo>
                  <a:lnTo>
                    <a:pt x="19769" y="1390688"/>
                  </a:lnTo>
                  <a:cubicBezTo>
                    <a:pt x="8918" y="1390865"/>
                    <a:pt x="0" y="1378942"/>
                    <a:pt x="0" y="1364211"/>
                  </a:cubicBezTo>
                  <a:lnTo>
                    <a:pt x="0" y="26476"/>
                  </a:lnTo>
                  <a:cubicBezTo>
                    <a:pt x="0" y="11944"/>
                    <a:pt x="8918" y="0"/>
                    <a:pt x="19769" y="0"/>
                  </a:cubicBezTo>
                  <a:moveTo>
                    <a:pt x="19769" y="53151"/>
                  </a:moveTo>
                  <a:lnTo>
                    <a:pt x="19769" y="26476"/>
                  </a:lnTo>
                  <a:lnTo>
                    <a:pt x="39687" y="26476"/>
                  </a:lnTo>
                  <a:lnTo>
                    <a:pt x="39687" y="1364211"/>
                  </a:lnTo>
                  <a:lnTo>
                    <a:pt x="19769" y="1364211"/>
                  </a:lnTo>
                  <a:lnTo>
                    <a:pt x="19769" y="1337735"/>
                  </a:lnTo>
                  <a:lnTo>
                    <a:pt x="6726467" y="1337735"/>
                  </a:lnTo>
                  <a:lnTo>
                    <a:pt x="6726467" y="1364211"/>
                  </a:lnTo>
                  <a:lnTo>
                    <a:pt x="6706698" y="1364211"/>
                  </a:lnTo>
                  <a:lnTo>
                    <a:pt x="6706698" y="26476"/>
                  </a:lnTo>
                  <a:lnTo>
                    <a:pt x="6726467" y="26476"/>
                  </a:lnTo>
                  <a:lnTo>
                    <a:pt x="6726467" y="53151"/>
                  </a:lnTo>
                  <a:lnTo>
                    <a:pt x="19769" y="53151"/>
                  </a:lnTo>
                  <a:close/>
                </a:path>
              </a:pathLst>
            </a:custGeom>
            <a:solidFill>
              <a:srgbClr val="D0D8EC"/>
            </a:solidFill>
          </p:spPr>
        </p:sp>
      </p:grpSp>
      <p:grpSp>
        <p:nvGrpSpPr>
          <p:cNvPr id="119" name="Group 119"/>
          <p:cNvGrpSpPr/>
          <p:nvPr/>
        </p:nvGrpSpPr>
        <p:grpSpPr>
          <a:xfrm>
            <a:off x="6485423" y="8263747"/>
            <a:ext cx="4858788" cy="945970"/>
            <a:chOff x="0" y="0"/>
            <a:chExt cx="6478384" cy="1261293"/>
          </a:xfrm>
        </p:grpSpPr>
        <p:sp>
          <p:nvSpPr>
            <p:cNvPr id="120" name="Freeform 120"/>
            <p:cNvSpPr/>
            <p:nvPr/>
          </p:nvSpPr>
          <p:spPr>
            <a:xfrm>
              <a:off x="0" y="0"/>
              <a:ext cx="6478384" cy="1261293"/>
            </a:xfrm>
            <a:custGeom>
              <a:avLst/>
              <a:gdLst/>
              <a:ahLst/>
              <a:cxnLst/>
              <a:rect l="l" t="t" r="r" b="b"/>
              <a:pathLst>
                <a:path w="6478384" h="1261293">
                  <a:moveTo>
                    <a:pt x="0" y="0"/>
                  </a:moveTo>
                  <a:lnTo>
                    <a:pt x="6478384" y="0"/>
                  </a:lnTo>
                  <a:lnTo>
                    <a:pt x="6478384" y="1261293"/>
                  </a:lnTo>
                  <a:lnTo>
                    <a:pt x="0" y="126129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3611" r="14559" b="-17408"/>
              </a:stretch>
            </a:blipFill>
          </p:spPr>
        </p:sp>
        <p:sp>
          <p:nvSpPr>
            <p:cNvPr id="121" name="TextBox 121"/>
            <p:cNvSpPr txBox="1"/>
            <p:nvPr/>
          </p:nvSpPr>
          <p:spPr>
            <a:xfrm>
              <a:off x="0" y="-19050"/>
              <a:ext cx="6478384" cy="12803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719"/>
                </a:lnSpc>
              </a:pPr>
              <a:r>
                <a:rPr lang="en-US" sz="3099">
                  <a:solidFill>
                    <a:srgbClr val="1A2E5A"/>
                  </a:solidFill>
                  <a:latin typeface="Arial"/>
                  <a:ea typeface="Arial"/>
                  <a:cs typeface="Arial"/>
                  <a:sym typeface="Arial"/>
                </a:rPr>
                <a:t>0.86</a:t>
              </a:r>
            </a:p>
          </p:txBody>
        </p:sp>
      </p:grpSp>
      <p:grpSp>
        <p:nvGrpSpPr>
          <p:cNvPr id="122" name="Group 122"/>
          <p:cNvGrpSpPr/>
          <p:nvPr/>
        </p:nvGrpSpPr>
        <p:grpSpPr>
          <a:xfrm>
            <a:off x="11539951" y="8215180"/>
            <a:ext cx="5246800" cy="1043120"/>
            <a:chOff x="0" y="0"/>
            <a:chExt cx="6995734" cy="1390827"/>
          </a:xfrm>
        </p:grpSpPr>
        <p:sp>
          <p:nvSpPr>
            <p:cNvPr id="123" name="Freeform 123"/>
            <p:cNvSpPr/>
            <p:nvPr/>
          </p:nvSpPr>
          <p:spPr>
            <a:xfrm>
              <a:off x="27473" y="26476"/>
              <a:ext cx="6940642" cy="1337735"/>
            </a:xfrm>
            <a:custGeom>
              <a:avLst/>
              <a:gdLst/>
              <a:ahLst/>
              <a:cxnLst/>
              <a:rect l="l" t="t" r="r" b="b"/>
              <a:pathLst>
                <a:path w="6940642" h="1337735">
                  <a:moveTo>
                    <a:pt x="0" y="0"/>
                  </a:moveTo>
                  <a:lnTo>
                    <a:pt x="6940642" y="0"/>
                  </a:lnTo>
                  <a:lnTo>
                    <a:pt x="6940642" y="1337735"/>
                  </a:lnTo>
                  <a:lnTo>
                    <a:pt x="0" y="1337735"/>
                  </a:lnTo>
                  <a:close/>
                </a:path>
              </a:pathLst>
            </a:custGeom>
            <a:solidFill>
              <a:srgbClr val="E8EEF8"/>
            </a:solidFill>
          </p:spPr>
        </p:sp>
        <p:sp>
          <p:nvSpPr>
            <p:cNvPr id="124" name="Freeform 124"/>
            <p:cNvSpPr/>
            <p:nvPr/>
          </p:nvSpPr>
          <p:spPr>
            <a:xfrm>
              <a:off x="0" y="0"/>
              <a:ext cx="6995589" cy="1390690"/>
            </a:xfrm>
            <a:custGeom>
              <a:avLst/>
              <a:gdLst/>
              <a:ahLst/>
              <a:cxnLst/>
              <a:rect l="l" t="t" r="r" b="b"/>
              <a:pathLst>
                <a:path w="6995589" h="1390690">
                  <a:moveTo>
                    <a:pt x="27473" y="0"/>
                  </a:moveTo>
                  <a:lnTo>
                    <a:pt x="6968115" y="0"/>
                  </a:lnTo>
                  <a:cubicBezTo>
                    <a:pt x="6983402" y="0"/>
                    <a:pt x="6995589" y="11944"/>
                    <a:pt x="6995589" y="26476"/>
                  </a:cubicBezTo>
                  <a:lnTo>
                    <a:pt x="6995589" y="1364211"/>
                  </a:lnTo>
                  <a:cubicBezTo>
                    <a:pt x="6995589" y="1378942"/>
                    <a:pt x="6983195" y="1390688"/>
                    <a:pt x="6968115" y="1390688"/>
                  </a:cubicBezTo>
                  <a:lnTo>
                    <a:pt x="27473" y="1390688"/>
                  </a:lnTo>
                  <a:cubicBezTo>
                    <a:pt x="12394" y="1390865"/>
                    <a:pt x="0" y="1378942"/>
                    <a:pt x="0" y="1364211"/>
                  </a:cubicBezTo>
                  <a:lnTo>
                    <a:pt x="0" y="26476"/>
                  </a:lnTo>
                  <a:cubicBezTo>
                    <a:pt x="0" y="11944"/>
                    <a:pt x="12394" y="0"/>
                    <a:pt x="27473" y="0"/>
                  </a:cubicBezTo>
                  <a:moveTo>
                    <a:pt x="27473" y="53151"/>
                  </a:moveTo>
                  <a:lnTo>
                    <a:pt x="27473" y="26476"/>
                  </a:lnTo>
                  <a:lnTo>
                    <a:pt x="55153" y="26476"/>
                  </a:lnTo>
                  <a:lnTo>
                    <a:pt x="55153" y="1364211"/>
                  </a:lnTo>
                  <a:lnTo>
                    <a:pt x="27473" y="1364211"/>
                  </a:lnTo>
                  <a:lnTo>
                    <a:pt x="27473" y="1337735"/>
                  </a:lnTo>
                  <a:lnTo>
                    <a:pt x="6968115" y="1337735"/>
                  </a:lnTo>
                  <a:lnTo>
                    <a:pt x="6968115" y="1364211"/>
                  </a:lnTo>
                  <a:lnTo>
                    <a:pt x="6940642" y="1364211"/>
                  </a:lnTo>
                  <a:lnTo>
                    <a:pt x="6940642" y="26476"/>
                  </a:lnTo>
                  <a:lnTo>
                    <a:pt x="6968115" y="26476"/>
                  </a:lnTo>
                  <a:lnTo>
                    <a:pt x="6968115" y="53151"/>
                  </a:lnTo>
                  <a:lnTo>
                    <a:pt x="27473" y="53151"/>
                  </a:lnTo>
                  <a:close/>
                </a:path>
              </a:pathLst>
            </a:custGeom>
            <a:solidFill>
              <a:srgbClr val="D0D8EC"/>
            </a:solidFill>
          </p:spPr>
        </p:sp>
      </p:grpSp>
      <p:grpSp>
        <p:nvGrpSpPr>
          <p:cNvPr id="125" name="Group 125"/>
          <p:cNvGrpSpPr/>
          <p:nvPr/>
        </p:nvGrpSpPr>
        <p:grpSpPr>
          <a:xfrm>
            <a:off x="11679585" y="8263747"/>
            <a:ext cx="4967517" cy="945970"/>
            <a:chOff x="0" y="0"/>
            <a:chExt cx="6623356" cy="1261293"/>
          </a:xfrm>
        </p:grpSpPr>
        <p:sp>
          <p:nvSpPr>
            <p:cNvPr id="126" name="Freeform 126"/>
            <p:cNvSpPr/>
            <p:nvPr/>
          </p:nvSpPr>
          <p:spPr>
            <a:xfrm>
              <a:off x="0" y="0"/>
              <a:ext cx="6623356" cy="1261293"/>
            </a:xfrm>
            <a:custGeom>
              <a:avLst/>
              <a:gdLst/>
              <a:ahLst/>
              <a:cxnLst/>
              <a:rect l="l" t="t" r="r" b="b"/>
              <a:pathLst>
                <a:path w="6623356" h="1261293">
                  <a:moveTo>
                    <a:pt x="0" y="0"/>
                  </a:moveTo>
                  <a:lnTo>
                    <a:pt x="6623356" y="0"/>
                  </a:lnTo>
                  <a:lnTo>
                    <a:pt x="6623356" y="1261293"/>
                  </a:lnTo>
                  <a:lnTo>
                    <a:pt x="0" y="126129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1009" r="38518" b="5193"/>
              </a:stretch>
            </a:blipFill>
          </p:spPr>
        </p:sp>
        <p:sp>
          <p:nvSpPr>
            <p:cNvPr id="127" name="TextBox 127"/>
            <p:cNvSpPr txBox="1"/>
            <p:nvPr/>
          </p:nvSpPr>
          <p:spPr>
            <a:xfrm>
              <a:off x="0" y="-19050"/>
              <a:ext cx="6623356" cy="12803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719"/>
                </a:lnSpc>
              </a:pPr>
              <a:r>
                <a:rPr lang="en-US" sz="3099">
                  <a:solidFill>
                    <a:srgbClr val="1A2E5A"/>
                  </a:solidFill>
                  <a:latin typeface="Arial"/>
                  <a:ea typeface="Arial"/>
                  <a:cs typeface="Arial"/>
                  <a:sym typeface="Arial"/>
                </a:rPr>
                <a:t>32 FPS</a:t>
              </a:r>
            </a:p>
          </p:txBody>
        </p:sp>
      </p:grpSp>
      <p:sp>
        <p:nvSpPr>
          <p:cNvPr id="128" name="TextBox 128"/>
          <p:cNvSpPr txBox="1"/>
          <p:nvPr/>
        </p:nvSpPr>
        <p:spPr>
          <a:xfrm>
            <a:off x="5645470" y="729615"/>
            <a:ext cx="6717932" cy="664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800"/>
              </a:lnSpc>
              <a:spcBef>
                <a:spcPct val="0"/>
              </a:spcBef>
            </a:pPr>
            <a:r>
              <a:rPr lang="en-US" sz="4800" b="1">
                <a:solidFill>
                  <a:srgbClr val="0C0E0B"/>
                </a:solidFill>
                <a:latin typeface="Arial Bold"/>
                <a:ea typeface="Arial Bold"/>
                <a:cs typeface="Arial Bold"/>
                <a:sym typeface="Arial Bold"/>
              </a:rPr>
              <a:t>Kết quả demo thực tế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678340" y="2666753"/>
            <a:ext cx="14199841" cy="6007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830"/>
              </a:lnSpc>
            </a:pPr>
            <a:r>
              <a:rPr lang="en-US" sz="3299" b="1" spc="135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KẾT QUẢ ĐẠT ĐƯỢC</a:t>
            </a:r>
          </a:p>
          <a:p>
            <a:pPr marL="712464" lvl="1" indent="-356232" algn="just">
              <a:lnSpc>
                <a:spcPts val="6830"/>
              </a:lnSpc>
              <a:buFont typeface="Arial"/>
              <a:buChar char="•"/>
            </a:pPr>
            <a:r>
              <a:rPr lang="en-US" sz="3299" spc="13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Gán nhãn 6.000 ảnh chuẩn YOLO từ HaGRID (6 lớp cử chỉ tay)</a:t>
            </a:r>
          </a:p>
          <a:p>
            <a:pPr marL="712464" lvl="1" indent="-356232" algn="just">
              <a:lnSpc>
                <a:spcPts val="6830"/>
              </a:lnSpc>
              <a:buFont typeface="Arial"/>
              <a:buChar char="•"/>
            </a:pPr>
            <a:r>
              <a:rPr lang="en-US" sz="3299" spc="13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Huấn luyện YOLOv12m đạt độ chính xác mAP@50 = 0.995, mAP@50-95 = 0.840 sau hai giai đoạn tinh chỉnh</a:t>
            </a:r>
          </a:p>
          <a:p>
            <a:pPr marL="712464" lvl="1" indent="-356232" algn="just">
              <a:lnSpc>
                <a:spcPts val="6830"/>
              </a:lnSpc>
              <a:buFont typeface="Arial"/>
              <a:buChar char="•"/>
            </a:pPr>
            <a:r>
              <a:rPr lang="en-US" sz="3299" spc="13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Ứng dụng chạy thực tế 38–51 FPS trên CPU, độ trễ &lt; 50ms</a:t>
            </a:r>
          </a:p>
          <a:p>
            <a:pPr marL="712464" lvl="1" indent="-356232" algn="just">
              <a:lnSpc>
                <a:spcPts val="6830"/>
              </a:lnSpc>
              <a:buFont typeface="Arial"/>
              <a:buChar char="•"/>
            </a:pPr>
            <a:r>
              <a:rPr lang="en-US" sz="3299" spc="13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Điều khiển 8 hành động trong Unity 3D qua cử chỉ tay</a:t>
            </a:r>
          </a:p>
          <a:p>
            <a:pPr marL="712464" lvl="1" indent="-356232" algn="just">
              <a:lnSpc>
                <a:spcPts val="6830"/>
              </a:lnSpc>
              <a:buFont typeface="Arial"/>
              <a:buChar char="•"/>
            </a:pPr>
            <a:r>
              <a:rPr lang="en-US" sz="3299" spc="13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Hệ thống hoạt động ổn định trong nhiều điều kiện môi trường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6879500" y="822680"/>
            <a:ext cx="4164109" cy="1233210"/>
            <a:chOff x="0" y="0"/>
            <a:chExt cx="1310323" cy="38805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10323" cy="388055"/>
            </a:xfrm>
            <a:custGeom>
              <a:avLst/>
              <a:gdLst/>
              <a:ahLst/>
              <a:cxnLst/>
              <a:rect l="l" t="t" r="r" b="b"/>
              <a:pathLst>
                <a:path w="1310323" h="388055">
                  <a:moveTo>
                    <a:pt x="27888" y="0"/>
                  </a:moveTo>
                  <a:lnTo>
                    <a:pt x="1282435" y="0"/>
                  </a:lnTo>
                  <a:cubicBezTo>
                    <a:pt x="1297837" y="0"/>
                    <a:pt x="1310323" y="12486"/>
                    <a:pt x="1310323" y="27888"/>
                  </a:cubicBezTo>
                  <a:lnTo>
                    <a:pt x="1310323" y="360167"/>
                  </a:lnTo>
                  <a:cubicBezTo>
                    <a:pt x="1310323" y="367563"/>
                    <a:pt x="1307385" y="374657"/>
                    <a:pt x="1302155" y="379887"/>
                  </a:cubicBezTo>
                  <a:cubicBezTo>
                    <a:pt x="1296925" y="385117"/>
                    <a:pt x="1289831" y="388055"/>
                    <a:pt x="1282435" y="388055"/>
                  </a:cubicBezTo>
                  <a:lnTo>
                    <a:pt x="27888" y="388055"/>
                  </a:lnTo>
                  <a:cubicBezTo>
                    <a:pt x="20492" y="388055"/>
                    <a:pt x="13398" y="385117"/>
                    <a:pt x="8168" y="379887"/>
                  </a:cubicBezTo>
                  <a:cubicBezTo>
                    <a:pt x="2938" y="374657"/>
                    <a:pt x="0" y="367563"/>
                    <a:pt x="0" y="360167"/>
                  </a:cubicBezTo>
                  <a:lnTo>
                    <a:pt x="0" y="27888"/>
                  </a:lnTo>
                  <a:cubicBezTo>
                    <a:pt x="0" y="20492"/>
                    <a:pt x="2938" y="13398"/>
                    <a:pt x="8168" y="8168"/>
                  </a:cubicBezTo>
                  <a:cubicBezTo>
                    <a:pt x="13398" y="2938"/>
                    <a:pt x="20492" y="0"/>
                    <a:pt x="27888" y="0"/>
                  </a:cubicBezTo>
                  <a:close/>
                </a:path>
              </a:pathLst>
            </a:custGeom>
            <a:solidFill>
              <a:srgbClr val="FACB5F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310323" cy="4356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417852" y="962083"/>
            <a:ext cx="5353312" cy="840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20"/>
              </a:lnSpc>
            </a:pPr>
            <a:r>
              <a:rPr lang="en-US" sz="48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KẾT LUẬN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00597" y="1028700"/>
            <a:ext cx="15094671" cy="8652138"/>
            <a:chOff x="0" y="0"/>
            <a:chExt cx="3975551" cy="227875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975551" cy="2278752"/>
            </a:xfrm>
            <a:custGeom>
              <a:avLst/>
              <a:gdLst/>
              <a:ahLst/>
              <a:cxnLst/>
              <a:rect l="l" t="t" r="r" b="b"/>
              <a:pathLst>
                <a:path w="3975551" h="2278752">
                  <a:moveTo>
                    <a:pt x="0" y="0"/>
                  </a:moveTo>
                  <a:lnTo>
                    <a:pt x="3975551" y="0"/>
                  </a:lnTo>
                  <a:lnTo>
                    <a:pt x="3975551" y="2278752"/>
                  </a:lnTo>
                  <a:lnTo>
                    <a:pt x="0" y="2278752"/>
                  </a:lnTo>
                  <a:close/>
                </a:path>
              </a:pathLst>
            </a:custGeom>
            <a:solidFill>
              <a:srgbClr val="FFFBE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975551" cy="23263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094535" y="1689027"/>
            <a:ext cx="12907837" cy="3867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203"/>
              </a:lnSpc>
            </a:pPr>
            <a:r>
              <a:rPr lang="en-US" sz="3299" b="1" spc="138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Hạn chế</a:t>
            </a:r>
          </a:p>
          <a:p>
            <a:pPr marL="712464" lvl="1" indent="-356232" algn="just">
              <a:lnSpc>
                <a:spcPts val="6203"/>
              </a:lnSpc>
              <a:buFont typeface="Arial"/>
              <a:buChar char="•"/>
            </a:pPr>
            <a:r>
              <a:rPr lang="en-US" sz="3299" spc="13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Chỉ nhận diện cử chỉ tĩnh, chưa có cử chỉ động</a:t>
            </a:r>
          </a:p>
          <a:p>
            <a:pPr marL="712464" lvl="1" indent="-356232" algn="just">
              <a:lnSpc>
                <a:spcPts val="6203"/>
              </a:lnSpc>
              <a:buFont typeface="Arial"/>
              <a:buChar char="•"/>
            </a:pPr>
            <a:r>
              <a:rPr lang="en-US" sz="3299" spc="13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Quy mô giới hạn: 6.000 ảnh ≈ 1% tổng dữ liệu HaGRID gốc</a:t>
            </a:r>
          </a:p>
          <a:p>
            <a:pPr marL="712464" lvl="1" indent="-356232" algn="just">
              <a:lnSpc>
                <a:spcPts val="6203"/>
              </a:lnSpc>
              <a:buFont typeface="Arial"/>
              <a:buChar char="•"/>
            </a:pPr>
            <a:r>
              <a:rPr lang="en-US" sz="3299" spc="13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Chưa xử lý đồng thời 2 tay trong khung</a:t>
            </a:r>
          </a:p>
          <a:p>
            <a:pPr marL="712464" lvl="1" indent="-356232" algn="just">
              <a:lnSpc>
                <a:spcPts val="6203"/>
              </a:lnSpc>
              <a:buFont typeface="Arial"/>
              <a:buChar char="•"/>
            </a:pPr>
            <a:r>
              <a:rPr lang="en-US" sz="3299" spc="13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Chỉ 6 lớp cử chỉ / 18 lớp HaGRID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094535" y="5872481"/>
            <a:ext cx="12907837" cy="3086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203"/>
              </a:lnSpc>
            </a:pPr>
            <a:r>
              <a:rPr lang="en-US" sz="3299" b="1" spc="138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Hướng phát triển</a:t>
            </a:r>
          </a:p>
          <a:p>
            <a:pPr marL="712464" lvl="1" indent="-356232" algn="just">
              <a:lnSpc>
                <a:spcPts val="6203"/>
              </a:lnSpc>
              <a:buFont typeface="Arial"/>
              <a:buChar char="•"/>
            </a:pPr>
            <a:r>
              <a:rPr lang="en-US" sz="3299" b="1" spc="138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Mở rộng quy mô cho toàn bộ 18 lớp cử chỉ tay</a:t>
            </a:r>
          </a:p>
          <a:p>
            <a:pPr marL="712464" lvl="1" indent="-356232" algn="just">
              <a:lnSpc>
                <a:spcPts val="6203"/>
              </a:lnSpc>
              <a:buFont typeface="Arial"/>
              <a:buChar char="•"/>
            </a:pPr>
            <a:r>
              <a:rPr lang="en-US" sz="3299" spc="13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Phát triển module nhận diện cử chỉ tay động</a:t>
            </a:r>
          </a:p>
          <a:p>
            <a:pPr marL="712464" lvl="1" indent="-356232" algn="just">
              <a:lnSpc>
                <a:spcPts val="6203"/>
              </a:lnSpc>
              <a:buFont typeface="Arial"/>
              <a:buChar char="•"/>
            </a:pPr>
            <a:r>
              <a:rPr lang="en-US" sz="3299" spc="13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Tích hợp xử lý đa tay, kích hoạt các lệnh phức tạp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181866" y="1564129"/>
            <a:ext cx="14414380" cy="2627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80"/>
              </a:lnSpc>
            </a:pPr>
            <a:r>
              <a:rPr lang="en-US" sz="15414" b="1" spc="400">
                <a:solidFill>
                  <a:srgbClr val="0A2073"/>
                </a:solidFill>
                <a:latin typeface="Montaser Arabic Heavy"/>
                <a:ea typeface="Montaser Arabic Heavy"/>
                <a:cs typeface="Montaser Arabic Heavy"/>
                <a:sym typeface="Montaser Arabic Heavy"/>
              </a:rPr>
              <a:t>TRÂN TRỌNG</a:t>
            </a:r>
          </a:p>
        </p:txBody>
      </p:sp>
      <p:sp>
        <p:nvSpPr>
          <p:cNvPr id="3" name="Freeform 3"/>
          <p:cNvSpPr/>
          <p:nvPr/>
        </p:nvSpPr>
        <p:spPr>
          <a:xfrm>
            <a:off x="15933193" y="875026"/>
            <a:ext cx="1326107" cy="1326107"/>
          </a:xfrm>
          <a:custGeom>
            <a:avLst/>
            <a:gdLst/>
            <a:ahLst/>
            <a:cxnLst/>
            <a:rect l="l" t="t" r="r" b="b"/>
            <a:pathLst>
              <a:path w="1326107" h="1326107">
                <a:moveTo>
                  <a:pt x="0" y="0"/>
                </a:moveTo>
                <a:lnTo>
                  <a:pt x="1326107" y="0"/>
                </a:lnTo>
                <a:lnTo>
                  <a:pt x="1326107" y="1326107"/>
                </a:lnTo>
                <a:lnTo>
                  <a:pt x="0" y="13261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514336" y="4107871"/>
            <a:ext cx="13924267" cy="2627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580"/>
              </a:lnSpc>
            </a:pPr>
            <a:r>
              <a:rPr lang="en-US" sz="15414" b="1" spc="400">
                <a:solidFill>
                  <a:srgbClr val="0A2073"/>
                </a:solidFill>
                <a:latin typeface="Montaser Arabic Heavy"/>
                <a:ea typeface="Montaser Arabic Heavy"/>
                <a:cs typeface="Montaser Arabic Heavy"/>
                <a:sym typeface="Montaser Arabic Heavy"/>
              </a:rPr>
              <a:t>CẢM ƠN!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3720290" y="7190508"/>
            <a:ext cx="11896294" cy="1432902"/>
            <a:chOff x="0" y="0"/>
            <a:chExt cx="34520567" cy="415798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4519301" cy="4158240"/>
            </a:xfrm>
            <a:custGeom>
              <a:avLst/>
              <a:gdLst/>
              <a:ahLst/>
              <a:cxnLst/>
              <a:rect l="l" t="t" r="r" b="b"/>
              <a:pathLst>
                <a:path w="34519301" h="4158240">
                  <a:moveTo>
                    <a:pt x="33898266" y="3686813"/>
                  </a:moveTo>
                  <a:cubicBezTo>
                    <a:pt x="33898266" y="3680463"/>
                    <a:pt x="33899537" y="3675383"/>
                    <a:pt x="33899537" y="3667763"/>
                  </a:cubicBezTo>
                  <a:lnTo>
                    <a:pt x="33899537" y="490220"/>
                  </a:lnTo>
                  <a:cubicBezTo>
                    <a:pt x="33899537" y="220980"/>
                    <a:pt x="33689987" y="0"/>
                    <a:pt x="33433448" y="0"/>
                  </a:cubicBezTo>
                  <a:lnTo>
                    <a:pt x="467360" y="0"/>
                  </a:lnTo>
                  <a:cubicBezTo>
                    <a:pt x="210820" y="0"/>
                    <a:pt x="0" y="220980"/>
                    <a:pt x="0" y="490220"/>
                  </a:cubicBezTo>
                  <a:lnTo>
                    <a:pt x="0" y="3667763"/>
                  </a:lnTo>
                  <a:cubicBezTo>
                    <a:pt x="0" y="3937003"/>
                    <a:pt x="209550" y="4157983"/>
                    <a:pt x="466090" y="4157983"/>
                  </a:cubicBezTo>
                  <a:lnTo>
                    <a:pt x="33432176" y="4157983"/>
                  </a:lnTo>
                  <a:cubicBezTo>
                    <a:pt x="33545205" y="4157983"/>
                    <a:pt x="33649348" y="4114803"/>
                    <a:pt x="33729355" y="4044953"/>
                  </a:cubicBezTo>
                  <a:cubicBezTo>
                    <a:pt x="33860166" y="4116074"/>
                    <a:pt x="34172587" y="4257044"/>
                    <a:pt x="34519298" y="4050033"/>
                  </a:cubicBezTo>
                  <a:cubicBezTo>
                    <a:pt x="34520566" y="4050033"/>
                    <a:pt x="34208148" y="4051303"/>
                    <a:pt x="33898266" y="3686813"/>
                  </a:cubicBezTo>
                  <a:close/>
                </a:path>
              </a:pathLst>
            </a:custGeom>
            <a:solidFill>
              <a:srgbClr val="FFDC5D"/>
            </a:solidFill>
          </p:spPr>
        </p:sp>
      </p:grpSp>
      <p:sp>
        <p:nvSpPr>
          <p:cNvPr id="7" name="TextBox 7"/>
          <p:cNvSpPr txBox="1"/>
          <p:nvPr/>
        </p:nvSpPr>
        <p:spPr>
          <a:xfrm>
            <a:off x="4055239" y="7423453"/>
            <a:ext cx="11052629" cy="899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96"/>
              </a:lnSpc>
            </a:pPr>
            <a:r>
              <a:rPr lang="en-US" sz="2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 xin chân thành cảm ơn Quý Thầy Cô và ThS. Nguyễn Thị Loan đã tận tình hướng dẫn, hỗ trợ em hoàn thành khóa luận tốt nghiệp!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-1373119" y="-1315898"/>
            <a:ext cx="3499668" cy="13405540"/>
            <a:chOff x="0" y="0"/>
            <a:chExt cx="212191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2191" cy="812800"/>
            </a:xfrm>
            <a:custGeom>
              <a:avLst/>
              <a:gdLst/>
              <a:ahLst/>
              <a:cxnLst/>
              <a:rect l="l" t="t" r="r" b="b"/>
              <a:pathLst>
                <a:path w="212191" h="812800">
                  <a:moveTo>
                    <a:pt x="106095" y="0"/>
                  </a:moveTo>
                  <a:cubicBezTo>
                    <a:pt x="47500" y="0"/>
                    <a:pt x="0" y="181951"/>
                    <a:pt x="0" y="406400"/>
                  </a:cubicBezTo>
                  <a:cubicBezTo>
                    <a:pt x="0" y="630849"/>
                    <a:pt x="47500" y="812800"/>
                    <a:pt x="106095" y="812800"/>
                  </a:cubicBezTo>
                  <a:cubicBezTo>
                    <a:pt x="164690" y="812800"/>
                    <a:pt x="212191" y="630849"/>
                    <a:pt x="212191" y="406400"/>
                  </a:cubicBezTo>
                  <a:cubicBezTo>
                    <a:pt x="212191" y="181951"/>
                    <a:pt x="164690" y="0"/>
                    <a:pt x="106095" y="0"/>
                  </a:cubicBezTo>
                  <a:close/>
                </a:path>
              </a:pathLst>
            </a:custGeom>
            <a:ln w="19050" cap="sq">
              <a:solidFill>
                <a:srgbClr val="FFDC5D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9893" y="47625"/>
              <a:ext cx="172405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1829</Words>
  <Application>Microsoft Office PowerPoint</Application>
  <PresentationFormat>Custom</PresentationFormat>
  <Paragraphs>278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Montaser Arabic Heavy</vt:lpstr>
      <vt:lpstr>DM Sans Bold</vt:lpstr>
      <vt:lpstr>Arial Bold</vt:lpstr>
      <vt:lpstr>Calibri</vt:lpstr>
      <vt:lpstr>Arial Italics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KHÓA LUẬN TỐT NGHIỆP</dc:title>
  <cp:lastModifiedBy>Tuyet Hoang</cp:lastModifiedBy>
  <cp:revision>2</cp:revision>
  <dcterms:created xsi:type="dcterms:W3CDTF">2006-08-16T00:00:00Z</dcterms:created>
  <dcterms:modified xsi:type="dcterms:W3CDTF">2026-05-07T00:43:22Z</dcterms:modified>
  <dc:identifier>DAHIwk7kLfc</dc:identifier>
</cp:coreProperties>
</file>